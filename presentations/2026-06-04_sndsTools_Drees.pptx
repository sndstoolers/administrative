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126fc84d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4126fc84df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126fc84df_0_2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4126fc84df_0_2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4126fc84df_0_2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126fc84df_0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4126fc84df_0_2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4126fc84df_0_2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41f00aa06e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41f00aa06e_1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18a81988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418a81988f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1c2c4361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41c2c4361b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41f00aa06e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41f00aa06e_1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80d1c311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b80d1c3114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1f00aa06e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41f00aa06e_1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4a5b2af9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e4a5b2af97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4280041b5e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4280041b5e_3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4a5b2af9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e4a5b2af97_0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4280041b5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4280041b5e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4280041b5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4280041b5e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80d1c311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b80d1c3114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4a5b2af9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e4a5b2af97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4a5b2af9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e4a5b2af97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4a5b2af9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e4a5b2af97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4280041b5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4280041b5e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42d73cab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42d73cabec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4280041b5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4280041b5e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4a5b2af9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e4a5b2af97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5" Type="http://schemas.openxmlformats.org/officeDocument/2006/relationships/image" Target="../media/image38.png"/><Relationship Id="rId6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Relationship Id="rId4" Type="http://schemas.openxmlformats.org/officeDocument/2006/relationships/hyperlink" Target="https://documentation-snds.health-data-hub.fr/snds/" TargetMode="External"/><Relationship Id="rId5" Type="http://schemas.openxmlformats.org/officeDocument/2006/relationships/hyperlink" Target="https://health-data-hub.shinyapps.io/dico-snds/" TargetMode="External"/><Relationship Id="rId6" Type="http://schemas.openxmlformats.org/officeDocument/2006/relationships/image" Target="../media/image34.png"/><Relationship Id="rId7" Type="http://schemas.openxmlformats.org/officeDocument/2006/relationships/hyperlink" Target="https://entraide.health-data-hub.fr/categories" TargetMode="External"/><Relationship Id="rId8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hyperlink" Target="http://github.com/GuyomardMarie/pysnds/" TargetMode="External"/><Relationship Id="rId10" Type="http://schemas.openxmlformats.org/officeDocument/2006/relationships/hyperlink" Target="https://gitlab.com/healthdatahub/boas/institut-curie/combicancer" TargetMode="External"/><Relationship Id="rId13" Type="http://schemas.openxmlformats.org/officeDocument/2006/relationships/hyperlink" Target="https://gitlab.com/Drugs-Safe-R/Outils_SNDS" TargetMode="External"/><Relationship Id="rId12" Type="http://schemas.openxmlformats.org/officeDocument/2006/relationships/hyperlink" Target="https://github.com/Epiconcept-Paris/sndskit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lab.com/healthdatahub/boas/" TargetMode="External"/><Relationship Id="rId4" Type="http://schemas.openxmlformats.org/officeDocument/2006/relationships/image" Target="../media/image43.png"/><Relationship Id="rId9" Type="http://schemas.openxmlformats.org/officeDocument/2006/relationships/image" Target="../media/image21.png"/><Relationship Id="rId14" Type="http://schemas.openxmlformats.org/officeDocument/2006/relationships/image" Target="../media/image18.png"/><Relationship Id="rId5" Type="http://schemas.openxmlformats.org/officeDocument/2006/relationships/hyperlink" Target="https://github.com/X-DataInitiative/SCALPEL-Flattening" TargetMode="External"/><Relationship Id="rId6" Type="http://schemas.openxmlformats.org/officeDocument/2006/relationships/image" Target="../media/image39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entraide.health-data-hub.fr/t/compte-rendu-de-latelier-r-snds-tenu-au-congres-emois-2024/2071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sndstoolers.github.io/sndsTools/reference/index.html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sndstoolers.github.io/sndsTools/reference/extract_consultations_erprsf.html" TargetMode="External"/><Relationship Id="rId4" Type="http://schemas.openxmlformats.org/officeDocument/2006/relationships/hyperlink" Target="https://roxygen2.r-lib.org/index.html" TargetMode="External"/><Relationship Id="rId5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SNDStoolers/sndsTools/releases" TargetMode="External"/><Relationship Id="rId4" Type="http://schemas.openxmlformats.org/officeDocument/2006/relationships/hyperlink" Target="https://github.com/SNDStoolers/sndsTools/releases" TargetMode="External"/><Relationship Id="rId5" Type="http://schemas.openxmlformats.org/officeDocument/2006/relationships/hyperlink" Target="https://github.com/SNDStoolers/sndsTools/releases" TargetMode="External"/><Relationship Id="rId6" Type="http://schemas.openxmlformats.org/officeDocument/2006/relationships/hyperlink" Target="https://github.com/SNDStoolers/sndsTools/releases" TargetMode="External"/><Relationship Id="rId7" Type="http://schemas.openxmlformats.org/officeDocument/2006/relationships/hyperlink" Target="https://sndstoolers.github.io/sndsTools/articles/sndsTools.html" TargetMode="External"/><Relationship Id="rId8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sndstoolers.github.io/sndsTools/articles/tutoriel_avc.html" TargetMode="External"/><Relationship Id="rId4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sndstoolers.github.io/sndsTools/articles/sndsTools.html#utilisation" TargetMode="External"/><Relationship Id="rId4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SNDStoolers/sndsTools/pull/76" TargetMode="External"/><Relationship Id="rId4" Type="http://schemas.openxmlformats.org/officeDocument/2006/relationships/hyperlink" Target="https://github.com/SNDStoolers/sndsTools/issues/92" TargetMode="External"/><Relationship Id="rId5" Type="http://schemas.openxmlformats.org/officeDocument/2006/relationships/hyperlink" Target="https://github.com/SNDStoolers/sndsTools/issues/79" TargetMode="External"/><Relationship Id="rId6" Type="http://schemas.openxmlformats.org/officeDocument/2006/relationships/hyperlink" Target="https://github.com/SNDStoolers/sndsTools/issues" TargetMode="External"/><Relationship Id="rId7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ssphub.netlify.app/talk/2026-06-jdos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sndstoolers.github.io/sndsTools/articles/benchmark_sndstools_vs_r.html" TargetMode="External"/><Relationship Id="rId4" Type="http://schemas.openxmlformats.org/officeDocument/2006/relationships/image" Target="../media/image37.png"/><Relationship Id="rId5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sndstoolers.github.io/sndsTools/articles/benchmark_dplyr_vs_rsql.html" TargetMode="Externa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/>
        </p:nvSpPr>
        <p:spPr>
          <a:xfrm>
            <a:off x="721793" y="2473506"/>
            <a:ext cx="107484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6800">
            <a:spAutoFit/>
          </a:bodyPr>
          <a:lstStyle/>
          <a:p>
            <a:pPr indent="0" lvl="0" marL="0" marR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sndsTools</a:t>
            </a:r>
            <a:endParaRPr b="1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6010727" y="4256950"/>
            <a:ext cx="52644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Matthieu Doutreligne 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Insee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>
                <a:solidFill>
                  <a:schemeClr val="dk1"/>
                </a:solidFill>
              </a:rPr>
              <a:t>2026-06-04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10019992" y="5999396"/>
            <a:ext cx="1351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24/03/2025</a:t>
            </a:r>
            <a:endParaRPr/>
          </a:p>
        </p:txBody>
      </p:sp>
      <p:cxnSp>
        <p:nvCxnSpPr>
          <p:cNvPr id="93" name="Google Shape;93;p15"/>
          <p:cNvCxnSpPr/>
          <p:nvPr/>
        </p:nvCxnSpPr>
        <p:spPr>
          <a:xfrm>
            <a:off x="10019992" y="5709981"/>
            <a:ext cx="1351386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366126" cy="79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horloge, signe&#10;&#10;Description générée automatiquement" id="95" name="Google Shape;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3647" y="202900"/>
            <a:ext cx="2484275" cy="6918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1935275" y="3504425"/>
            <a:ext cx="1081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Un package </a:t>
            </a:r>
            <a:r>
              <a:rPr b="1" lang="fr-FR" sz="32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R simplifiant l’extraction de données SNDS</a:t>
            </a:r>
            <a:endParaRPr b="1" sz="320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1788250" y="5706925"/>
            <a:ext cx="9858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2500">
                <a:solidFill>
                  <a:schemeClr val="dk1"/>
                </a:solidFill>
              </a:rPr>
              <a:t>merci à Antoine Belloir and Marc Dibbling (ICM, équipe Aramis)</a:t>
            </a:r>
            <a:endParaRPr i="1" sz="2500">
              <a:solidFill>
                <a:schemeClr val="dk1"/>
              </a:solidFill>
            </a:endParaRPr>
          </a:p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/>
        </p:nvSpPr>
        <p:spPr>
          <a:xfrm>
            <a:off x="613029" y="224300"/>
            <a:ext cx="548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400" u="none" cap="none" strike="noStrike">
                <a:solidFill>
                  <a:srgbClr val="FF6168"/>
                </a:solidFill>
                <a:latin typeface="Arial"/>
                <a:ea typeface="Arial"/>
                <a:cs typeface="Arial"/>
                <a:sym typeface="Arial"/>
              </a:rPr>
              <a:t>SNDS sources</a:t>
            </a:r>
            <a:endParaRPr>
              <a:solidFill>
                <a:srgbClr val="FF6168"/>
              </a:solidFill>
            </a:endParaRPr>
          </a:p>
        </p:txBody>
      </p:sp>
      <p:pic>
        <p:nvPicPr>
          <p:cNvPr descr="Accueil | SNDS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6730" y="1559030"/>
            <a:ext cx="2102640" cy="93450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 rot="5400000">
            <a:off x="4211399" y="2676800"/>
            <a:ext cx="328200" cy="258300"/>
          </a:xfrm>
          <a:prstGeom prst="rightArrow">
            <a:avLst>
              <a:gd fmla="val 50000" name="adj1"/>
              <a:gd fmla="val 34252" name="adj2"/>
            </a:avLst>
          </a:prstGeom>
          <a:solidFill>
            <a:srgbClr val="0C41A4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7867398" y="1912197"/>
            <a:ext cx="1706400" cy="904500"/>
          </a:xfrm>
          <a:prstGeom prst="can">
            <a:avLst>
              <a:gd fmla="val 25000" name="adj"/>
            </a:avLst>
          </a:prstGeom>
          <a:solidFill>
            <a:srgbClr val="FF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8141372" y="2484573"/>
            <a:ext cx="1158600" cy="243300"/>
          </a:xfrm>
          <a:prstGeom prst="ellipse">
            <a:avLst/>
          </a:prstGeom>
          <a:solidFill>
            <a:srgbClr val="7FC31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8212023" y="2457301"/>
            <a:ext cx="114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fr-FR" sz="1000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NIR</a:t>
            </a:r>
            <a:r>
              <a:rPr b="1" lang="fr-FR" sz="1000">
                <a:solidFill>
                  <a:srgbClr val="003399"/>
                </a:solidFill>
              </a:rPr>
              <a:t> chiffré</a:t>
            </a:r>
            <a:endParaRPr sz="1500"/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908" y="1672176"/>
            <a:ext cx="1006698" cy="130462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1204855" y="2526929"/>
            <a:ext cx="2056200" cy="538500"/>
          </a:xfrm>
          <a:prstGeom prst="wedgeRoundRectCallout">
            <a:avLst>
              <a:gd fmla="val 62292" name="adj1"/>
              <a:gd fmla="val -36344" name="adj2"/>
              <a:gd fmla="val 16667" name="adj3"/>
            </a:avLst>
          </a:prstGeom>
          <a:solidFill>
            <a:srgbClr val="AAC8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Données des offreurs de soin</a:t>
            </a:r>
            <a:endParaRPr sz="1900"/>
          </a:p>
        </p:txBody>
      </p:sp>
      <p:sp>
        <p:nvSpPr>
          <p:cNvPr id="111" name="Google Shape;111;p16"/>
          <p:cNvSpPr/>
          <p:nvPr/>
        </p:nvSpPr>
        <p:spPr>
          <a:xfrm>
            <a:off x="3553790" y="2285145"/>
            <a:ext cx="1643400" cy="328800"/>
          </a:xfrm>
          <a:prstGeom prst="roundRect">
            <a:avLst>
              <a:gd fmla="val 16667" name="adj"/>
            </a:avLst>
          </a:prstGeom>
          <a:solidFill>
            <a:srgbClr val="AAC8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8029791" y="2195228"/>
            <a:ext cx="1330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DCIR</a:t>
            </a:r>
            <a:endParaRPr sz="1900"/>
          </a:p>
        </p:txBody>
      </p:sp>
      <p:sp>
        <p:nvSpPr>
          <p:cNvPr id="113" name="Google Shape;113;p16"/>
          <p:cNvSpPr txBox="1"/>
          <p:nvPr/>
        </p:nvSpPr>
        <p:spPr>
          <a:xfrm>
            <a:off x="3650392" y="2294282"/>
            <a:ext cx="145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Comptes</a:t>
            </a:r>
            <a:endParaRPr sz="1900"/>
          </a:p>
        </p:txBody>
      </p:sp>
      <p:sp>
        <p:nvSpPr>
          <p:cNvPr id="114" name="Google Shape;114;p16"/>
          <p:cNvSpPr/>
          <p:nvPr/>
        </p:nvSpPr>
        <p:spPr>
          <a:xfrm rot="-5400000">
            <a:off x="5289344" y="2188998"/>
            <a:ext cx="341100" cy="503700"/>
          </a:xfrm>
          <a:prstGeom prst="downArrow">
            <a:avLst>
              <a:gd fmla="val 50000" name="adj1"/>
              <a:gd fmla="val 31216" name="adj2"/>
            </a:avLst>
          </a:prstGeom>
          <a:solidFill>
            <a:srgbClr val="7DD2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5711582" y="2054025"/>
            <a:ext cx="1643400" cy="793200"/>
          </a:xfrm>
          <a:prstGeom prst="ellipse">
            <a:avLst/>
          </a:prstGeom>
          <a:solidFill>
            <a:srgbClr val="7FC31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636009" y="2070471"/>
            <a:ext cx="1858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Contrôles et a</a:t>
            </a: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nonymisation : </a:t>
            </a:r>
            <a:b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chiffrage </a:t>
            </a: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NIR </a:t>
            </a:r>
            <a:endParaRPr sz="1900"/>
          </a:p>
        </p:txBody>
      </p:sp>
      <p:sp>
        <p:nvSpPr>
          <p:cNvPr id="117" name="Google Shape;117;p16"/>
          <p:cNvSpPr txBox="1"/>
          <p:nvPr/>
        </p:nvSpPr>
        <p:spPr>
          <a:xfrm>
            <a:off x="3289404" y="2908037"/>
            <a:ext cx="2172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Remboursement des offreurs de soin</a:t>
            </a:r>
            <a:endParaRPr sz="1700">
              <a:solidFill>
                <a:srgbClr val="0C41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 rot="5400000">
            <a:off x="2922194" y="1474123"/>
            <a:ext cx="352500" cy="4333800"/>
          </a:xfrm>
          <a:prstGeom prst="rightBrace">
            <a:avLst>
              <a:gd fmla="val 94965" name="adj1"/>
              <a:gd fmla="val 4886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 rot="5400000">
            <a:off x="9012445" y="2085763"/>
            <a:ext cx="352500" cy="4387200"/>
          </a:xfrm>
          <a:prstGeom prst="rightBrace">
            <a:avLst>
              <a:gd fmla="val 57977" name="adj1"/>
              <a:gd fmla="val 4886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96850" y="3886516"/>
            <a:ext cx="53961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1" lang="fr-FR" sz="2000">
                <a:solidFill>
                  <a:schemeClr val="dk1"/>
                </a:solidFill>
              </a:rPr>
              <a:t>Données locales nominatives</a:t>
            </a:r>
            <a:endParaRPr sz="19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fr-FR" sz="1600">
                <a:solidFill>
                  <a:schemeClr val="dk1"/>
                </a:solidFill>
              </a:rPr>
              <a:t>Remboursement, identification possible, spécificités à chaque régime et caisses locales.</a:t>
            </a:r>
            <a:endParaRPr sz="1900"/>
          </a:p>
        </p:txBody>
      </p:sp>
      <p:sp>
        <p:nvSpPr>
          <p:cNvPr id="121" name="Google Shape;121;p16"/>
          <p:cNvSpPr txBox="1"/>
          <p:nvPr/>
        </p:nvSpPr>
        <p:spPr>
          <a:xfrm>
            <a:off x="6768951" y="4407549"/>
            <a:ext cx="499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1"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Système National des Données de Santé (SNDS</a:t>
            </a: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900"/>
          </a:p>
        </p:txBody>
      </p:sp>
      <p:pic>
        <p:nvPicPr>
          <p:cNvPr descr="C:\Users\RUDANT-09690\Pictures\CV anonym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5913" y="1678283"/>
            <a:ext cx="1134136" cy="66362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 rot="-5400000">
            <a:off x="1838850" y="1209497"/>
            <a:ext cx="511800" cy="1871100"/>
          </a:xfrm>
          <a:prstGeom prst="wedgeRoundRectCallout">
            <a:avLst>
              <a:gd fmla="val -39518" name="adj1"/>
              <a:gd fmla="val 75212" name="adj2"/>
              <a:gd fmla="val 16667" name="adj3"/>
            </a:avLst>
          </a:prstGeom>
          <a:solidFill>
            <a:srgbClr val="AAC8F8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186121" y="1914190"/>
            <a:ext cx="181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1170198" y="1889232"/>
            <a:ext cx="18711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fiches de remboursement</a:t>
            </a:r>
            <a:endParaRPr sz="1900"/>
          </a:p>
        </p:txBody>
      </p:sp>
      <p:sp>
        <p:nvSpPr>
          <p:cNvPr id="126" name="Google Shape;126;p16"/>
          <p:cNvSpPr txBox="1"/>
          <p:nvPr/>
        </p:nvSpPr>
        <p:spPr>
          <a:xfrm>
            <a:off x="3402627" y="1525415"/>
            <a:ext cx="2172000" cy="369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FF0000"/>
                </a:solidFill>
              </a:rPr>
              <a:t>caisses </a:t>
            </a:r>
            <a:r>
              <a:rPr b="1" lang="fr-FR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primaires</a:t>
            </a:r>
            <a:endParaRPr sz="1900"/>
          </a:p>
        </p:txBody>
      </p:sp>
      <p:sp>
        <p:nvSpPr>
          <p:cNvPr id="127" name="Google Shape;127;p16"/>
          <p:cNvSpPr txBox="1"/>
          <p:nvPr/>
        </p:nvSpPr>
        <p:spPr>
          <a:xfrm>
            <a:off x="7867474" y="1346038"/>
            <a:ext cx="1706400" cy="369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CNAM</a:t>
            </a:r>
            <a:endParaRPr b="1" sz="1600">
              <a:solidFill>
                <a:srgbClr val="FF0000"/>
              </a:solidFill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6925964" y="5029357"/>
            <a:ext cx="4926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fr-FR" sz="1600">
                <a:solidFill>
                  <a:schemeClr val="dk1"/>
                </a:solidFill>
              </a:rPr>
              <a:t>Base de données nationale</a:t>
            </a:r>
            <a:endParaRPr sz="19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fr-FR" sz="1600">
                <a:solidFill>
                  <a:schemeClr val="dk1"/>
                </a:solidFill>
              </a:rPr>
              <a:t>Tous régimes</a:t>
            </a:r>
            <a:endParaRPr sz="19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fr-FR" sz="1600">
                <a:solidFill>
                  <a:schemeClr val="dk1"/>
                </a:solidFill>
              </a:rPr>
              <a:t>Chaînées avec les données hospitalières (</a:t>
            </a:r>
            <a:r>
              <a:rPr b="1"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PMSI</a:t>
            </a:r>
            <a:r>
              <a:rPr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programme de médicalisation des systèmes d’information) </a:t>
            </a:r>
            <a:endParaRPr sz="19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fr-FR" sz="1600">
                <a:solidFill>
                  <a:schemeClr val="dk1"/>
                </a:solidFill>
              </a:rPr>
              <a:t>Chaînées avec les certificats des cause de décès</a:t>
            </a:r>
            <a:r>
              <a:rPr b="1" lang="fr-FR" sz="1600">
                <a:solidFill>
                  <a:schemeClr val="dk1"/>
                </a:solidFill>
              </a:rPr>
              <a:t> </a:t>
            </a:r>
            <a:r>
              <a:rPr lang="fr-FR" sz="1600">
                <a:solidFill>
                  <a:schemeClr val="dk1"/>
                </a:solidFill>
              </a:rPr>
              <a:t>(</a:t>
            </a:r>
            <a:r>
              <a:rPr b="1" lang="fr-FR" sz="1500">
                <a:solidFill>
                  <a:srgbClr val="FF0000"/>
                </a:solidFill>
              </a:rPr>
              <a:t>CépiDc</a:t>
            </a:r>
            <a:r>
              <a:rPr lang="fr-FR" sz="1600">
                <a:solidFill>
                  <a:schemeClr val="dk1"/>
                </a:solidFill>
              </a:rPr>
              <a:t>)</a:t>
            </a:r>
            <a:endParaRPr sz="1900"/>
          </a:p>
        </p:txBody>
      </p:sp>
      <p:sp>
        <p:nvSpPr>
          <p:cNvPr id="129" name="Google Shape;129;p16"/>
          <p:cNvSpPr txBox="1"/>
          <p:nvPr/>
        </p:nvSpPr>
        <p:spPr>
          <a:xfrm>
            <a:off x="6323185" y="3526045"/>
            <a:ext cx="762300" cy="35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ATIH</a:t>
            </a:r>
            <a:endParaRPr b="1"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1161286" y="3544999"/>
            <a:ext cx="928500" cy="35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CépiDc</a:t>
            </a:r>
            <a:endParaRPr b="1" sz="19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/>
          <p:nvPr/>
        </p:nvSpPr>
        <p:spPr>
          <a:xfrm rot="-5400000">
            <a:off x="7441455" y="2182567"/>
            <a:ext cx="341100" cy="503700"/>
          </a:xfrm>
          <a:prstGeom prst="downArrow">
            <a:avLst>
              <a:gd fmla="val 50000" name="adj1"/>
              <a:gd fmla="val 31216" name="adj2"/>
            </a:avLst>
          </a:prstGeom>
          <a:solidFill>
            <a:srgbClr val="7DD2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976026" y="2936875"/>
            <a:ext cx="1037700" cy="606600"/>
          </a:xfrm>
          <a:prstGeom prst="can">
            <a:avLst>
              <a:gd fmla="val 25000" name="adj"/>
            </a:avLst>
          </a:prstGeom>
          <a:solidFill>
            <a:srgbClr val="FF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9372298" y="2929620"/>
            <a:ext cx="1992900" cy="647100"/>
          </a:xfrm>
          <a:prstGeom prst="can">
            <a:avLst>
              <a:gd fmla="val 25000" name="adj"/>
            </a:avLst>
          </a:prstGeom>
          <a:solidFill>
            <a:srgbClr val="FF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958496" y="3110788"/>
            <a:ext cx="10494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PMSI</a:t>
            </a:r>
            <a:endParaRPr sz="1900"/>
          </a:p>
        </p:txBody>
      </p:sp>
      <p:sp>
        <p:nvSpPr>
          <p:cNvPr id="135" name="Google Shape;135;p16"/>
          <p:cNvSpPr txBox="1"/>
          <p:nvPr/>
        </p:nvSpPr>
        <p:spPr>
          <a:xfrm>
            <a:off x="9389494" y="3106015"/>
            <a:ext cx="1992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700">
                <a:solidFill>
                  <a:srgbClr val="0C419A"/>
                </a:solidFill>
                <a:latin typeface="Calibri"/>
                <a:ea typeface="Calibri"/>
                <a:cs typeface="Calibri"/>
                <a:sym typeface="Calibri"/>
              </a:rPr>
              <a:t>Causes de décès</a:t>
            </a:r>
            <a:endParaRPr sz="1900"/>
          </a:p>
        </p:txBody>
      </p:sp>
      <p:sp>
        <p:nvSpPr>
          <p:cNvPr id="136" name="Google Shape;136;p16"/>
          <p:cNvSpPr/>
          <p:nvPr/>
        </p:nvSpPr>
        <p:spPr>
          <a:xfrm>
            <a:off x="6928922" y="3418325"/>
            <a:ext cx="1158600" cy="243300"/>
          </a:xfrm>
          <a:prstGeom prst="ellipse">
            <a:avLst/>
          </a:prstGeom>
          <a:solidFill>
            <a:srgbClr val="7FC31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985996" y="3390293"/>
            <a:ext cx="114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000">
                <a:solidFill>
                  <a:srgbClr val="003399"/>
                </a:solidFill>
              </a:rPr>
              <a:t>NIR chiffré</a:t>
            </a:r>
            <a:endParaRPr b="1" sz="1000">
              <a:solidFill>
                <a:srgbClr val="003399"/>
              </a:solidFill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9806718" y="3453384"/>
            <a:ext cx="1158600" cy="243300"/>
          </a:xfrm>
          <a:prstGeom prst="ellipse">
            <a:avLst/>
          </a:prstGeom>
          <a:solidFill>
            <a:srgbClr val="7FC31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9842541" y="3427004"/>
            <a:ext cx="114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-FR" sz="1000">
                <a:solidFill>
                  <a:srgbClr val="003399"/>
                </a:solidFill>
              </a:rPr>
              <a:t>NIR chiffré</a:t>
            </a:r>
            <a:endParaRPr b="1" sz="1000">
              <a:solidFill>
                <a:srgbClr val="003399"/>
              </a:solidFill>
            </a:endParaRPr>
          </a:p>
        </p:txBody>
      </p:sp>
      <p:cxnSp>
        <p:nvCxnSpPr>
          <p:cNvPr id="140" name="Google Shape;140;p16"/>
          <p:cNvCxnSpPr/>
          <p:nvPr/>
        </p:nvCxnSpPr>
        <p:spPr>
          <a:xfrm rot="-5400000">
            <a:off x="7987473" y="2833399"/>
            <a:ext cx="530100" cy="489300"/>
          </a:xfrm>
          <a:prstGeom prst="curvedConnector2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41" name="Google Shape;141;p16"/>
          <p:cNvCxnSpPr/>
          <p:nvPr/>
        </p:nvCxnSpPr>
        <p:spPr>
          <a:xfrm flipH="1" rot="5400000">
            <a:off x="8846619" y="2814357"/>
            <a:ext cx="515100" cy="524700"/>
          </a:xfrm>
          <a:prstGeom prst="curvedConnector2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42" name="Google Shape;142;p16"/>
          <p:cNvSpPr txBox="1"/>
          <p:nvPr/>
        </p:nvSpPr>
        <p:spPr>
          <a:xfrm>
            <a:off x="391750" y="773250"/>
            <a:ext cx="10464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100">
                <a:solidFill>
                  <a:srgbClr val="003C7C"/>
                </a:solidFill>
              </a:rPr>
              <a:t>Janvier 2016 : création par la loi </a:t>
            </a:r>
            <a:r>
              <a:rPr b="1" lang="fr-FR" sz="2100">
                <a:solidFill>
                  <a:srgbClr val="003C7C"/>
                </a:solidFill>
              </a:rPr>
              <a:t>« </a:t>
            </a:r>
            <a:r>
              <a:rPr b="1" lang="fr-FR" sz="2100">
                <a:solidFill>
                  <a:srgbClr val="FE5061"/>
                </a:solidFill>
              </a:rPr>
              <a:t>modernisation de notre système de santé </a:t>
            </a:r>
            <a:r>
              <a:rPr b="1" lang="fr-FR" sz="2100">
                <a:solidFill>
                  <a:srgbClr val="003C7C"/>
                </a:solidFill>
              </a:rPr>
              <a:t>»</a:t>
            </a:r>
            <a:endParaRPr sz="2300">
              <a:solidFill>
                <a:srgbClr val="FF6168"/>
              </a:solidFill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13025" y="5318587"/>
            <a:ext cx="5605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100">
                <a:solidFill>
                  <a:srgbClr val="003C7C"/>
                </a:solidFill>
              </a:rPr>
              <a:t>🚀 </a:t>
            </a:r>
            <a:r>
              <a:rPr b="1" lang="fr-FR" sz="2100">
                <a:solidFill>
                  <a:srgbClr val="003C7C"/>
                </a:solidFill>
              </a:rPr>
              <a:t>2021: </a:t>
            </a:r>
            <a:r>
              <a:rPr lang="fr-FR" sz="2100">
                <a:solidFill>
                  <a:srgbClr val="003C7C"/>
                </a:solidFill>
              </a:rPr>
              <a:t>Accès permanent à la recherche </a:t>
            </a:r>
            <a:r>
              <a:rPr lang="fr-FR" sz="2100">
                <a:solidFill>
                  <a:srgbClr val="003C7C"/>
                </a:solidFill>
              </a:rPr>
              <a:t>(INRIA, INSERM, hôpitaux…) : profil 108 et formation</a:t>
            </a:r>
            <a:endParaRPr sz="2300">
              <a:solidFill>
                <a:srgbClr val="FF6168"/>
              </a:solidFill>
            </a:endParaRPr>
          </a:p>
        </p:txBody>
      </p:sp>
      <p:sp>
        <p:nvSpPr>
          <p:cNvPr id="144" name="Google Shape;144;p16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idx="4294967295" type="title"/>
          </p:nvPr>
        </p:nvSpPr>
        <p:spPr>
          <a:xfrm>
            <a:off x="171167" y="95372"/>
            <a:ext cx="116163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0000" spcFirstLastPara="1" rIns="0" wrap="square" tIns="120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90"/>
              </a:buClr>
              <a:buSzPts val="2900"/>
              <a:buFont typeface="Arial"/>
              <a:buNone/>
            </a:pPr>
            <a:r>
              <a:rPr b="1" lang="fr-FR" sz="2900">
                <a:solidFill>
                  <a:srgbClr val="FF6168"/>
                </a:solidFill>
              </a:rPr>
              <a:t>En résumé, le SNDS est une base riche</a:t>
            </a:r>
            <a:endParaRPr b="1">
              <a:solidFill>
                <a:srgbClr val="FF6168"/>
              </a:solidFill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1918937" y="1110945"/>
            <a:ext cx="2912400" cy="672000"/>
          </a:xfrm>
          <a:prstGeom prst="roundRect">
            <a:avLst>
              <a:gd fmla="val 16667" name="adj"/>
            </a:avLst>
          </a:prstGeom>
          <a:solidFill>
            <a:srgbClr val="FF6168"/>
          </a:solidFill>
          <a:ln cap="flat" cmpd="sng" w="12700">
            <a:solidFill>
              <a:srgbClr val="002B5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lt1"/>
                </a:solidFill>
              </a:rPr>
              <a:t>Base de donnée populationnelle</a:t>
            </a:r>
            <a:endParaRPr sz="1900"/>
          </a:p>
        </p:txBody>
      </p:sp>
      <p:sp>
        <p:nvSpPr>
          <p:cNvPr id="151" name="Google Shape;151;p17"/>
          <p:cNvSpPr/>
          <p:nvPr/>
        </p:nvSpPr>
        <p:spPr>
          <a:xfrm>
            <a:off x="1936313" y="1780172"/>
            <a:ext cx="2918400" cy="50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8471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-177800" lvl="1" marL="177800" marR="0" rtl="0" algn="ctr">
              <a:spcBef>
                <a:spcPts val="0"/>
              </a:spcBef>
              <a:spcAft>
                <a:spcPts val="0"/>
              </a:spcAft>
              <a:buClr>
                <a:srgbClr val="18471A"/>
              </a:buClr>
              <a:buSzPts val="1400"/>
              <a:buFont typeface="Noto Sans Symbols"/>
              <a:buChar char="✔"/>
            </a:pPr>
            <a:r>
              <a:rPr b="1" i="0" lang="fr-FR" sz="1400" u="none" cap="none" strike="noStrike">
                <a:solidFill>
                  <a:srgbClr val="FF6168"/>
                </a:solidFill>
                <a:latin typeface="Arial"/>
                <a:ea typeface="Arial"/>
                <a:cs typeface="Arial"/>
                <a:sym typeface="Arial"/>
              </a:rPr>
              <a:t>≃ 68 millions </a:t>
            </a:r>
            <a:r>
              <a:rPr b="1" lang="fr-FR">
                <a:solidFill>
                  <a:srgbClr val="FF6168"/>
                </a:solidFill>
              </a:rPr>
              <a:t>individuals</a:t>
            </a:r>
            <a:endParaRPr sz="1900"/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686023">
            <a:off x="5077229" y="1793988"/>
            <a:ext cx="1804196" cy="5547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7084347" y="661394"/>
            <a:ext cx="4549165" cy="1414799"/>
            <a:chOff x="5270372" y="2177660"/>
            <a:chExt cx="4549165" cy="1445590"/>
          </a:xfrm>
        </p:grpSpPr>
        <p:sp>
          <p:nvSpPr>
            <p:cNvPr id="154" name="Google Shape;154;p17"/>
            <p:cNvSpPr/>
            <p:nvPr/>
          </p:nvSpPr>
          <p:spPr>
            <a:xfrm>
              <a:off x="5309059" y="2177660"/>
              <a:ext cx="3631800" cy="377400"/>
            </a:xfrm>
            <a:prstGeom prst="roundRect">
              <a:avLst>
                <a:gd fmla="val 16667" name="adj"/>
              </a:avLst>
            </a:prstGeom>
            <a:solidFill>
              <a:srgbClr val="004990"/>
            </a:solidFill>
            <a:ln cap="flat" cmpd="sng" w="12700">
              <a:solidFill>
                <a:srgbClr val="002B5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500">
                  <a:solidFill>
                    <a:schemeClr val="lt1"/>
                  </a:solidFill>
                </a:rPr>
                <a:t>Données de ville </a:t>
              </a:r>
              <a:r>
                <a:rPr b="1" i="0" lang="fr-F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(DCIR)</a:t>
              </a:r>
              <a:endParaRPr sz="1900"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5270372" y="2551950"/>
              <a:ext cx="4322100" cy="1071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rgbClr val="18471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b="0" i="0" lang="fr-FR" sz="13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Consultations</a:t>
              </a:r>
              <a:endPara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 sz="1300">
                  <a:solidFill>
                    <a:schemeClr val="dk2"/>
                  </a:solidFill>
                </a:rPr>
                <a:t>Actes médicaux</a:t>
              </a:r>
              <a:endPara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 sz="1300">
                  <a:solidFill>
                    <a:schemeClr val="dk2"/>
                  </a:solidFill>
                </a:rPr>
                <a:t>Examens médicaux</a:t>
              </a:r>
              <a:endParaRPr sz="1900"/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Médicaments et dispositifs médicaux </a:t>
              </a:r>
              <a:r>
                <a:rPr lang="fr-FR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(remboursés uniquement)</a:t>
              </a:r>
              <a:endPara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" name="Google Shape;156;p17"/>
            <p:cNvGrpSpPr/>
            <p:nvPr/>
          </p:nvGrpSpPr>
          <p:grpSpPr>
            <a:xfrm>
              <a:off x="8940680" y="2245971"/>
              <a:ext cx="878857" cy="902222"/>
              <a:chOff x="8407333" y="2944458"/>
              <a:chExt cx="1104786" cy="1134157"/>
            </a:xfrm>
          </p:grpSpPr>
          <p:pic>
            <p:nvPicPr>
              <p:cNvPr id="157" name="Google Shape;157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442436" y="2944458"/>
                <a:ext cx="1069683" cy="111425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8" name="Google Shape;158;p17"/>
              <p:cNvSpPr/>
              <p:nvPr/>
            </p:nvSpPr>
            <p:spPr>
              <a:xfrm>
                <a:off x="8407333" y="2966215"/>
                <a:ext cx="1069800" cy="1112400"/>
              </a:xfrm>
              <a:prstGeom prst="ellipse">
                <a:avLst/>
              </a:prstGeom>
              <a:noFill/>
              <a:ln cap="flat" cmpd="sng" w="57150">
                <a:solidFill>
                  <a:srgbClr val="A3DBD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9" name="Google Shape;159;p17"/>
          <p:cNvGrpSpPr/>
          <p:nvPr/>
        </p:nvGrpSpPr>
        <p:grpSpPr>
          <a:xfrm>
            <a:off x="7084332" y="2076372"/>
            <a:ext cx="4482481" cy="1137378"/>
            <a:chOff x="5309378" y="3878203"/>
            <a:chExt cx="4482481" cy="1137378"/>
          </a:xfrm>
        </p:grpSpPr>
        <p:sp>
          <p:nvSpPr>
            <p:cNvPr id="160" name="Google Shape;160;p17"/>
            <p:cNvSpPr/>
            <p:nvPr/>
          </p:nvSpPr>
          <p:spPr>
            <a:xfrm>
              <a:off x="5309378" y="3878203"/>
              <a:ext cx="3678000" cy="433800"/>
            </a:xfrm>
            <a:prstGeom prst="roundRect">
              <a:avLst>
                <a:gd fmla="val 16667" name="adj"/>
              </a:avLst>
            </a:prstGeom>
            <a:solidFill>
              <a:srgbClr val="004990"/>
            </a:solidFill>
            <a:ln cap="flat" cmpd="sng" w="12700">
              <a:solidFill>
                <a:srgbClr val="002B5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500">
                  <a:solidFill>
                    <a:schemeClr val="lt1"/>
                  </a:solidFill>
                </a:rPr>
                <a:t>Hospitalisation </a:t>
              </a:r>
              <a:r>
                <a:rPr b="1" i="0" lang="fr-F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(PMSI)</a:t>
              </a:r>
              <a:endParaRPr sz="1900"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5314850" y="4323781"/>
              <a:ext cx="4327800" cy="691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rgbClr val="18471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Séjours </a:t>
              </a:r>
              <a:endParaRPr sz="1100">
                <a:solidFill>
                  <a:schemeClr val="dk2"/>
                </a:solidFill>
              </a:endParaRPr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 sz="1300">
                  <a:solidFill>
                    <a:schemeClr val="dk2"/>
                  </a:solidFill>
                </a:rPr>
                <a:t>Actes et diagnostics</a:t>
              </a:r>
              <a:endPara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 sz="1300">
                  <a:solidFill>
                    <a:schemeClr val="dk2"/>
                  </a:solidFill>
                </a:rPr>
                <a:t>C</a:t>
              </a:r>
              <a:r>
                <a:rPr b="0" i="0" lang="fr-FR" sz="13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onsultations externes</a:t>
              </a:r>
              <a:endPara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" name="Google Shape;162;p17"/>
            <p:cNvGrpSpPr/>
            <p:nvPr/>
          </p:nvGrpSpPr>
          <p:grpSpPr>
            <a:xfrm>
              <a:off x="8945699" y="4017254"/>
              <a:ext cx="846160" cy="914166"/>
              <a:chOff x="8386238" y="4386701"/>
              <a:chExt cx="1075445" cy="1161879"/>
            </a:xfrm>
          </p:grpSpPr>
          <p:pic>
            <p:nvPicPr>
              <p:cNvPr id="163" name="Google Shape;163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400910" y="4386701"/>
                <a:ext cx="1060773" cy="11152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4" name="Google Shape;164;p17"/>
              <p:cNvSpPr/>
              <p:nvPr/>
            </p:nvSpPr>
            <p:spPr>
              <a:xfrm>
                <a:off x="8386238" y="4436180"/>
                <a:ext cx="1069800" cy="1112400"/>
              </a:xfrm>
              <a:prstGeom prst="ellipse">
                <a:avLst/>
              </a:prstGeom>
              <a:noFill/>
              <a:ln cap="flat" cmpd="sng" w="57150">
                <a:solidFill>
                  <a:srgbClr val="A3DBD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5" name="Google Shape;165;p17"/>
          <p:cNvGrpSpPr/>
          <p:nvPr/>
        </p:nvGrpSpPr>
        <p:grpSpPr>
          <a:xfrm>
            <a:off x="7355250" y="4357750"/>
            <a:ext cx="4836748" cy="2043124"/>
            <a:chOff x="5351871" y="5088345"/>
            <a:chExt cx="4836748" cy="2017502"/>
          </a:xfrm>
        </p:grpSpPr>
        <p:sp>
          <p:nvSpPr>
            <p:cNvPr id="166" name="Google Shape;166;p17"/>
            <p:cNvSpPr/>
            <p:nvPr/>
          </p:nvSpPr>
          <p:spPr>
            <a:xfrm>
              <a:off x="5358796" y="5088345"/>
              <a:ext cx="3671100" cy="413100"/>
            </a:xfrm>
            <a:prstGeom prst="roundRect">
              <a:avLst>
                <a:gd fmla="val 16667" name="adj"/>
              </a:avLst>
            </a:prstGeom>
            <a:solidFill>
              <a:srgbClr val="004990"/>
            </a:solidFill>
            <a:ln cap="flat" cmpd="sng" w="12700">
              <a:solidFill>
                <a:srgbClr val="002B5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1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500">
                  <a:solidFill>
                    <a:schemeClr val="lt1"/>
                  </a:solidFill>
                </a:rPr>
                <a:t>Données patient</a:t>
              </a:r>
              <a:endParaRPr sz="1900"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5351871" y="5501447"/>
              <a:ext cx="4244700" cy="1604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rgbClr val="18471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Variables dé</a:t>
              </a:r>
              <a:r>
                <a:rPr lang="fr-FR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mographiques (âge, sexe, commune de résidence, date de naissance et de décès, indice de déprivation sociale)</a:t>
              </a:r>
              <a:endParaRPr sz="1100">
                <a:solidFill>
                  <a:schemeClr val="dk2"/>
                </a:solidFill>
              </a:endParaRPr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Statut Affection de Longue Durée</a:t>
              </a:r>
              <a:endParaRPr sz="1100">
                <a:solidFill>
                  <a:schemeClr val="dk2"/>
                </a:solidFill>
              </a:endParaRPr>
            </a:p>
            <a:p>
              <a:pPr indent="-171450" lvl="1" marL="1778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Noto Sans Symbols"/>
                <a:buChar char="✔"/>
              </a:pPr>
              <a:r>
                <a:rPr lang="fr-FR" sz="1300">
                  <a:solidFill>
                    <a:schemeClr val="dk2"/>
                  </a:solidFill>
                </a:rPr>
                <a:t>Classification des dépenses identifiée par la </a:t>
              </a:r>
              <a:r>
                <a:rPr lang="fr-FR" sz="1300">
                  <a:solidFill>
                    <a:schemeClr val="dk2"/>
                  </a:solidFill>
                </a:rPr>
                <a:t>Cnam (“cartographie des pathologies”)</a:t>
              </a:r>
              <a:endParaRPr sz="1900"/>
            </a:p>
          </p:txBody>
        </p:sp>
        <p:grpSp>
          <p:nvGrpSpPr>
            <p:cNvPr id="168" name="Google Shape;168;p17"/>
            <p:cNvGrpSpPr/>
            <p:nvPr/>
          </p:nvGrpSpPr>
          <p:grpSpPr>
            <a:xfrm>
              <a:off x="9355674" y="5926451"/>
              <a:ext cx="832946" cy="778522"/>
              <a:chOff x="8926420" y="5996493"/>
              <a:chExt cx="1069800" cy="999900"/>
            </a:xfrm>
          </p:grpSpPr>
          <p:pic>
            <p:nvPicPr>
              <p:cNvPr id="169" name="Google Shape;169;p1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937956" y="6025289"/>
                <a:ext cx="1046732" cy="942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7"/>
              <p:cNvSpPr/>
              <p:nvPr/>
            </p:nvSpPr>
            <p:spPr>
              <a:xfrm>
                <a:off x="8926420" y="5996493"/>
                <a:ext cx="1069800" cy="999900"/>
              </a:xfrm>
              <a:prstGeom prst="ellipse">
                <a:avLst/>
              </a:prstGeom>
              <a:noFill/>
              <a:ln cap="flat" cmpd="sng" w="57150">
                <a:solidFill>
                  <a:srgbClr val="A3DBD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1" name="Google Shape;171;p17"/>
          <p:cNvSpPr txBox="1"/>
          <p:nvPr/>
        </p:nvSpPr>
        <p:spPr>
          <a:xfrm>
            <a:off x="287873" y="2522025"/>
            <a:ext cx="5544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0" wrap="square" tIns="900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90"/>
              </a:buClr>
              <a:buSzPct val="100000"/>
              <a:buFont typeface="Arial"/>
              <a:buNone/>
            </a:pPr>
            <a:r>
              <a:rPr b="1" lang="fr-FR" sz="2900">
                <a:solidFill>
                  <a:srgbClr val="FF6168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r>
              <a:rPr b="1" lang="fr-FR" sz="2900">
                <a:solidFill>
                  <a:srgbClr val="FF6168"/>
                </a:solidFill>
              </a:rPr>
              <a:t>mais complexe et </a:t>
            </a:r>
            <a:br>
              <a:rPr b="1" lang="fr-FR" sz="2900">
                <a:solidFill>
                  <a:srgbClr val="FF6168"/>
                </a:solidFill>
              </a:rPr>
            </a:br>
            <a:r>
              <a:rPr b="1" lang="fr-FR" sz="2900">
                <a:solidFill>
                  <a:srgbClr val="FF6168"/>
                </a:solidFill>
              </a:rPr>
              <a:t>centrée sur les remboursements </a:t>
            </a:r>
            <a:endParaRPr sz="1900">
              <a:solidFill>
                <a:srgbClr val="FF6168"/>
              </a:solidFill>
            </a:endParaRPr>
          </a:p>
        </p:txBody>
      </p:sp>
      <p:grpSp>
        <p:nvGrpSpPr>
          <p:cNvPr id="172" name="Google Shape;172;p17"/>
          <p:cNvGrpSpPr/>
          <p:nvPr/>
        </p:nvGrpSpPr>
        <p:grpSpPr>
          <a:xfrm>
            <a:off x="1168692" y="3429009"/>
            <a:ext cx="5111495" cy="3174637"/>
            <a:chOff x="1172395" y="4497273"/>
            <a:chExt cx="4327741" cy="2567645"/>
          </a:xfrm>
        </p:grpSpPr>
        <p:grpSp>
          <p:nvGrpSpPr>
            <p:cNvPr id="173" name="Google Shape;173;p17"/>
            <p:cNvGrpSpPr/>
            <p:nvPr/>
          </p:nvGrpSpPr>
          <p:grpSpPr>
            <a:xfrm>
              <a:off x="1172395" y="4600126"/>
              <a:ext cx="3560470" cy="2464792"/>
              <a:chOff x="5254969" y="5349345"/>
              <a:chExt cx="3560470" cy="2464792"/>
            </a:xfrm>
          </p:grpSpPr>
          <p:sp>
            <p:nvSpPr>
              <p:cNvPr id="174" name="Google Shape;174;p17"/>
              <p:cNvSpPr/>
              <p:nvPr/>
            </p:nvSpPr>
            <p:spPr>
              <a:xfrm>
                <a:off x="5254969" y="5349345"/>
                <a:ext cx="3225900" cy="446100"/>
              </a:xfrm>
              <a:prstGeom prst="roundRect">
                <a:avLst>
                  <a:gd fmla="val 16667" name="adj"/>
                </a:avLst>
              </a:prstGeom>
              <a:solidFill>
                <a:srgbClr val="7030A0"/>
              </a:solidFill>
              <a:ln cap="flat" cmpd="sng" w="12700">
                <a:solidFill>
                  <a:srgbClr val="002B5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1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fr-FR" sz="15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Informations</a:t>
                </a:r>
                <a:r>
                  <a:rPr b="1" lang="fr-FR" sz="1500">
                    <a:solidFill>
                      <a:schemeClr val="lt1"/>
                    </a:solidFill>
                  </a:rPr>
                  <a:t> non disponibles</a:t>
                </a:r>
                <a:endParaRPr sz="1900"/>
              </a:p>
            </p:txBody>
          </p:sp>
          <p:sp>
            <p:nvSpPr>
              <p:cNvPr id="175" name="Google Shape;175;p17"/>
              <p:cNvSpPr/>
              <p:nvPr/>
            </p:nvSpPr>
            <p:spPr>
              <a:xfrm>
                <a:off x="5255039" y="5795437"/>
                <a:ext cx="3560400" cy="20187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2700">
                <a:solidFill>
                  <a:srgbClr val="1847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chemeClr val="dk2"/>
                  </a:solidFill>
                </a:endParaRPr>
              </a:p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❌"/>
                </a:pPr>
                <a:r>
                  <a:rPr lang="fr-FR" sz="1300">
                    <a:solidFill>
                      <a:schemeClr val="dk2"/>
                    </a:solidFill>
                  </a:rPr>
                  <a:t>Résultats d’examen</a:t>
                </a:r>
                <a:endParaRPr sz="1300">
                  <a:solidFill>
                    <a:schemeClr val="dk2"/>
                  </a:solidFill>
                </a:endParaRPr>
              </a:p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❌"/>
                </a:pPr>
                <a:r>
                  <a:rPr lang="fr-FR" sz="1300">
                    <a:solidFill>
                      <a:schemeClr val="dk2"/>
                    </a:solidFill>
                  </a:rPr>
                  <a:t>Données cliniques (IMC, pression artérielle, médicaments peu coûtex en hospitalisation…)</a:t>
                </a:r>
                <a:endParaRPr sz="1900"/>
              </a:p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❌"/>
                </a:pPr>
                <a:r>
                  <a:rPr lang="fr-FR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Expositions environnementales </a:t>
                </a:r>
                <a:r>
                  <a:rPr lang="fr-FR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(tabac, alcool, nutrition, …)</a:t>
                </a:r>
                <a:endParaRPr sz="1100">
                  <a:solidFill>
                    <a:schemeClr val="dk2"/>
                  </a:solidFill>
                </a:endParaRPr>
              </a:p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❌"/>
                </a:pPr>
                <a:r>
                  <a:rPr lang="fr-FR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Données socio-économiques </a:t>
                </a:r>
                <a:r>
                  <a:rPr lang="fr-FR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(éducation, revenu, …)</a:t>
                </a:r>
                <a:endParaRPr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❌"/>
                </a:pPr>
                <a:r>
                  <a:rPr lang="fr-FR" sz="1300">
                    <a:solidFill>
                      <a:schemeClr val="dk2"/>
                    </a:solidFill>
                  </a:rPr>
                  <a:t>Pas de motifs de consultations</a:t>
                </a:r>
                <a:endParaRPr sz="1900"/>
              </a:p>
            </p:txBody>
          </p:sp>
        </p:grpSp>
        <p:pic>
          <p:nvPicPr>
            <p:cNvPr id="176" name="Google Shape;176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585553" y="4497273"/>
              <a:ext cx="914583" cy="909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" name="Google Shape;177;p17"/>
          <p:cNvSpPr/>
          <p:nvPr/>
        </p:nvSpPr>
        <p:spPr>
          <a:xfrm>
            <a:off x="5159423" y="3550790"/>
            <a:ext cx="1192500" cy="961500"/>
          </a:xfrm>
          <a:prstGeom prst="mathMultiply">
            <a:avLst>
              <a:gd fmla="val 23520" name="adj1"/>
            </a:avLst>
          </a:prstGeom>
          <a:solidFill>
            <a:srgbClr val="001E3E">
              <a:alpha val="27840"/>
            </a:srgbClr>
          </a:solidFill>
          <a:ln cap="flat" cmpd="sng" w="12700">
            <a:solidFill>
              <a:srgbClr val="0C0C0C">
                <a:alpha val="3176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193800" sx="200000" rotWithShape="0" algn="ctr" dir="5400000" dist="50800" sy="200000">
              <a:srgbClr val="000000">
                <a:alpha val="0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17"/>
          <p:cNvGrpSpPr/>
          <p:nvPr/>
        </p:nvGrpSpPr>
        <p:grpSpPr>
          <a:xfrm>
            <a:off x="7082814" y="3227333"/>
            <a:ext cx="4505983" cy="1119067"/>
            <a:chOff x="4572000" y="4170474"/>
            <a:chExt cx="3379572" cy="839321"/>
          </a:xfrm>
        </p:grpSpPr>
        <p:grpSp>
          <p:nvGrpSpPr>
            <p:cNvPr id="179" name="Google Shape;179;p17"/>
            <p:cNvGrpSpPr/>
            <p:nvPr/>
          </p:nvGrpSpPr>
          <p:grpSpPr>
            <a:xfrm>
              <a:off x="4572000" y="4170474"/>
              <a:ext cx="3249954" cy="680458"/>
              <a:chOff x="5309378" y="3878203"/>
              <a:chExt cx="4333272" cy="907278"/>
            </a:xfrm>
          </p:grpSpPr>
          <p:sp>
            <p:nvSpPr>
              <p:cNvPr id="180" name="Google Shape;180;p17"/>
              <p:cNvSpPr/>
              <p:nvPr/>
            </p:nvSpPr>
            <p:spPr>
              <a:xfrm>
                <a:off x="5314850" y="4323781"/>
                <a:ext cx="4327800" cy="4617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2700">
                <a:solidFill>
                  <a:srgbClr val="18471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-171450" lvl="1" marL="1778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Noto Sans Symbols"/>
                  <a:buChar char="✔"/>
                </a:pPr>
                <a:r>
                  <a:rPr lang="fr-FR" sz="1300">
                    <a:solidFill>
                      <a:schemeClr val="dk2"/>
                    </a:solidFill>
                  </a:rPr>
                  <a:t>Diagnostics des certificats de décès</a:t>
                </a:r>
                <a:endParaRPr b="0" i="0" sz="13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7"/>
              <p:cNvSpPr/>
              <p:nvPr/>
            </p:nvSpPr>
            <p:spPr>
              <a:xfrm>
                <a:off x="5309378" y="3878203"/>
                <a:ext cx="3678000" cy="433800"/>
              </a:xfrm>
              <a:prstGeom prst="roundRect">
                <a:avLst>
                  <a:gd fmla="val 16667" name="adj"/>
                </a:avLst>
              </a:prstGeom>
              <a:solidFill>
                <a:srgbClr val="004990"/>
              </a:solidFill>
              <a:ln cap="flat" cmpd="sng" w="12700">
                <a:solidFill>
                  <a:srgbClr val="002B5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1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500">
                    <a:solidFill>
                      <a:schemeClr val="lt1"/>
                    </a:solidFill>
                  </a:rPr>
                  <a:t>Causes de décès</a:t>
                </a:r>
                <a:endParaRPr sz="1900"/>
              </a:p>
            </p:txBody>
          </p:sp>
        </p:grpSp>
        <p:grpSp>
          <p:nvGrpSpPr>
            <p:cNvPr id="182" name="Google Shape;182;p17"/>
            <p:cNvGrpSpPr/>
            <p:nvPr/>
          </p:nvGrpSpPr>
          <p:grpSpPr>
            <a:xfrm>
              <a:off x="7320372" y="4353395"/>
              <a:ext cx="631200" cy="656400"/>
              <a:chOff x="8319658" y="4190034"/>
              <a:chExt cx="631200" cy="656400"/>
            </a:xfrm>
          </p:grpSpPr>
          <p:pic>
            <p:nvPicPr>
              <p:cNvPr id="183" name="Google Shape;183;p17"/>
              <p:cNvPicPr preferRelativeResize="0"/>
              <p:nvPr/>
            </p:nvPicPr>
            <p:blipFill rotWithShape="1">
              <a:blip r:embed="rId8">
                <a:alphaModFix/>
              </a:blip>
              <a:srcRect b="7961" l="8420" r="7546" t="12345"/>
              <a:stretch/>
            </p:blipFill>
            <p:spPr>
              <a:xfrm>
                <a:off x="8334250" y="4256578"/>
                <a:ext cx="578670" cy="5666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4" name="Google Shape;184;p17"/>
              <p:cNvSpPr/>
              <p:nvPr/>
            </p:nvSpPr>
            <p:spPr>
              <a:xfrm>
                <a:off x="8319658" y="4190034"/>
                <a:ext cx="631200" cy="656400"/>
              </a:xfrm>
              <a:prstGeom prst="ellipse">
                <a:avLst/>
              </a:prstGeom>
              <a:noFill/>
              <a:ln cap="flat" cmpd="sng" w="57150">
                <a:solidFill>
                  <a:srgbClr val="A3DBD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5" name="Google Shape;185;p17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/>
        </p:nvSpPr>
        <p:spPr>
          <a:xfrm>
            <a:off x="613025" y="224300"/>
            <a:ext cx="1006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Typologie des études basées sur le SNDS (ICM)</a:t>
            </a:r>
            <a:endParaRPr>
              <a:solidFill>
                <a:srgbClr val="FF6168"/>
              </a:solidFill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1290625" y="1185850"/>
            <a:ext cx="32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81E78"/>
                </a:solidFill>
              </a:rPr>
              <a:t>Etudes descriptives</a:t>
            </a:r>
            <a:endParaRPr sz="2000">
              <a:solidFill>
                <a:srgbClr val="281E78"/>
              </a:solidFill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6096000" y="199352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rgbClr val="281E78"/>
                </a:solidFill>
              </a:rPr>
              <a:t>Comparer l’efficience de différents traitements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9144000" y="116213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81E78"/>
                </a:solidFill>
              </a:rPr>
              <a:t>Etudes p</a:t>
            </a:r>
            <a:r>
              <a:rPr b="1" lang="fr-FR" sz="2000">
                <a:solidFill>
                  <a:srgbClr val="281E78"/>
                </a:solidFill>
              </a:rPr>
              <a:t>rognostiques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0" y="214742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rgbClr val="281E78"/>
                </a:solidFill>
              </a:rPr>
              <a:t>Décrire le statut de santé d’une population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2920625" y="214742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rgbClr val="281E78"/>
                </a:solidFill>
              </a:rPr>
              <a:t>...et identifier les facteurs associés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096000" y="1162138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81E78"/>
                </a:solidFill>
              </a:rPr>
              <a:t>Etudes comparatives</a:t>
            </a:r>
            <a:br>
              <a:rPr b="1" lang="fr-FR" sz="2000">
                <a:solidFill>
                  <a:srgbClr val="281E78"/>
                </a:solidFill>
              </a:rPr>
            </a:br>
            <a:r>
              <a:rPr b="1" lang="fr-FR" sz="2000">
                <a:solidFill>
                  <a:srgbClr val="281E78"/>
                </a:solidFill>
              </a:rPr>
              <a:t>(thérapeutiques)</a:t>
            </a:r>
            <a:endParaRPr sz="2000">
              <a:solidFill>
                <a:srgbClr val="281E78"/>
              </a:solidFill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9096000" y="1839625"/>
            <a:ext cx="3096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rgbClr val="281E78"/>
                </a:solidFill>
              </a:rPr>
              <a:t>Prédire la progression d’une maladie à partir de caractéristiques individuelles</a:t>
            </a:r>
            <a:endParaRPr/>
          </a:p>
        </p:txBody>
      </p:sp>
      <p:cxnSp>
        <p:nvCxnSpPr>
          <p:cNvPr id="198" name="Google Shape;198;p18"/>
          <p:cNvCxnSpPr>
            <a:stCxn id="191" idx="2"/>
            <a:endCxn id="194" idx="0"/>
          </p:cNvCxnSpPr>
          <p:nvPr/>
        </p:nvCxnSpPr>
        <p:spPr>
          <a:xfrm flipH="1">
            <a:off x="1499875" y="1647550"/>
            <a:ext cx="1439400" cy="49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18"/>
          <p:cNvCxnSpPr>
            <a:stCxn id="191" idx="2"/>
            <a:endCxn id="195" idx="0"/>
          </p:cNvCxnSpPr>
          <p:nvPr/>
        </p:nvCxnSpPr>
        <p:spPr>
          <a:xfrm>
            <a:off x="2939275" y="1647550"/>
            <a:ext cx="1481400" cy="49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18"/>
          <p:cNvCxnSpPr>
            <a:stCxn id="196" idx="2"/>
            <a:endCxn id="192" idx="0"/>
          </p:cNvCxnSpPr>
          <p:nvPr/>
        </p:nvCxnSpPr>
        <p:spPr>
          <a:xfrm>
            <a:off x="7596000" y="1962538"/>
            <a:ext cx="0" cy="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18"/>
          <p:cNvCxnSpPr>
            <a:stCxn id="193" idx="2"/>
            <a:endCxn id="197" idx="0"/>
          </p:cNvCxnSpPr>
          <p:nvPr/>
        </p:nvCxnSpPr>
        <p:spPr>
          <a:xfrm>
            <a:off x="10644000" y="1654738"/>
            <a:ext cx="0" cy="1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18"/>
          <p:cNvSpPr txBox="1"/>
          <p:nvPr/>
        </p:nvSpPr>
        <p:spPr>
          <a:xfrm>
            <a:off x="99575" y="55970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/>
              <a:t>Incidence de </a:t>
            </a:r>
            <a:r>
              <a:rPr lang="fr-F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Parkinson </a:t>
            </a:r>
            <a:r>
              <a:rPr lang="fr-FR" sz="1800"/>
              <a:t>en</a:t>
            </a:r>
            <a:r>
              <a:rPr lang="fr-FR" sz="1800"/>
              <a:t> France sur 10 ans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6096000" y="5492300"/>
            <a:ext cx="300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/>
              <a:t>Survie pour deux options de traitement pour la maladie de Parkinson (N=20 000)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9248700" y="5481213"/>
            <a:ext cx="2907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/>
              <a:t>Courbes </a:t>
            </a:r>
            <a:r>
              <a:rPr lang="fr-FR" sz="1800"/>
              <a:t>ROC pour l’apparition de démence (prédictions à 2, 5 et 10 ans)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3258687" y="5581013"/>
            <a:ext cx="245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/>
              <a:t>Caractéristiques associés à la maladie d’Alzheimer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6525" y="3440488"/>
            <a:ext cx="1552251" cy="170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8675" y="3282912"/>
            <a:ext cx="1691226" cy="187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019" y="3209061"/>
            <a:ext cx="2653107" cy="187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6338" y="3366325"/>
            <a:ext cx="3379312" cy="17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0810" y="864252"/>
            <a:ext cx="7451328" cy="563884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>
            <p:ph idx="1" type="body"/>
          </p:nvPr>
        </p:nvSpPr>
        <p:spPr>
          <a:xfrm>
            <a:off x="287869" y="1374089"/>
            <a:ext cx="5047200" cy="5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168"/>
              </a:buClr>
              <a:buSzPts val="2100"/>
              <a:buNone/>
            </a:pPr>
            <a:r>
              <a:t/>
            </a:r>
            <a:endParaRPr sz="2100"/>
          </a:p>
          <a:p>
            <a:pPr indent="0" lvl="1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FF6168"/>
              </a:buClr>
              <a:buSzPts val="1600"/>
              <a:buNone/>
            </a:pPr>
            <a:r>
              <a:rPr lang="fr-FR" sz="1600"/>
              <a:t>NABM 1260 : </a:t>
            </a:r>
            <a:r>
              <a:rPr b="1" lang="fr-FR" sz="1600"/>
              <a:t>IgG and IgM anti-CMV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FF6168"/>
              </a:buClr>
              <a:buSzPts val="1600"/>
              <a:buNone/>
            </a:pPr>
            <a:r>
              <a:t/>
            </a:r>
            <a:endParaRPr b="1" sz="1600"/>
          </a:p>
          <a:p>
            <a:pPr indent="0" lvl="3" marL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0" lvl="3" marL="292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rPr b="1" lang="fr-FR" sz="2000"/>
              <a:t>Heterogeneity of practices </a:t>
            </a:r>
            <a:r>
              <a:rPr lang="fr-FR" sz="2000"/>
              <a:t>on the french territory</a:t>
            </a:r>
            <a:endParaRPr/>
          </a:p>
          <a:p>
            <a:pPr indent="-190500" lvl="3" marL="482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fr-FR" sz="2000"/>
              <a:t>Frequent use (&gt; 40%) : </a:t>
            </a:r>
            <a:endParaRPr/>
          </a:p>
          <a:p>
            <a:pPr indent="-184150" lvl="4" marL="7620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700"/>
              <a:buChar char="○"/>
            </a:pPr>
            <a:r>
              <a:rPr lang="fr-FR" sz="1700"/>
              <a:t>Île-de-France, Corse, Grand Est</a:t>
            </a:r>
            <a:endParaRPr/>
          </a:p>
          <a:p>
            <a:pPr indent="-190500" lvl="3" marL="482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fr-FR" sz="2000"/>
              <a:t>Much less common (≈ 15%) :</a:t>
            </a:r>
            <a:endParaRPr/>
          </a:p>
          <a:p>
            <a:pPr indent="-184150" lvl="4" marL="7620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700"/>
              <a:buChar char="○"/>
            </a:pPr>
            <a:r>
              <a:rPr lang="fr-FR" sz="1700"/>
              <a:t>Bretagne, Normandie, Hauts-de-France, Auvergne-Rhône-Alpes </a:t>
            </a:r>
            <a:endParaRPr/>
          </a:p>
        </p:txBody>
      </p:sp>
      <p:sp>
        <p:nvSpPr>
          <p:cNvPr id="218" name="Google Shape;218;p19"/>
          <p:cNvSpPr txBox="1"/>
          <p:nvPr>
            <p:ph type="title"/>
          </p:nvPr>
        </p:nvSpPr>
        <p:spPr>
          <a:xfrm>
            <a:off x="49892" y="94456"/>
            <a:ext cx="116163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0000" spcFirstLastPara="1" rIns="0" wrap="square" tIns="120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90"/>
              </a:buClr>
              <a:buSzPts val="3200"/>
              <a:buFont typeface="Arial"/>
              <a:buNone/>
            </a:pPr>
            <a:r>
              <a:rPr b="1" lang="fr-FR" sz="1800">
                <a:solidFill>
                  <a:srgbClr val="FF6168"/>
                </a:solidFill>
              </a:rPr>
              <a:t>Description of healthcare practices</a:t>
            </a:r>
            <a:br>
              <a:rPr b="1" lang="fr-FR" sz="1800">
                <a:solidFill>
                  <a:srgbClr val="FA4616"/>
                </a:solidFill>
              </a:rPr>
            </a:br>
            <a:r>
              <a:rPr b="1" lang="fr-FR" sz="1800">
                <a:solidFill>
                  <a:schemeClr val="dk1"/>
                </a:solidFill>
              </a:rPr>
              <a:t>Eg. </a:t>
            </a:r>
            <a:r>
              <a:rPr b="1" lang="fr-FR" sz="1800">
                <a:solidFill>
                  <a:schemeClr val="dk1"/>
                </a:solidFill>
              </a:rPr>
              <a:t>Practice of screening pregnant w</a:t>
            </a:r>
            <a:r>
              <a:rPr b="1" lang="fr-FR" sz="1800">
                <a:solidFill>
                  <a:schemeClr val="dk1"/>
                </a:solidFill>
              </a:rPr>
              <a:t>o</a:t>
            </a:r>
            <a:r>
              <a:rPr b="1" lang="fr-FR" sz="1800">
                <a:solidFill>
                  <a:schemeClr val="dk1"/>
                </a:solidFill>
              </a:rPr>
              <a:t>men for CMV infection (2022-2023)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9" name="Google Shape;219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300">
                <a:solidFill>
                  <a:schemeClr val="tx1"/>
                </a:solidFill>
              </a:rPr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223" y="1153676"/>
            <a:ext cx="8201823" cy="530401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>
            <p:ph type="title"/>
          </p:nvPr>
        </p:nvSpPr>
        <p:spPr>
          <a:xfrm>
            <a:off x="287867" y="221452"/>
            <a:ext cx="113319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0000" spcFirstLastPara="1" rIns="0" wrap="square" tIns="120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990"/>
              </a:buClr>
              <a:buSzPts val="3200"/>
              <a:buFont typeface="Arial"/>
              <a:buNone/>
            </a:pPr>
            <a:r>
              <a:rPr b="1" lang="fr-FR" sz="1800">
                <a:solidFill>
                  <a:srgbClr val="FF6168"/>
                </a:solidFill>
              </a:rPr>
              <a:t>Impact of institutional </a:t>
            </a:r>
            <a:r>
              <a:rPr b="1" lang="fr-FR" sz="1800">
                <a:solidFill>
                  <a:srgbClr val="FF6168"/>
                </a:solidFill>
              </a:rPr>
              <a:t>recommendations</a:t>
            </a:r>
            <a:r>
              <a:rPr b="1" lang="fr-FR" sz="1800">
                <a:solidFill>
                  <a:srgbClr val="FA4616"/>
                </a:solidFill>
              </a:rPr>
              <a:t> </a:t>
            </a:r>
            <a:br>
              <a:rPr b="1" lang="fr-FR" sz="1800">
                <a:solidFill>
                  <a:srgbClr val="FA4616"/>
                </a:solidFill>
              </a:rPr>
            </a:br>
            <a:r>
              <a:rPr b="1" lang="fr-FR" sz="1800">
                <a:solidFill>
                  <a:schemeClr val="dk1"/>
                </a:solidFill>
              </a:rPr>
              <a:t>Eg. </a:t>
            </a:r>
            <a:r>
              <a:rPr b="1" lang="fr-FR" sz="1800">
                <a:solidFill>
                  <a:schemeClr val="dk1"/>
                </a:solidFill>
              </a:rPr>
              <a:t>Proton pump inhibitor dispensing trends in children under 1 year of age since 2015 (</a:t>
            </a:r>
            <a:r>
              <a:rPr b="1" lang="fr-FR" sz="1800">
                <a:solidFill>
                  <a:schemeClr val="dk1"/>
                </a:solidFill>
              </a:rPr>
              <a:t>⚠ WIP)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27" name="Google Shape;227;p20"/>
          <p:cNvSpPr txBox="1"/>
          <p:nvPr>
            <p:ph idx="1" type="body"/>
          </p:nvPr>
        </p:nvSpPr>
        <p:spPr>
          <a:xfrm>
            <a:off x="287868" y="1078572"/>
            <a:ext cx="7983600" cy="49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381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168"/>
              </a:buClr>
              <a:buSzPts val="1700"/>
              <a:buFont typeface="Noto Sans Symbols"/>
              <a:buNone/>
            </a:pPr>
            <a:r>
              <a:t/>
            </a:r>
            <a:endParaRPr b="0" i="0" sz="1700" u="none" cap="none" strike="noStrike">
              <a:solidFill>
                <a:srgbClr val="FF61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5715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b="1" sz="1700"/>
          </a:p>
          <a:p>
            <a:pPr indent="-76200" lvl="4" marL="762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b="1" sz="1700"/>
          </a:p>
        </p:txBody>
      </p:sp>
      <p:sp>
        <p:nvSpPr>
          <p:cNvPr id="228" name="Google Shape;228;p20"/>
          <p:cNvSpPr txBox="1"/>
          <p:nvPr/>
        </p:nvSpPr>
        <p:spPr>
          <a:xfrm>
            <a:off x="2728125" y="6034391"/>
            <a:ext cx="4208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5486400" y="3016391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5486400" y="3016391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7800449" y="6124435"/>
            <a:ext cx="1306800" cy="255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8927141" y="2472557"/>
            <a:ext cx="973200" cy="427800"/>
          </a:xfrm>
          <a:prstGeom prst="wedgeEllipseCallout">
            <a:avLst>
              <a:gd fmla="val -18949" name="adj1"/>
              <a:gd fmla="val 79640" name="adj2"/>
            </a:avLst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Mars 2024</a:t>
            </a:r>
            <a:endParaRPr sz="1900"/>
          </a:p>
        </p:txBody>
      </p:sp>
      <p:sp>
        <p:nvSpPr>
          <p:cNvPr id="233" name="Google Shape;233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300">
                <a:solidFill>
                  <a:schemeClr val="tx1"/>
                </a:solidFill>
              </a:rPr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/>
          <p:nvPr/>
        </p:nvSpPr>
        <p:spPr>
          <a:xfrm>
            <a:off x="613026" y="224300"/>
            <a:ext cx="10785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200">
                <a:solidFill>
                  <a:srgbClr val="FF6168"/>
                </a:solidFill>
              </a:rPr>
              <a:t>A sanity check in SNDS clinical studies : visualize individual treatment pathways</a:t>
            </a:r>
            <a:endParaRPr b="1" sz="2200">
              <a:solidFill>
                <a:srgbClr val="FF61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0" r="52219" t="0"/>
          <a:stretch/>
        </p:blipFill>
        <p:spPr>
          <a:xfrm>
            <a:off x="-55100" y="1564175"/>
            <a:ext cx="3823276" cy="46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2125" y="1318125"/>
            <a:ext cx="4252529" cy="477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7018" y="2225553"/>
            <a:ext cx="663121" cy="319318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3953618" y="1318118"/>
            <a:ext cx="3646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100">
                <a:latin typeface="Calibri"/>
                <a:ea typeface="Calibri"/>
                <a:cs typeface="Calibri"/>
                <a:sym typeface="Calibri"/>
              </a:rPr>
              <a:t>Patient treatment status</a:t>
            </a:r>
            <a:r>
              <a:rPr b="1" lang="fr-FR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100">
                <a:latin typeface="Calibri"/>
                <a:ea typeface="Calibri"/>
                <a:cs typeface="Calibri"/>
                <a:sym typeface="Calibri"/>
              </a:rPr>
              <a:t>during quarter</a:t>
            </a:r>
            <a:r>
              <a:rPr b="1" lang="fr-FR" sz="24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648996" y="301742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Levodopa sparing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4648996" y="2375664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Levodopa reliant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4648996" y="3659176"/>
            <a:ext cx="24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treatment dispensed  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4648996" y="4300932"/>
            <a:ext cx="478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yet observed 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4648996" y="4942689"/>
            <a:ext cx="9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Death</a:t>
            </a:r>
            <a:endParaRPr/>
          </a:p>
        </p:txBody>
      </p:sp>
      <p:sp>
        <p:nvSpPr>
          <p:cNvPr id="248" name="Google Shape;248;p21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 txBox="1"/>
          <p:nvPr/>
        </p:nvSpPr>
        <p:spPr>
          <a:xfrm>
            <a:off x="613022" y="224294"/>
            <a:ext cx="7698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fr-FR" sz="2400">
                <a:solidFill>
                  <a:srgbClr val="FF6168"/>
                </a:solidFill>
              </a:rPr>
              <a:t>Chaîne de traitement typique</a:t>
            </a:r>
            <a:endParaRPr>
              <a:solidFill>
                <a:srgbClr val="FF616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6168"/>
              </a:solidFill>
            </a:endParaRPr>
          </a:p>
        </p:txBody>
      </p:sp>
      <p:sp>
        <p:nvSpPr>
          <p:cNvPr id="254" name="Google Shape;254;p22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55" name="Google Shape;255;p22"/>
          <p:cNvPicPr preferRelativeResize="0"/>
          <p:nvPr/>
        </p:nvPicPr>
        <p:blipFill rotWithShape="1">
          <a:blip r:embed="rId3">
            <a:alphaModFix/>
          </a:blip>
          <a:srcRect b="9266" l="0" r="0" t="11807"/>
          <a:stretch/>
        </p:blipFill>
        <p:spPr>
          <a:xfrm>
            <a:off x="1345550" y="1197975"/>
            <a:ext cx="2950124" cy="475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2800" y="528675"/>
            <a:ext cx="4409624" cy="542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 txBox="1"/>
          <p:nvPr/>
        </p:nvSpPr>
        <p:spPr>
          <a:xfrm>
            <a:off x="613026" y="224300"/>
            <a:ext cx="954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Chaîne de traitement typique</a:t>
            </a:r>
            <a:endParaRPr>
              <a:solidFill>
                <a:srgbClr val="FF6168"/>
              </a:solidFill>
            </a:endParaRPr>
          </a:p>
        </p:txBody>
      </p:sp>
      <p:pic>
        <p:nvPicPr>
          <p:cNvPr id="262" name="Google Shape;262;p23" title="Screenshot 2025-03-23 at 19.45.25.png"/>
          <p:cNvPicPr preferRelativeResize="0"/>
          <p:nvPr/>
        </p:nvPicPr>
        <p:blipFill rotWithShape="1">
          <a:blip r:embed="rId3">
            <a:alphaModFix/>
          </a:blip>
          <a:srcRect b="3140" l="0" r="0" t="5586"/>
          <a:stretch/>
        </p:blipFill>
        <p:spPr>
          <a:xfrm>
            <a:off x="1408588" y="686000"/>
            <a:ext cx="9302226" cy="570284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/>
        </p:nvSpPr>
        <p:spPr>
          <a:xfrm>
            <a:off x="613026" y="224300"/>
            <a:ext cx="102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Ressources utiles de documentation</a:t>
            </a:r>
            <a:endParaRPr>
              <a:solidFill>
                <a:srgbClr val="FF6168"/>
              </a:solidFill>
            </a:endParaRPr>
          </a:p>
        </p:txBody>
      </p:sp>
      <p:pic>
        <p:nvPicPr>
          <p:cNvPr id="269" name="Google Shape;26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540" y="3152916"/>
            <a:ext cx="4108527" cy="308497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524032" y="6146150"/>
            <a:ext cx="483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u="sng">
                <a:solidFill>
                  <a:schemeClr val="hlink"/>
                </a:solidFill>
                <a:hlinkClick r:id="rId4"/>
              </a:rPr>
              <a:t>https://documentation-snds.health-data-hub.fr/snds/</a:t>
            </a:r>
            <a:endParaRPr sz="500"/>
          </a:p>
        </p:txBody>
      </p:sp>
      <p:cxnSp>
        <p:nvCxnSpPr>
          <p:cNvPr id="271" name="Google Shape;271;p24"/>
          <p:cNvCxnSpPr/>
          <p:nvPr/>
        </p:nvCxnSpPr>
        <p:spPr>
          <a:xfrm>
            <a:off x="0" y="2473175"/>
            <a:ext cx="121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24"/>
          <p:cNvCxnSpPr/>
          <p:nvPr/>
        </p:nvCxnSpPr>
        <p:spPr>
          <a:xfrm>
            <a:off x="0" y="713450"/>
            <a:ext cx="121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24"/>
          <p:cNvSpPr txBox="1"/>
          <p:nvPr/>
        </p:nvSpPr>
        <p:spPr>
          <a:xfrm>
            <a:off x="152400" y="892750"/>
            <a:ext cx="629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Dictionnaire interactif</a:t>
            </a:r>
            <a:br>
              <a:rPr lang="fr-FR" sz="2200">
                <a:solidFill>
                  <a:srgbClr val="281E78"/>
                </a:solidFill>
              </a:rPr>
            </a:br>
            <a:r>
              <a:rPr lang="fr-FR" sz="2200" u="sng">
                <a:solidFill>
                  <a:schemeClr val="hlink"/>
                </a:solidFill>
                <a:hlinkClick r:id="rId5"/>
              </a:rPr>
              <a:t>https://health-data-hub.shinyapps.io/dico-snds/</a:t>
            </a:r>
            <a:r>
              <a:rPr lang="fr-FR" sz="2200">
                <a:solidFill>
                  <a:srgbClr val="281E78"/>
                </a:solidFill>
              </a:rPr>
              <a:t> </a:t>
            </a:r>
            <a:endParaRPr sz="2200">
              <a:solidFill>
                <a:srgbClr val="281E78"/>
              </a:solidFill>
            </a:endParaRPr>
          </a:p>
        </p:txBody>
      </p:sp>
      <p:pic>
        <p:nvPicPr>
          <p:cNvPr id="274" name="Google Shape;27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9350" y="740900"/>
            <a:ext cx="4838700" cy="164639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459807" y="2679650"/>
            <a:ext cx="535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La documentation collaborative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6208808" y="6187971"/>
            <a:ext cx="483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u="sng">
                <a:solidFill>
                  <a:schemeClr val="hlink"/>
                </a:solidFill>
                <a:hlinkClick r:id="rId7"/>
              </a:rPr>
              <a:t>https://entraide.health-data-hub.fr/categories</a:t>
            </a:r>
            <a:r>
              <a:rPr lang="fr-FR" sz="1500"/>
              <a:t> </a:t>
            </a:r>
            <a:endParaRPr sz="500"/>
          </a:p>
        </p:txBody>
      </p:sp>
      <p:sp>
        <p:nvSpPr>
          <p:cNvPr id="277" name="Google Shape;277;p24"/>
          <p:cNvSpPr txBox="1"/>
          <p:nvPr/>
        </p:nvSpPr>
        <p:spPr>
          <a:xfrm>
            <a:off x="7657455" y="2679650"/>
            <a:ext cx="208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Le forum</a:t>
            </a:r>
            <a:endParaRPr/>
          </a:p>
        </p:txBody>
      </p:sp>
      <p:pic>
        <p:nvPicPr>
          <p:cNvPr id="278" name="Google Shape;278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16613" y="3226329"/>
            <a:ext cx="4524173" cy="293815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/>
          <p:nvPr/>
        </p:nvSpPr>
        <p:spPr>
          <a:xfrm>
            <a:off x="218701" y="135950"/>
            <a:ext cx="102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Ressources de code existantes pour le SNDS</a:t>
            </a:r>
            <a:endParaRPr>
              <a:solidFill>
                <a:srgbClr val="FF6168"/>
              </a:solidFill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334525" y="2644400"/>
            <a:ext cx="30249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200">
                <a:solidFill>
                  <a:srgbClr val="281E78"/>
                </a:solidFill>
              </a:rPr>
              <a:t>BOAS (PDS) : </a:t>
            </a:r>
            <a:r>
              <a:rPr lang="fr-FR" sz="2200">
                <a:solidFill>
                  <a:srgbClr val="281E78"/>
                </a:solidFill>
              </a:rPr>
              <a:t>des références utiles d’étude</a:t>
            </a:r>
            <a:endParaRPr sz="2200">
              <a:solidFill>
                <a:srgbClr val="281E7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2200">
                <a:solidFill>
                  <a:srgbClr val="FF6168"/>
                </a:solidFill>
              </a:rPr>
              <a:t>Code SAS ad-hoc nécessitant peu configurable, pas de cohérence entre études</a:t>
            </a:r>
            <a:endParaRPr i="1" sz="2200">
              <a:solidFill>
                <a:srgbClr val="FF6168"/>
              </a:solidFill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488477" y="6249975"/>
            <a:ext cx="267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u="sng">
                <a:solidFill>
                  <a:schemeClr val="hlink"/>
                </a:solidFill>
                <a:hlinkClick r:id="rId3"/>
              </a:rPr>
              <a:t>https://gitlab.com/healthdatahub/boas/</a:t>
            </a:r>
            <a:r>
              <a:rPr lang="fr-FR" sz="1500"/>
              <a:t> </a:t>
            </a:r>
            <a:endParaRPr sz="500"/>
          </a:p>
        </p:txBody>
      </p:sp>
      <p:cxnSp>
        <p:nvCxnSpPr>
          <p:cNvPr id="287" name="Google Shape;287;p25"/>
          <p:cNvCxnSpPr/>
          <p:nvPr/>
        </p:nvCxnSpPr>
        <p:spPr>
          <a:xfrm>
            <a:off x="0" y="2473175"/>
            <a:ext cx="121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5"/>
          <p:cNvCxnSpPr/>
          <p:nvPr/>
        </p:nvCxnSpPr>
        <p:spPr>
          <a:xfrm rot="10800000">
            <a:off x="3709300" y="2526275"/>
            <a:ext cx="16200" cy="416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5"/>
          <p:cNvCxnSpPr/>
          <p:nvPr/>
        </p:nvCxnSpPr>
        <p:spPr>
          <a:xfrm>
            <a:off x="0" y="713450"/>
            <a:ext cx="121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25"/>
          <p:cNvSpPr txBox="1"/>
          <p:nvPr/>
        </p:nvSpPr>
        <p:spPr>
          <a:xfrm>
            <a:off x="6666300" y="2638700"/>
            <a:ext cx="24303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fr-FR" sz="1410">
                <a:solidFill>
                  <a:srgbClr val="281E78"/>
                </a:solidFill>
              </a:rPr>
              <a:t>Scalpel : </a:t>
            </a:r>
            <a:r>
              <a:rPr lang="fr-FR" sz="1410">
                <a:solidFill>
                  <a:srgbClr val="281E78"/>
                </a:solidFill>
              </a:rPr>
              <a:t>I</a:t>
            </a:r>
            <a:r>
              <a:rPr lang="fr-FR" sz="1410">
                <a:solidFill>
                  <a:srgbClr val="281E78"/>
                </a:solidFill>
              </a:rPr>
              <a:t>nitiatives ouverte pour une base de code partagée</a:t>
            </a:r>
            <a:endParaRPr sz="1410">
              <a:solidFill>
                <a:srgbClr val="281E78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i="1" lang="fr-FR" sz="1410">
                <a:solidFill>
                  <a:srgbClr val="FF6168"/>
                </a:solidFill>
              </a:rPr>
              <a:t>Non adaptée à l’infrastructure partagée (actuelle) et difficilement extensible</a:t>
            </a:r>
            <a:endParaRPr i="1" sz="1410">
              <a:solidFill>
                <a:srgbClr val="FF6168"/>
              </a:solidFill>
            </a:endParaRPr>
          </a:p>
        </p:txBody>
      </p:sp>
      <p:pic>
        <p:nvPicPr>
          <p:cNvPr id="291" name="Google Shape;29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6100" y="4232900"/>
            <a:ext cx="1350574" cy="175119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6666303" y="6074575"/>
            <a:ext cx="243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hlink"/>
                </a:solidFill>
                <a:hlinkClick r:id="rId5"/>
              </a:rPr>
              <a:t>https://github.com/X-DataInitiative/SCALPEL-Flattening</a:t>
            </a:r>
            <a:endParaRPr/>
          </a:p>
        </p:txBody>
      </p:sp>
      <p:pic>
        <p:nvPicPr>
          <p:cNvPr id="293" name="Google Shape;29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089" y="3922050"/>
            <a:ext cx="1813643" cy="237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12025" y="878931"/>
            <a:ext cx="28575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69525" y="912575"/>
            <a:ext cx="2588948" cy="136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667050" y="938061"/>
            <a:ext cx="1310525" cy="131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71225" y="1044350"/>
            <a:ext cx="46503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rgbClr val="281E78"/>
                </a:solidFill>
              </a:rPr>
              <a:t>Plusieurs </a:t>
            </a:r>
            <a:r>
              <a:rPr lang="fr-FR" sz="2200">
                <a:solidFill>
                  <a:srgbClr val="281E78"/>
                </a:solidFill>
              </a:rPr>
              <a:t>institutions utilise la base </a:t>
            </a:r>
            <a:r>
              <a:rPr lang="fr-FR" sz="2200">
                <a:solidFill>
                  <a:srgbClr val="281E78"/>
                </a:solidFill>
              </a:rPr>
              <a:t>SNDS et ont des bases de code interne construit pendant plusieurs années, mais </a:t>
            </a:r>
            <a:r>
              <a:rPr b="1" lang="fr-FR" sz="2200">
                <a:solidFill>
                  <a:srgbClr val="281E78"/>
                </a:solidFill>
              </a:rPr>
              <a:t>rarement publiques</a:t>
            </a:r>
            <a:r>
              <a:rPr lang="fr-FR" sz="2200">
                <a:solidFill>
                  <a:srgbClr val="281E78"/>
                </a:solidFill>
              </a:rPr>
              <a:t>.</a:t>
            </a:r>
            <a:endParaRPr b="0" i="0" u="none" cap="none" strike="noStrike">
              <a:solidFill>
                <a:srgbClr val="281E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25"/>
          <p:cNvCxnSpPr/>
          <p:nvPr/>
        </p:nvCxnSpPr>
        <p:spPr>
          <a:xfrm rot="10800000">
            <a:off x="9212175" y="2500625"/>
            <a:ext cx="16200" cy="416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25"/>
          <p:cNvSpPr txBox="1"/>
          <p:nvPr/>
        </p:nvSpPr>
        <p:spPr>
          <a:xfrm>
            <a:off x="9212175" y="4101238"/>
            <a:ext cx="30000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-FR" sz="1200">
                <a:solidFill>
                  <a:schemeClr val="dk1"/>
                </a:solidFill>
              </a:rPr>
              <a:t>combicancer (</a:t>
            </a:r>
            <a:r>
              <a:rPr lang="fr-FR" sz="1200" u="sng">
                <a:solidFill>
                  <a:schemeClr val="hlink"/>
                </a:solidFill>
                <a:hlinkClick r:id="rId10"/>
              </a:rPr>
              <a:t>https://gitlab.com/healthdatahub/boas/institut-curie/combicancer</a:t>
            </a:r>
            <a:r>
              <a:rPr lang="fr-FR" sz="1200">
                <a:solidFill>
                  <a:schemeClr val="dk1"/>
                </a:solidFill>
              </a:rPr>
              <a:t>), Institut Curie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-FR" sz="1200">
                <a:solidFill>
                  <a:schemeClr val="dk1"/>
                </a:solidFill>
              </a:rPr>
              <a:t>pysnds</a:t>
            </a:r>
            <a:r>
              <a:rPr lang="fr-FR" sz="1200">
                <a:solidFill>
                  <a:schemeClr val="dk1"/>
                </a:solidFill>
              </a:rPr>
              <a:t> (</a:t>
            </a:r>
            <a:r>
              <a:rPr lang="fr-FR" sz="1200" u="sng">
                <a:solidFill>
                  <a:schemeClr val="hlink"/>
                </a:solidFill>
                <a:hlinkClick r:id="rId11"/>
              </a:rPr>
              <a:t>github.com/GuyomardMarie/pysnds/</a:t>
            </a:r>
            <a:r>
              <a:rPr lang="fr-FR" sz="1200">
                <a:solidFill>
                  <a:schemeClr val="dk1"/>
                </a:solidFill>
              </a:rPr>
              <a:t> ), Aix-Marseille University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-FR" sz="1200">
                <a:solidFill>
                  <a:schemeClr val="dk1"/>
                </a:solidFill>
              </a:rPr>
              <a:t>sndskit</a:t>
            </a:r>
            <a:r>
              <a:rPr lang="fr-FR" sz="1200">
                <a:solidFill>
                  <a:schemeClr val="dk1"/>
                </a:solidFill>
              </a:rPr>
              <a:t> (</a:t>
            </a:r>
            <a:r>
              <a:rPr lang="fr-FR" sz="1200" u="sng">
                <a:solidFill>
                  <a:schemeClr val="hlink"/>
                </a:solidFill>
                <a:hlinkClick r:id="rId12"/>
              </a:rPr>
              <a:t>https://github.com/Epiconcept-Paris/sndskit</a:t>
            </a:r>
            <a:r>
              <a:rPr lang="fr-FR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9547273" y="2526275"/>
            <a:ext cx="24303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rgbClr val="281E78"/>
                </a:solidFill>
              </a:rPr>
              <a:t>Et d’autres initiatives individuelles</a:t>
            </a:r>
            <a:endParaRPr>
              <a:solidFill>
                <a:srgbClr val="281E7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>
                <a:solidFill>
                  <a:srgbClr val="FF6168"/>
                </a:solidFill>
              </a:rPr>
              <a:t>Non maintenues, utilisées par de rares personnes, peu d’efforts logiciels (ex. notebooks)</a:t>
            </a:r>
            <a:endParaRPr i="1">
              <a:solidFill>
                <a:srgbClr val="FF6168"/>
              </a:solidFill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3607243" y="2588957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rgbClr val="003C7C"/>
                </a:solidFill>
              </a:rPr>
              <a:t>Outils_SNDS</a:t>
            </a:r>
            <a:r>
              <a:rPr lang="fr-FR">
                <a:solidFill>
                  <a:srgbClr val="003C7C"/>
                </a:solidFill>
              </a:rPr>
              <a:t> (Drugs-Safe-R) : développé activement, beaucoup de choses, cohérence correcte entre scripts</a:t>
            </a:r>
            <a:br>
              <a:rPr lang="fr-FR">
                <a:solidFill>
                  <a:schemeClr val="dk1"/>
                </a:solidFill>
              </a:rPr>
            </a:br>
            <a:r>
              <a:rPr i="1" lang="fr-FR">
                <a:solidFill>
                  <a:srgbClr val="FF6168"/>
                </a:solidFill>
              </a:rPr>
              <a:t>Tout en sas, limitant configuration et bonnes pratiques logicielles</a:t>
            </a:r>
            <a:endParaRPr i="1">
              <a:solidFill>
                <a:srgbClr val="FF6168"/>
              </a:solidFill>
            </a:endParaRPr>
          </a:p>
        </p:txBody>
      </p:sp>
      <p:sp>
        <p:nvSpPr>
          <p:cNvPr id="302" name="Google Shape;302;p25"/>
          <p:cNvSpPr txBox="1"/>
          <p:nvPr/>
        </p:nvSpPr>
        <p:spPr>
          <a:xfrm>
            <a:off x="3759188" y="6249975"/>
            <a:ext cx="2311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1100" u="sng">
                <a:solidFill>
                  <a:schemeClr val="hlink"/>
                </a:solidFill>
                <a:hlinkClick r:id="rId13"/>
              </a:rPr>
              <a:t>https://gitlab.com/Drugs-Safe-R/Outils_SNDS</a:t>
            </a:r>
            <a:endParaRPr/>
          </a:p>
        </p:txBody>
      </p:sp>
      <p:cxnSp>
        <p:nvCxnSpPr>
          <p:cNvPr id="303" name="Google Shape;303;p25"/>
          <p:cNvCxnSpPr/>
          <p:nvPr/>
        </p:nvCxnSpPr>
        <p:spPr>
          <a:xfrm rot="10800000">
            <a:off x="6534525" y="2588950"/>
            <a:ext cx="16200" cy="416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4" name="Google Shape;304;p25"/>
          <p:cNvPicPr preferRelativeResize="0"/>
          <p:nvPr/>
        </p:nvPicPr>
        <p:blipFill rotWithShape="1">
          <a:blip r:embed="rId14">
            <a:alphaModFix/>
          </a:blip>
          <a:srcRect b="0" l="2164" r="49639" t="0"/>
          <a:stretch/>
        </p:blipFill>
        <p:spPr>
          <a:xfrm>
            <a:off x="4360234" y="4066453"/>
            <a:ext cx="1494025" cy="199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5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/>
        </p:nvSpPr>
        <p:spPr>
          <a:xfrm>
            <a:off x="613026" y="224300"/>
            <a:ext cx="102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Ressources de code existantes pour le SNDS</a:t>
            </a:r>
            <a:endParaRPr b="1" sz="2400">
              <a:solidFill>
                <a:srgbClr val="FF6168"/>
              </a:solidFill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888000" y="1172125"/>
            <a:ext cx="10211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400">
                <a:solidFill>
                  <a:srgbClr val="281E78"/>
                </a:solidFill>
              </a:rPr>
              <a:t>A ce jour, pas de base de code pour de nouveaux acteurs SNDS sur la plateforme historique de la CNAM </a:t>
            </a:r>
            <a:endParaRPr i="1" sz="2400">
              <a:solidFill>
                <a:srgbClr val="281E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2400">
                <a:solidFill>
                  <a:srgbClr val="281E78"/>
                </a:solidFill>
              </a:rPr>
              <a:t>le + proche : outils_SNDS (Drugs-Safe-R)</a:t>
            </a:r>
            <a:endParaRPr sz="2400">
              <a:solidFill>
                <a:srgbClr val="281E78"/>
              </a:solidFill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547625" y="2581675"/>
            <a:ext cx="34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131425" y="2664300"/>
            <a:ext cx="4380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1155CC"/>
                </a:solidFill>
              </a:rPr>
              <a:t>Conséquences</a:t>
            </a:r>
            <a:endParaRPr b="1" sz="2400"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1155CC"/>
                </a:solidFill>
              </a:rPr>
              <a:t>pour les chercheurs individuels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14" name="Google Shape;314;p26"/>
          <p:cNvSpPr txBox="1"/>
          <p:nvPr/>
        </p:nvSpPr>
        <p:spPr>
          <a:xfrm>
            <a:off x="4424723" y="2664300"/>
            <a:ext cx="76797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81E78"/>
              </a:buClr>
              <a:buSzPts val="2100"/>
              <a:buChar char="●"/>
            </a:pPr>
            <a:r>
              <a:rPr lang="fr-FR" sz="2100">
                <a:solidFill>
                  <a:srgbClr val="281E78"/>
                </a:solidFill>
              </a:rPr>
              <a:t>Réinvention de la roue pour des fonctionnalités basiques</a:t>
            </a:r>
            <a:endParaRPr sz="2100">
              <a:solidFill>
                <a:srgbClr val="281E78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100"/>
              <a:buChar char="●"/>
            </a:pPr>
            <a:r>
              <a:rPr lang="fr-FR" sz="2100">
                <a:solidFill>
                  <a:srgbClr val="281E78"/>
                </a:solidFill>
              </a:rPr>
              <a:t>Ré-implementations typiquement</a:t>
            </a:r>
            <a:endParaRPr sz="2100">
              <a:solidFill>
                <a:srgbClr val="281E78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100"/>
              <a:buChar char="○"/>
            </a:pPr>
            <a:r>
              <a:rPr lang="fr-FR" sz="2100">
                <a:solidFill>
                  <a:srgbClr val="281E78"/>
                </a:solidFill>
              </a:rPr>
              <a:t>compromis entre qualité et temps </a:t>
            </a:r>
            <a:endParaRPr sz="2100">
              <a:solidFill>
                <a:srgbClr val="281E78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100"/>
              <a:buChar char="○"/>
            </a:pPr>
            <a:r>
              <a:rPr lang="fr-FR" sz="2100">
                <a:solidFill>
                  <a:srgbClr val="281E78"/>
                </a:solidFill>
              </a:rPr>
              <a:t>sous optimisées</a:t>
            </a:r>
            <a:endParaRPr sz="2100">
              <a:solidFill>
                <a:srgbClr val="281E78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100"/>
              <a:buChar char="○"/>
            </a:pPr>
            <a:r>
              <a:rPr lang="fr-FR" sz="2100">
                <a:solidFill>
                  <a:srgbClr val="281E78"/>
                </a:solidFill>
              </a:rPr>
              <a:t>Sujettes</a:t>
            </a:r>
            <a:r>
              <a:rPr lang="fr-FR" sz="2100">
                <a:solidFill>
                  <a:srgbClr val="281E78"/>
                </a:solidFill>
              </a:rPr>
              <a:t> à erreur et </a:t>
            </a:r>
            <a:r>
              <a:rPr lang="fr-FR" sz="2100">
                <a:solidFill>
                  <a:srgbClr val="281E78"/>
                </a:solidFill>
              </a:rPr>
              <a:t>approximation</a:t>
            </a:r>
            <a:endParaRPr b="1" sz="2100">
              <a:solidFill>
                <a:srgbClr val="281E78"/>
              </a:solidFill>
            </a:endParaRPr>
          </a:p>
        </p:txBody>
      </p:sp>
      <p:pic>
        <p:nvPicPr>
          <p:cNvPr id="315" name="Google Shape;3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725" y="3742575"/>
            <a:ext cx="1287425" cy="128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6"/>
          <p:cNvSpPr txBox="1"/>
          <p:nvPr/>
        </p:nvSpPr>
        <p:spPr>
          <a:xfrm>
            <a:off x="1371600" y="5661604"/>
            <a:ext cx="96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-FR" sz="2400">
                <a:solidFill>
                  <a:srgbClr val="281E78"/>
                </a:solidFill>
              </a:rPr>
              <a:t>Temps passé à créer son dataset </a:t>
            </a:r>
            <a:r>
              <a:rPr b="1" lang="fr-FR" sz="2400">
                <a:solidFill>
                  <a:srgbClr val="281E78"/>
                </a:solidFill>
              </a:rPr>
              <a:t>&gt;&gt; temps restant pour l’analyse</a:t>
            </a:r>
            <a:endParaRPr b="1" sz="2400">
              <a:solidFill>
                <a:srgbClr val="281E78"/>
              </a:solidFill>
            </a:endParaRPr>
          </a:p>
        </p:txBody>
      </p:sp>
      <p:sp>
        <p:nvSpPr>
          <p:cNvPr id="317" name="Google Shape;317;p26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 txBox="1"/>
          <p:nvPr/>
        </p:nvSpPr>
        <p:spPr>
          <a:xfrm>
            <a:off x="131425" y="2453188"/>
            <a:ext cx="4380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1155CC"/>
                </a:solidFill>
              </a:rPr>
              <a:t>Conséquences</a:t>
            </a:r>
            <a:endParaRPr b="1" sz="2400">
              <a:solidFill>
                <a:srgbClr val="1155CC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1155CC"/>
                </a:solidFill>
              </a:rPr>
              <a:t>pour les équipes de recherche, la statistique publique et les agences de santé</a:t>
            </a:r>
            <a:endParaRPr b="1" sz="2400">
              <a:solidFill>
                <a:srgbClr val="1155CC"/>
              </a:solidFill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613026" y="224300"/>
            <a:ext cx="102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Ressources de code existantes pour le SNDS</a:t>
            </a:r>
            <a:endParaRPr b="1" sz="2400">
              <a:solidFill>
                <a:srgbClr val="FF6168"/>
              </a:solidFill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888000" y="1172125"/>
            <a:ext cx="10211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rgbClr val="281E78"/>
                </a:solidFill>
              </a:rPr>
              <a:t>A ce jour, pas de base de code pour de nouveaux acteurs SNDS sur la plateforme historique de la CNAM </a:t>
            </a:r>
            <a:endParaRPr i="1" sz="2400">
              <a:solidFill>
                <a:srgbClr val="281E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2400">
                <a:solidFill>
                  <a:srgbClr val="281E78"/>
                </a:solidFill>
              </a:rPr>
              <a:t>le + proche : outils_SNDS (Drugs-Safe-R)</a:t>
            </a:r>
            <a:endParaRPr i="1"/>
          </a:p>
        </p:txBody>
      </p:sp>
      <p:sp>
        <p:nvSpPr>
          <p:cNvPr id="325" name="Google Shape;325;p27"/>
          <p:cNvSpPr txBox="1"/>
          <p:nvPr/>
        </p:nvSpPr>
        <p:spPr>
          <a:xfrm>
            <a:off x="547625" y="2581675"/>
            <a:ext cx="34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4308601" y="2853950"/>
            <a:ext cx="7795800" cy="29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81E78"/>
              </a:buClr>
              <a:buSzPts val="2100"/>
              <a:buChar char="●"/>
            </a:pPr>
            <a:r>
              <a:rPr lang="fr-FR" sz="2100">
                <a:solidFill>
                  <a:srgbClr val="281E78"/>
                </a:solidFill>
              </a:rPr>
              <a:t>B</a:t>
            </a:r>
            <a:r>
              <a:rPr lang="fr-FR" sz="2100">
                <a:solidFill>
                  <a:srgbClr val="281E78"/>
                </a:solidFill>
              </a:rPr>
              <a:t>arrières à l’entrée ⇒ moins d’acteurs utilisant ces données</a:t>
            </a:r>
            <a:endParaRPr sz="2100">
              <a:solidFill>
                <a:srgbClr val="281E78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81E78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81E78"/>
              </a:buClr>
              <a:buSzPts val="2100"/>
              <a:buChar char="●"/>
            </a:pPr>
            <a:r>
              <a:rPr lang="fr-FR" sz="2100">
                <a:solidFill>
                  <a:srgbClr val="281E78"/>
                </a:solidFill>
              </a:rPr>
              <a:t>Efforts dupliqués ⇒  </a:t>
            </a:r>
            <a:r>
              <a:rPr lang="fr-FR" sz="2100">
                <a:solidFill>
                  <a:srgbClr val="281E78"/>
                </a:solidFill>
              </a:rPr>
              <a:t>gaspillage</a:t>
            </a:r>
            <a:r>
              <a:rPr lang="fr-FR" sz="2100">
                <a:solidFill>
                  <a:srgbClr val="281E78"/>
                </a:solidFill>
              </a:rPr>
              <a:t> d’argent et de temps</a:t>
            </a:r>
            <a:endParaRPr sz="2100">
              <a:solidFill>
                <a:srgbClr val="281E78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81E78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81E78"/>
              </a:buClr>
              <a:buSzPts val="2000"/>
              <a:buChar char="●"/>
            </a:pPr>
            <a:r>
              <a:rPr lang="fr-FR" sz="2100">
                <a:solidFill>
                  <a:srgbClr val="281E78"/>
                </a:solidFill>
              </a:rPr>
              <a:t>Manque d’uniformité et de reproductibilité pour les datasets SNDS datasets  ⇒ recherche de moins bonne qualité</a:t>
            </a:r>
            <a:endParaRPr sz="2100">
              <a:solidFill>
                <a:srgbClr val="281E78"/>
              </a:solidFill>
            </a:endParaRPr>
          </a:p>
        </p:txBody>
      </p:sp>
      <p:pic>
        <p:nvPicPr>
          <p:cNvPr id="327" name="Google Shape;3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436" y="4659725"/>
            <a:ext cx="866550" cy="86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886" y="5360313"/>
            <a:ext cx="866550" cy="86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986" y="5360313"/>
            <a:ext cx="866550" cy="86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7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/>
        </p:nvSpPr>
        <p:spPr>
          <a:xfrm>
            <a:off x="613022" y="224294"/>
            <a:ext cx="76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Le paquet </a:t>
            </a:r>
            <a:r>
              <a:rPr b="1" lang="fr-FR" sz="2400">
                <a:solidFill>
                  <a:srgbClr val="FF6168"/>
                </a:solidFill>
                <a:latin typeface="Arial"/>
                <a:ea typeface="Arial"/>
                <a:cs typeface="Arial"/>
                <a:sym typeface="Arial"/>
              </a:rPr>
              <a:t>sndsTools</a:t>
            </a:r>
            <a:r>
              <a:rPr b="1" lang="fr-FR" sz="2400">
                <a:solidFill>
                  <a:srgbClr val="FF6168"/>
                </a:solidFill>
              </a:rPr>
              <a:t> :</a:t>
            </a:r>
            <a:r>
              <a:rPr b="1" lang="fr-FR" sz="2400">
                <a:solidFill>
                  <a:srgbClr val="FF6168"/>
                </a:solidFill>
                <a:latin typeface="Arial"/>
                <a:ea typeface="Arial"/>
                <a:cs typeface="Arial"/>
                <a:sym typeface="Arial"/>
              </a:rPr>
              <a:t> Objectifs  </a:t>
            </a:r>
            <a:endParaRPr b="1" sz="2400">
              <a:solidFill>
                <a:srgbClr val="FF61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8"/>
          <p:cNvSpPr txBox="1"/>
          <p:nvPr/>
        </p:nvSpPr>
        <p:spPr>
          <a:xfrm>
            <a:off x="609600" y="1013993"/>
            <a:ext cx="7462800" cy="5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200">
                <a:solidFill>
                  <a:srgbClr val="281E78"/>
                </a:solidFill>
              </a:rPr>
              <a:t>🔁</a:t>
            </a:r>
            <a:r>
              <a:rPr lang="fr-FR" sz="2200">
                <a:solidFill>
                  <a:srgbClr val="281E78"/>
                </a:solidFill>
              </a:rPr>
              <a:t> Améliorer la reproductibilité entre études</a:t>
            </a:r>
            <a:endParaRPr sz="2200">
              <a:solidFill>
                <a:srgbClr val="281E78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200">
                <a:solidFill>
                  <a:srgbClr val="281E78"/>
                </a:solidFill>
              </a:rPr>
              <a:t>📄 Amélioration de la documentation existante</a:t>
            </a:r>
            <a:endParaRPr sz="2200">
              <a:solidFill>
                <a:srgbClr val="281E78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200">
                <a:solidFill>
                  <a:srgbClr val="281E78"/>
                </a:solidFill>
              </a:rPr>
              <a:t>🤗 Faciliter l’arrivée de nouveaux arrivants</a:t>
            </a:r>
            <a:endParaRPr sz="2200">
              <a:solidFill>
                <a:srgbClr val="281E78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200">
                <a:solidFill>
                  <a:srgbClr val="281E78"/>
                </a:solidFill>
              </a:rPr>
              <a:t>🚀 Accélérer l’extraction de données pour tous</a:t>
            </a:r>
            <a:endParaRPr sz="2200">
              <a:solidFill>
                <a:srgbClr val="281E78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200">
                <a:solidFill>
                  <a:srgbClr val="281E78"/>
                </a:solidFill>
              </a:rPr>
              <a:t>🤝 Encourager le partage de code et la transparence</a:t>
            </a:r>
            <a:endParaRPr sz="2200">
              <a:solidFill>
                <a:srgbClr val="281E78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200">
                <a:solidFill>
                  <a:srgbClr val="281E78"/>
                </a:solidFill>
              </a:rPr>
              <a:t>🌐 Apports communautaires</a:t>
            </a:r>
            <a:endParaRPr sz="2200">
              <a:solidFill>
                <a:srgbClr val="281E78"/>
              </a:solidFill>
            </a:endParaRPr>
          </a:p>
        </p:txBody>
      </p:sp>
      <p:sp>
        <p:nvSpPr>
          <p:cNvPr id="337" name="Google Shape;337;p28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338" name="Google Shape;338;p28"/>
          <p:cNvPicPr preferRelativeResize="0"/>
          <p:nvPr/>
        </p:nvPicPr>
        <p:blipFill rotWithShape="1">
          <a:blip r:embed="rId3">
            <a:alphaModFix/>
          </a:blip>
          <a:srcRect b="9266" l="0" r="0" t="11807"/>
          <a:stretch/>
        </p:blipFill>
        <p:spPr>
          <a:xfrm>
            <a:off x="8737600" y="905675"/>
            <a:ext cx="2950124" cy="47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/>
          <p:nvPr/>
        </p:nvSpPr>
        <p:spPr>
          <a:xfrm>
            <a:off x="613022" y="224294"/>
            <a:ext cx="76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Le paquet </a:t>
            </a:r>
            <a:r>
              <a:rPr b="1" lang="fr-FR" sz="2400">
                <a:solidFill>
                  <a:srgbClr val="FF6168"/>
                </a:solidFill>
                <a:latin typeface="Arial"/>
                <a:ea typeface="Arial"/>
                <a:cs typeface="Arial"/>
                <a:sym typeface="Arial"/>
              </a:rPr>
              <a:t>sndsTools : Historique </a:t>
            </a:r>
            <a:endParaRPr b="1" sz="2400">
              <a:solidFill>
                <a:srgbClr val="FF61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9"/>
          <p:cNvSpPr txBox="1"/>
          <p:nvPr/>
        </p:nvSpPr>
        <p:spPr>
          <a:xfrm>
            <a:off x="609600" y="1032600"/>
            <a:ext cx="10912200" cy="5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rgbClr val="003C7C"/>
              </a:buClr>
              <a:buSzPts val="2200"/>
              <a:buChar char="●"/>
            </a:pPr>
            <a:r>
              <a:rPr lang="fr-FR" sz="2200">
                <a:solidFill>
                  <a:srgbClr val="003C7C"/>
                </a:solidFill>
              </a:rPr>
              <a:t>2024 : </a:t>
            </a:r>
            <a:endParaRPr sz="2200">
              <a:solidFill>
                <a:srgbClr val="003C7C"/>
              </a:solidFill>
            </a:endParaRPr>
          </a:p>
          <a:p>
            <a:pPr indent="-3683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○"/>
            </a:pPr>
            <a:r>
              <a:rPr lang="fr-FR" sz="2200">
                <a:solidFill>
                  <a:srgbClr val="003C7C"/>
                </a:solidFill>
              </a:rPr>
              <a:t>Organisation d'un atelier</a:t>
            </a:r>
            <a:r>
              <a:rPr lang="fr-FR" sz="2200" u="sng">
                <a:solidFill>
                  <a:schemeClr val="hlink"/>
                </a:solidFill>
                <a:hlinkClick r:id="rId3"/>
              </a:rPr>
              <a:t> R-SNDS au congrès d'épidémiologie Emois</a:t>
            </a:r>
            <a:r>
              <a:rPr lang="fr-FR" sz="2200">
                <a:solidFill>
                  <a:schemeClr val="dk1"/>
                </a:solidFill>
              </a:rPr>
              <a:t> 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C7C"/>
              </a:buClr>
              <a:buSzPts val="2200"/>
              <a:buChar char="○"/>
            </a:pPr>
            <a:r>
              <a:rPr lang="fr-FR" sz="2200">
                <a:solidFill>
                  <a:srgbClr val="003C7C"/>
                </a:solidFill>
              </a:rPr>
              <a:t>Formaliser de besoins : Collaboration, f</a:t>
            </a:r>
            <a:r>
              <a:rPr lang="fr-FR" sz="2200">
                <a:solidFill>
                  <a:srgbClr val="003C7C"/>
                </a:solidFill>
              </a:rPr>
              <a:t>ormation / prise en main R, codes d’extractions basiques</a:t>
            </a:r>
            <a:endParaRPr sz="2200">
              <a:solidFill>
                <a:srgbClr val="003C7C"/>
              </a:solidFill>
            </a:endParaRPr>
          </a:p>
          <a:p>
            <a:pPr indent="-3683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C7C"/>
              </a:buClr>
              <a:buSzPts val="2200"/>
              <a:buChar char="○"/>
            </a:pPr>
            <a:r>
              <a:rPr lang="fr-FR" sz="2200">
                <a:solidFill>
                  <a:srgbClr val="003C7C"/>
                </a:solidFill>
              </a:rPr>
              <a:t>Echange de code entre HAS, ICM, AP-HM : début de sndsTools</a:t>
            </a:r>
            <a:endParaRPr sz="2200">
              <a:solidFill>
                <a:srgbClr val="003C7C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C7C"/>
              </a:buClr>
              <a:buSzPts val="2200"/>
              <a:buChar char="●"/>
            </a:pPr>
            <a:r>
              <a:rPr lang="fr-FR" sz="2200">
                <a:solidFill>
                  <a:srgbClr val="003C7C"/>
                </a:solidFill>
              </a:rPr>
              <a:t>2025-2026 : </a:t>
            </a:r>
            <a:endParaRPr sz="2200">
              <a:solidFill>
                <a:srgbClr val="003C7C"/>
              </a:solidFill>
            </a:endParaRPr>
          </a:p>
          <a:p>
            <a:pPr indent="-3683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C7C"/>
              </a:buClr>
              <a:buSzPts val="2200"/>
              <a:buChar char="○"/>
            </a:pPr>
            <a:r>
              <a:rPr lang="fr-FR" sz="2200">
                <a:solidFill>
                  <a:srgbClr val="003C7C"/>
                </a:solidFill>
              </a:rPr>
              <a:t>Utilisation et développement par Insee / ICM </a:t>
            </a:r>
            <a:endParaRPr sz="2200">
              <a:solidFill>
                <a:srgbClr val="003C7C"/>
              </a:solidFill>
            </a:endParaRPr>
          </a:p>
          <a:p>
            <a:pPr indent="-3683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C7C"/>
              </a:buClr>
              <a:buSzPts val="2200"/>
              <a:buChar char="○"/>
            </a:pPr>
            <a:r>
              <a:rPr lang="fr-FR" sz="2200">
                <a:solidFill>
                  <a:srgbClr val="003C7C"/>
                </a:solidFill>
              </a:rPr>
              <a:t>Intérêts CNAM, Inria, Epiphare, SpF : recherche de financement en cours</a:t>
            </a:r>
            <a:endParaRPr sz="2200">
              <a:solidFill>
                <a:srgbClr val="003C7C"/>
              </a:solidFill>
            </a:endParaRPr>
          </a:p>
        </p:txBody>
      </p:sp>
      <p:sp>
        <p:nvSpPr>
          <p:cNvPr id="345" name="Google Shape;345;p29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/>
          <p:nvPr/>
        </p:nvSpPr>
        <p:spPr>
          <a:xfrm>
            <a:off x="613026" y="224300"/>
            <a:ext cx="108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⚙️Fonctionnalités : Qu’y a-t-il dans sndsTools à ce jour  ?</a:t>
            </a:r>
            <a:endParaRPr sz="800">
              <a:solidFill>
                <a:srgbClr val="FF6168"/>
              </a:solidFill>
            </a:endParaRPr>
          </a:p>
        </p:txBody>
      </p:sp>
      <p:sp>
        <p:nvSpPr>
          <p:cNvPr id="351" name="Google Shape;351;p30"/>
          <p:cNvSpPr txBox="1"/>
          <p:nvPr/>
        </p:nvSpPr>
        <p:spPr>
          <a:xfrm>
            <a:off x="609600" y="1027750"/>
            <a:ext cx="6824100" cy="52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281E78"/>
                </a:solidFill>
              </a:rPr>
              <a:t>Références</a:t>
            </a:r>
            <a:endParaRPr b="1" sz="2400">
              <a:solidFill>
                <a:srgbClr val="281E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u="sng">
                <a:solidFill>
                  <a:schemeClr val="hlink"/>
                </a:solidFill>
                <a:hlinkClick r:id="rId3"/>
              </a:rPr>
              <a:t>https://sndstoolers.github.io/sndsTools/reference/index.html</a:t>
            </a:r>
            <a:endParaRPr sz="2200">
              <a:solidFill>
                <a:srgbClr val="281E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81E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81E78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b="1" lang="fr-FR" sz="2400">
                <a:solidFill>
                  <a:srgbClr val="281E78"/>
                </a:solidFill>
              </a:rPr>
              <a:t>Des fonctions d’extraction </a:t>
            </a:r>
            <a:r>
              <a:rPr lang="fr-FR" sz="2400">
                <a:solidFill>
                  <a:srgbClr val="281E78"/>
                </a:solidFill>
              </a:rPr>
              <a:t>basiques</a:t>
            </a:r>
            <a:br>
              <a:rPr b="1" lang="fr-FR" sz="2400">
                <a:solidFill>
                  <a:srgbClr val="281E78"/>
                </a:solidFill>
              </a:rPr>
            </a:br>
            <a:endParaRPr b="1" sz="2400">
              <a:solidFill>
                <a:srgbClr val="281E78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lang="fr-FR" sz="2400">
                <a:solidFill>
                  <a:srgbClr val="281E78"/>
                </a:solidFill>
              </a:rPr>
              <a:t>Un utilitaire pour les </a:t>
            </a:r>
            <a:r>
              <a:rPr b="1" lang="fr-FR" sz="2400">
                <a:solidFill>
                  <a:srgbClr val="281E78"/>
                </a:solidFill>
              </a:rPr>
              <a:t>identifiants patients</a:t>
            </a:r>
            <a:br>
              <a:rPr b="1" lang="fr-FR" sz="2400">
                <a:solidFill>
                  <a:srgbClr val="281E78"/>
                </a:solidFill>
              </a:rPr>
            </a:br>
            <a:endParaRPr b="1" sz="2400">
              <a:solidFill>
                <a:srgbClr val="281E78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lang="fr-FR" sz="2400">
                <a:solidFill>
                  <a:srgbClr val="281E78"/>
                </a:solidFill>
              </a:rPr>
              <a:t>Toutes les fonctions sont </a:t>
            </a:r>
            <a:r>
              <a:rPr b="1" lang="fr-FR" sz="2400">
                <a:solidFill>
                  <a:srgbClr val="281E78"/>
                </a:solidFill>
              </a:rPr>
              <a:t>testées </a:t>
            </a:r>
            <a:r>
              <a:rPr lang="fr-FR" sz="2400">
                <a:solidFill>
                  <a:srgbClr val="281E78"/>
                </a:solidFill>
              </a:rPr>
              <a:t>sur données fictives et SNDS</a:t>
            </a:r>
            <a:endParaRPr sz="2400">
              <a:solidFill>
                <a:srgbClr val="281E78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fr-FR" sz="2200">
                <a:solidFill>
                  <a:srgbClr val="281E78"/>
                </a:solidFill>
              </a:rPr>
            </a:br>
            <a:endParaRPr sz="2200">
              <a:solidFill>
                <a:srgbClr val="281E78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52" name="Google Shape;35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7600" y="651079"/>
            <a:ext cx="4829950" cy="42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2025" y="5644525"/>
            <a:ext cx="37814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81300" y="4907550"/>
            <a:ext cx="3872150" cy="63344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/>
        </p:nvSpPr>
        <p:spPr>
          <a:xfrm>
            <a:off x="613025" y="224300"/>
            <a:ext cx="11579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📚 Axe d</a:t>
            </a:r>
            <a:r>
              <a:rPr b="1" lang="fr-FR" sz="2400">
                <a:solidFill>
                  <a:srgbClr val="FF6168"/>
                </a:solidFill>
              </a:rPr>
              <a:t>ocumentaire </a:t>
            </a:r>
            <a:br>
              <a:rPr b="1" lang="fr-FR" sz="2400">
                <a:solidFill>
                  <a:srgbClr val="FF6168"/>
                </a:solidFill>
              </a:rPr>
            </a:br>
            <a:r>
              <a:rPr lang="fr-FR" sz="1800" u="sng">
                <a:solidFill>
                  <a:schemeClr val="hlink"/>
                </a:solidFill>
                <a:hlinkClick r:id="rId3"/>
              </a:rPr>
              <a:t>https://sndstoolers.github.io/sndsTools/reference/extract_consultations_erprsf.html</a:t>
            </a:r>
            <a:r>
              <a:rPr lang="fr-FR" sz="1800">
                <a:solidFill>
                  <a:srgbClr val="281E78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6168"/>
              </a:solidFill>
            </a:endParaRPr>
          </a:p>
        </p:txBody>
      </p:sp>
      <p:sp>
        <p:nvSpPr>
          <p:cNvPr id="361" name="Google Shape;361;p31"/>
          <p:cNvSpPr txBox="1"/>
          <p:nvPr/>
        </p:nvSpPr>
        <p:spPr>
          <a:xfrm>
            <a:off x="273725" y="1055970"/>
            <a:ext cx="4740600" cy="52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b="1" lang="fr-FR" sz="2200">
                <a:solidFill>
                  <a:srgbClr val="281E78"/>
                </a:solidFill>
              </a:rPr>
              <a:t>API constante </a:t>
            </a:r>
            <a:r>
              <a:rPr lang="fr-FR" sz="2200">
                <a:solidFill>
                  <a:srgbClr val="281E78"/>
                </a:solidFill>
              </a:rPr>
              <a:t>d’une fonction à l’autre</a:t>
            </a:r>
            <a:endParaRPr sz="2200">
              <a:solidFill>
                <a:srgbClr val="281E7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81E78"/>
              </a:solidFill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b="1" lang="fr-FR" sz="2200">
                <a:solidFill>
                  <a:srgbClr val="281E78"/>
                </a:solidFill>
              </a:rPr>
              <a:t>Documentation </a:t>
            </a:r>
            <a:r>
              <a:rPr lang="fr-FR" sz="2200">
                <a:solidFill>
                  <a:srgbClr val="281E78"/>
                </a:solidFill>
              </a:rPr>
              <a:t>des :</a:t>
            </a:r>
            <a:endParaRPr sz="2200">
              <a:solidFill>
                <a:srgbClr val="281E78"/>
              </a:solidFill>
            </a:endParaRPr>
          </a:p>
          <a:p>
            <a:pPr indent="-3683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○"/>
            </a:pPr>
            <a:r>
              <a:rPr lang="fr-FR" sz="2200">
                <a:solidFill>
                  <a:srgbClr val="281E78"/>
                </a:solidFill>
              </a:rPr>
              <a:t>Paramètres</a:t>
            </a:r>
            <a:endParaRPr sz="2200">
              <a:solidFill>
                <a:srgbClr val="281E78"/>
              </a:solidFill>
            </a:endParaRPr>
          </a:p>
          <a:p>
            <a:pPr indent="-3683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○"/>
            </a:pPr>
            <a:r>
              <a:rPr lang="fr-FR" sz="2200">
                <a:solidFill>
                  <a:srgbClr val="281E78"/>
                </a:solidFill>
              </a:rPr>
              <a:t>Sorties</a:t>
            </a:r>
            <a:endParaRPr sz="2200">
              <a:solidFill>
                <a:srgbClr val="281E78"/>
              </a:solidFill>
            </a:endParaRPr>
          </a:p>
          <a:p>
            <a:pPr indent="-3683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○"/>
            </a:pPr>
            <a:r>
              <a:rPr lang="fr-FR" sz="2200">
                <a:solidFill>
                  <a:srgbClr val="281E78"/>
                </a:solidFill>
              </a:rPr>
              <a:t>Filtres et choix SNDS </a:t>
            </a:r>
            <a:endParaRPr sz="2200">
              <a:solidFill>
                <a:srgbClr val="281E78"/>
              </a:solidFill>
            </a:endParaRPr>
          </a:p>
          <a:p>
            <a:pPr indent="-3683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○"/>
            </a:pPr>
            <a:r>
              <a:rPr lang="fr-FR" sz="2200">
                <a:solidFill>
                  <a:srgbClr val="281E78"/>
                </a:solidFill>
              </a:rPr>
              <a:t>Liens vers les références si existantes</a:t>
            </a:r>
            <a:br>
              <a:rPr lang="fr-FR" sz="2200">
                <a:solidFill>
                  <a:srgbClr val="281E78"/>
                </a:solidFill>
              </a:rPr>
            </a:br>
            <a:endParaRPr sz="2200">
              <a:solidFill>
                <a:srgbClr val="281E78"/>
              </a:solidFill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200"/>
              <a:buChar char="●"/>
            </a:pPr>
            <a:r>
              <a:rPr lang="fr-FR" sz="2200" u="sng">
                <a:solidFill>
                  <a:schemeClr val="hlink"/>
                </a:solidFill>
                <a:hlinkClick r:id="rId4"/>
              </a:rPr>
              <a:t>roxygen2</a:t>
            </a:r>
            <a:r>
              <a:rPr lang="fr-FR" sz="2200">
                <a:solidFill>
                  <a:srgbClr val="281E78"/>
                </a:solidFill>
              </a:rPr>
              <a:t> permet la gestion dans</a:t>
            </a:r>
            <a:r>
              <a:rPr b="1" lang="fr-FR" sz="2200">
                <a:solidFill>
                  <a:srgbClr val="281E78"/>
                </a:solidFill>
              </a:rPr>
              <a:t> un seul fichier de la documentation et du code</a:t>
            </a:r>
            <a:endParaRPr sz="2200"/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4325" y="1396749"/>
            <a:ext cx="7069150" cy="41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/>
          <p:nvPr/>
        </p:nvSpPr>
        <p:spPr>
          <a:xfrm>
            <a:off x="539300" y="1583699"/>
            <a:ext cx="6795900" cy="3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fr-FR" sz="2100">
                <a:solidFill>
                  <a:srgbClr val="281E78"/>
                </a:solidFill>
              </a:rPr>
              <a:t>C</a:t>
            </a:r>
            <a:r>
              <a:rPr b="1" lang="fr-FR" sz="2100">
                <a:solidFill>
                  <a:srgbClr val="281E78"/>
                </a:solidFill>
              </a:rPr>
              <a:t>opier/coller le fichier</a:t>
            </a:r>
            <a:r>
              <a:rPr lang="fr-FR" sz="2100">
                <a:solidFill>
                  <a:srgbClr val="281E78"/>
                </a:solidFill>
              </a:rPr>
              <a:t> </a:t>
            </a:r>
            <a:r>
              <a:rPr lang="fr-FR" sz="1800">
                <a:solidFill>
                  <a:srgbClr val="188038"/>
                </a:solidFill>
              </a:rPr>
              <a:t>sndsTools.R</a:t>
            </a:r>
            <a:br>
              <a:rPr lang="fr-FR" sz="1800">
                <a:solidFill>
                  <a:srgbClr val="188038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fr-FR" sz="1800">
                <a:solidFill>
                  <a:srgbClr val="003C7C"/>
                </a:solidFill>
              </a:rPr>
              <a:t>Sur votre ordinateur (local)</a:t>
            </a:r>
            <a:r>
              <a:rPr lang="fr-FR" sz="1800">
                <a:solidFill>
                  <a:srgbClr val="003C7C"/>
                </a:solidFill>
              </a:rPr>
              <a:t> : Télécharger</a:t>
            </a:r>
            <a:r>
              <a:rPr lang="fr-FR" sz="1800">
                <a:solidFill>
                  <a:srgbClr val="003C7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fr-FR" sz="1800" u="sng">
                <a:solidFill>
                  <a:schemeClr val="hlink"/>
                </a:solidFill>
                <a:hlinkClick r:id="rId4"/>
              </a:rPr>
              <a:t>le fichier </a:t>
            </a:r>
            <a:r>
              <a:rPr lang="fr-FR" sz="1800" u="sng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sndsTool.R contenant</a:t>
            </a:r>
            <a:r>
              <a:rPr lang="fr-FR" sz="1800" u="sng">
                <a:solidFill>
                  <a:schemeClr val="hlink"/>
                </a:solidFill>
                <a:hlinkClick r:id="rId6"/>
              </a:rPr>
              <a:t> toutes les fonctions du paquet disponible sur github</a:t>
            </a:r>
            <a:r>
              <a:rPr lang="fr-FR" sz="1800">
                <a:solidFill>
                  <a:schemeClr val="dk1"/>
                </a:solidFill>
              </a:rPr>
              <a:t> ; </a:t>
            </a:r>
            <a:r>
              <a:rPr lang="fr-FR" sz="1800">
                <a:solidFill>
                  <a:srgbClr val="003C7C"/>
                </a:solidFill>
              </a:rPr>
              <a:t>l’ouvrir et copier son contenu (ctrl+c)</a:t>
            </a:r>
            <a:br>
              <a:rPr lang="fr-F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fr-FR" sz="1800">
                <a:solidFill>
                  <a:srgbClr val="003C7C"/>
                </a:solidFill>
              </a:rPr>
              <a:t>Sur le portail CNAM </a:t>
            </a:r>
            <a:r>
              <a:rPr lang="fr-FR" sz="1800">
                <a:solidFill>
                  <a:srgbClr val="003C7C"/>
                </a:solidFill>
              </a:rPr>
              <a:t>: coller le contenu de ce fichier dans un nouveau script R</a:t>
            </a:r>
            <a:r>
              <a:rPr lang="fr-FR" sz="1800">
                <a:solidFill>
                  <a:schemeClr val="dk1"/>
                </a:solidFill>
              </a:rPr>
              <a:t> </a:t>
            </a:r>
            <a:r>
              <a:rPr lang="fr-FR" sz="1800">
                <a:solidFill>
                  <a:srgbClr val="188038"/>
                </a:solidFill>
              </a:rPr>
              <a:t>sndsTools.R</a:t>
            </a:r>
            <a:r>
              <a:rPr lang="fr-FR" sz="1800">
                <a:solidFill>
                  <a:schemeClr val="dk1"/>
                </a:solidFill>
              </a:rPr>
              <a:t> </a:t>
            </a:r>
            <a:r>
              <a:rPr lang="fr-FR" sz="1800">
                <a:solidFill>
                  <a:srgbClr val="003C7C"/>
                </a:solidFill>
              </a:rPr>
              <a:t>(ctrl+v) puis dans votre fichier d‘étude charger les fonctions : </a:t>
            </a:r>
            <a:r>
              <a:rPr lang="fr-FR" sz="1800">
                <a:solidFill>
                  <a:srgbClr val="188038"/>
                </a:solidFill>
              </a:rPr>
              <a:t>source("sndsTools.R")</a:t>
            </a:r>
            <a:br>
              <a:rPr lang="fr-FR" sz="1800">
                <a:solidFill>
                  <a:srgbClr val="188038"/>
                </a:solidFill>
              </a:rPr>
            </a:br>
            <a:endParaRPr sz="1800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sz="2100">
                <a:solidFill>
                  <a:srgbClr val="003C7C"/>
                </a:solidFill>
              </a:rPr>
              <a:t>🚧 Bientôt : </a:t>
            </a:r>
            <a:r>
              <a:rPr b="1" lang="fr-FR" sz="2100">
                <a:solidFill>
                  <a:srgbClr val="003C7C"/>
                </a:solidFill>
              </a:rPr>
              <a:t>paquet installé par la CNAM</a:t>
            </a:r>
            <a:endParaRPr sz="2100">
              <a:solidFill>
                <a:srgbClr val="003C7C"/>
              </a:solidFill>
            </a:endParaRPr>
          </a:p>
        </p:txBody>
      </p:sp>
      <p:sp>
        <p:nvSpPr>
          <p:cNvPr id="369" name="Google Shape;369;p32"/>
          <p:cNvSpPr txBox="1"/>
          <p:nvPr/>
        </p:nvSpPr>
        <p:spPr>
          <a:xfrm>
            <a:off x="613025" y="224300"/>
            <a:ext cx="741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🐣 Prise en main : Utilisation sur le portail CNAM</a:t>
            </a:r>
            <a:br>
              <a:rPr b="1" lang="fr-FR" sz="2400">
                <a:solidFill>
                  <a:srgbClr val="FF6168"/>
                </a:solidFill>
              </a:rPr>
            </a:br>
            <a:r>
              <a:rPr b="1" lang="fr-FR" sz="1800" u="sng">
                <a:solidFill>
                  <a:schemeClr val="hlink"/>
                </a:solidFill>
                <a:hlinkClick r:id="rId7"/>
              </a:rPr>
              <a:t>https://sndstoolers.github.io/sndsTools/articles/sndsTools.html</a:t>
            </a:r>
            <a:r>
              <a:rPr b="1" lang="fr-FR" sz="1800">
                <a:solidFill>
                  <a:srgbClr val="FF6168"/>
                </a:solidFill>
              </a:rPr>
              <a:t>  </a:t>
            </a:r>
            <a:br>
              <a:rPr lang="fr-FR" sz="1700">
                <a:solidFill>
                  <a:srgbClr val="281E78"/>
                </a:solidFill>
              </a:rPr>
            </a:br>
            <a:endParaRPr b="1" sz="2400">
              <a:solidFill>
                <a:srgbClr val="FF6168"/>
              </a:solidFill>
            </a:endParaRPr>
          </a:p>
        </p:txBody>
      </p:sp>
      <p:pic>
        <p:nvPicPr>
          <p:cNvPr id="370" name="Google Shape;370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5200" y="957275"/>
            <a:ext cx="4850201" cy="5485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2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"/>
          <p:cNvSpPr txBox="1"/>
          <p:nvPr/>
        </p:nvSpPr>
        <p:spPr>
          <a:xfrm>
            <a:off x="613025" y="193400"/>
            <a:ext cx="1070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🐣 Axe apprentissage : un tutoriel avec un exemple (simpliste) d’étude </a:t>
            </a:r>
            <a:r>
              <a:rPr b="1" lang="fr-FR" sz="1800" u="sng">
                <a:solidFill>
                  <a:schemeClr val="hlink"/>
                </a:solidFill>
                <a:hlinkClick r:id="rId3"/>
              </a:rPr>
              <a:t>https://sndstoolers.github.io/sndsTools/articles/tutoriel_avc.html</a:t>
            </a:r>
            <a:r>
              <a:rPr b="1" lang="fr-FR" sz="1800">
                <a:solidFill>
                  <a:srgbClr val="FF6168"/>
                </a:solidFill>
              </a:rPr>
              <a:t> </a:t>
            </a:r>
            <a:endParaRPr sz="1800">
              <a:solidFill>
                <a:srgbClr val="FF6168"/>
              </a:solidFill>
            </a:endParaRPr>
          </a:p>
        </p:txBody>
      </p:sp>
      <p:sp>
        <p:nvSpPr>
          <p:cNvPr id="377" name="Google Shape;377;p33"/>
          <p:cNvSpPr txBox="1"/>
          <p:nvPr/>
        </p:nvSpPr>
        <p:spPr>
          <a:xfrm>
            <a:off x="204825" y="1621200"/>
            <a:ext cx="6493500" cy="3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lang="fr-FR" sz="2400">
                <a:solidFill>
                  <a:srgbClr val="281E78"/>
                </a:solidFill>
              </a:rPr>
              <a:t>Patients hospitalisés en MCO pour AVC</a:t>
            </a:r>
            <a:endParaRPr sz="2400">
              <a:solidFill>
                <a:srgbClr val="281E7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81E78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lang="fr-FR" sz="2400">
                <a:solidFill>
                  <a:srgbClr val="281E78"/>
                </a:solidFill>
              </a:rPr>
              <a:t>Démo des fonctions d’extraction</a:t>
            </a:r>
            <a:endParaRPr sz="2400">
              <a:solidFill>
                <a:srgbClr val="281E7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81E78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●"/>
            </a:pPr>
            <a:r>
              <a:rPr lang="fr-FR" sz="2400">
                <a:solidFill>
                  <a:srgbClr val="281E78"/>
                </a:solidFill>
              </a:rPr>
              <a:t>Le code tourne de façon identique sur :</a:t>
            </a:r>
            <a:endParaRPr sz="2400">
              <a:solidFill>
                <a:srgbClr val="281E78"/>
              </a:solidFill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○"/>
            </a:pPr>
            <a:r>
              <a:rPr lang="fr-FR" sz="2400">
                <a:solidFill>
                  <a:srgbClr val="281E78"/>
                </a:solidFill>
              </a:rPr>
              <a:t>Le portail CNAM </a:t>
            </a:r>
            <a:endParaRPr sz="2400">
              <a:solidFill>
                <a:srgbClr val="281E78"/>
              </a:solidFill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400"/>
              <a:buChar char="○"/>
            </a:pPr>
            <a:r>
              <a:rPr lang="fr-FR" sz="2400">
                <a:solidFill>
                  <a:srgbClr val="281E78"/>
                </a:solidFill>
              </a:rPr>
              <a:t>L</a:t>
            </a:r>
            <a:r>
              <a:rPr lang="fr-FR" sz="2400">
                <a:solidFill>
                  <a:srgbClr val="281E78"/>
                </a:solidFill>
              </a:rPr>
              <a:t>a documentation (données fictives)</a:t>
            </a:r>
            <a:br>
              <a:rPr lang="fr-FR" sz="2400">
                <a:solidFill>
                  <a:srgbClr val="281E78"/>
                </a:solidFill>
              </a:rPr>
            </a:br>
            <a:endParaRPr sz="2400">
              <a:solidFill>
                <a:srgbClr val="281E7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rgbClr val="281E78"/>
                </a:solidFill>
              </a:rPr>
              <a:t>➡️ Documentation et code identiques</a:t>
            </a:r>
            <a:endParaRPr b="1" sz="2400">
              <a:solidFill>
                <a:srgbClr val="281E78"/>
              </a:solidFill>
            </a:endParaRPr>
          </a:p>
        </p:txBody>
      </p:sp>
      <p:pic>
        <p:nvPicPr>
          <p:cNvPr id="378" name="Google Shape;37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0675" y="1092539"/>
            <a:ext cx="5336194" cy="52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3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/>
        </p:nvSpPr>
        <p:spPr>
          <a:xfrm>
            <a:off x="613025" y="224300"/>
            <a:ext cx="1090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🐣 </a:t>
            </a:r>
            <a:r>
              <a:rPr b="1" lang="fr-FR" sz="2400">
                <a:solidFill>
                  <a:srgbClr val="FF6168"/>
                </a:solidFill>
              </a:rPr>
              <a:t>Prise en main : Développement en local</a:t>
            </a:r>
            <a:br>
              <a:rPr b="1" lang="fr-FR" sz="2400">
                <a:solidFill>
                  <a:srgbClr val="FF6168"/>
                </a:solidFill>
              </a:rPr>
            </a:br>
            <a:r>
              <a:rPr b="1" lang="fr-FR" sz="1800" u="sng">
                <a:solidFill>
                  <a:schemeClr val="hlink"/>
                </a:solidFill>
                <a:hlinkClick r:id="rId3"/>
              </a:rPr>
              <a:t>https://sndstoolers.github.io/sndsTools/articles/sndsTools.html#utilisation</a:t>
            </a:r>
            <a:r>
              <a:rPr b="1" lang="fr-FR" sz="1800">
                <a:solidFill>
                  <a:srgbClr val="FF6168"/>
                </a:solidFill>
              </a:rPr>
              <a:t> </a:t>
            </a:r>
            <a:r>
              <a:rPr b="1" lang="fr-FR" sz="1800">
                <a:solidFill>
                  <a:srgbClr val="FF6168"/>
                </a:solidFill>
              </a:rPr>
              <a:t>  </a:t>
            </a:r>
            <a:br>
              <a:rPr lang="fr-FR" sz="1700">
                <a:solidFill>
                  <a:srgbClr val="281E78"/>
                </a:solidFill>
              </a:rPr>
            </a:br>
            <a:endParaRPr b="1" sz="2400">
              <a:solidFill>
                <a:srgbClr val="FF6168"/>
              </a:solidFill>
            </a:endParaRPr>
          </a:p>
        </p:txBody>
      </p:sp>
      <p:pic>
        <p:nvPicPr>
          <p:cNvPr id="385" name="Google Shape;385;p34"/>
          <p:cNvPicPr preferRelativeResize="0"/>
          <p:nvPr/>
        </p:nvPicPr>
        <p:blipFill rotWithShape="1">
          <a:blip r:embed="rId4">
            <a:alphaModFix/>
          </a:blip>
          <a:srcRect b="0" l="0" r="0" t="41691"/>
          <a:stretch/>
        </p:blipFill>
        <p:spPr>
          <a:xfrm>
            <a:off x="4774416" y="1555170"/>
            <a:ext cx="5984475" cy="524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4"/>
          <p:cNvPicPr preferRelativeResize="0"/>
          <p:nvPr/>
        </p:nvPicPr>
        <p:blipFill rotWithShape="1">
          <a:blip r:embed="rId4">
            <a:alphaModFix/>
          </a:blip>
          <a:srcRect b="80952" l="0" r="58080" t="2699"/>
          <a:stretch/>
        </p:blipFill>
        <p:spPr>
          <a:xfrm>
            <a:off x="465363" y="1555175"/>
            <a:ext cx="3267925" cy="19144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4"/>
          <p:cNvSpPr txBox="1"/>
          <p:nvPr/>
        </p:nvSpPr>
        <p:spPr>
          <a:xfrm>
            <a:off x="465375" y="96167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3C7C"/>
                </a:solidFill>
              </a:rPr>
              <a:t>Installation</a:t>
            </a:r>
            <a:endParaRPr>
              <a:solidFill>
                <a:srgbClr val="003C7C"/>
              </a:solidFill>
            </a:endParaRPr>
          </a:p>
        </p:txBody>
      </p:sp>
      <p:sp>
        <p:nvSpPr>
          <p:cNvPr id="388" name="Google Shape;388;p34"/>
          <p:cNvSpPr txBox="1"/>
          <p:nvPr/>
        </p:nvSpPr>
        <p:spPr>
          <a:xfrm>
            <a:off x="4774425" y="1001070"/>
            <a:ext cx="729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3C7C"/>
                </a:solidFill>
              </a:rPr>
              <a:t>Chargement de données synthétiques</a:t>
            </a:r>
            <a:endParaRPr>
              <a:solidFill>
                <a:srgbClr val="003C7C"/>
              </a:solidFill>
            </a:endParaRPr>
          </a:p>
        </p:txBody>
      </p:sp>
      <p:cxnSp>
        <p:nvCxnSpPr>
          <p:cNvPr id="389" name="Google Shape;389;p34"/>
          <p:cNvCxnSpPr/>
          <p:nvPr/>
        </p:nvCxnSpPr>
        <p:spPr>
          <a:xfrm rot="10800000">
            <a:off x="4312775" y="1623500"/>
            <a:ext cx="16200" cy="416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34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 txBox="1"/>
          <p:nvPr/>
        </p:nvSpPr>
        <p:spPr>
          <a:xfrm>
            <a:off x="613025" y="224300"/>
            <a:ext cx="1157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📌 Prochaines étapes</a:t>
            </a:r>
            <a:endParaRPr sz="800">
              <a:solidFill>
                <a:srgbClr val="FF6168"/>
              </a:solidFill>
            </a:endParaRPr>
          </a:p>
        </p:txBody>
      </p:sp>
      <p:sp>
        <p:nvSpPr>
          <p:cNvPr id="396" name="Google Shape;396;p35"/>
          <p:cNvSpPr txBox="1"/>
          <p:nvPr/>
        </p:nvSpPr>
        <p:spPr>
          <a:xfrm>
            <a:off x="613025" y="901115"/>
            <a:ext cx="6795900" cy="52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281E78"/>
              </a:buClr>
              <a:buSzPts val="1800"/>
              <a:buChar char="●"/>
            </a:pPr>
            <a:r>
              <a:rPr lang="fr-FR" sz="1800">
                <a:solidFill>
                  <a:srgbClr val="281E78"/>
                </a:solidFill>
              </a:rPr>
              <a:t>Opportunité de parallélisation / réécrire la logique de boucle :  </a:t>
            </a:r>
            <a:r>
              <a:rPr lang="fr-FR" sz="1800" u="sng">
                <a:solidFill>
                  <a:schemeClr val="hlink"/>
                </a:solidFill>
                <a:hlinkClick r:id="rId3"/>
              </a:rPr>
              <a:t>#PR76</a:t>
            </a:r>
            <a:r>
              <a:rPr lang="fr-FR" sz="1800">
                <a:solidFill>
                  <a:srgbClr val="281E78"/>
                </a:solidFill>
              </a:rPr>
              <a:t> issue </a:t>
            </a:r>
            <a:r>
              <a:rPr lang="fr-FR" sz="1800" u="sng">
                <a:solidFill>
                  <a:schemeClr val="hlink"/>
                </a:solidFill>
                <a:hlinkClick r:id="rId4"/>
              </a:rPr>
              <a:t>#92</a:t>
            </a:r>
            <a:br>
              <a:rPr lang="fr-FR" sz="1800">
                <a:solidFill>
                  <a:srgbClr val="281E78"/>
                </a:solidFill>
              </a:rPr>
            </a:br>
            <a:endParaRPr sz="1800">
              <a:solidFill>
                <a:srgbClr val="281E7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1800"/>
              <a:buChar char="●"/>
            </a:pPr>
            <a:r>
              <a:rPr lang="fr-FR" sz="1800">
                <a:solidFill>
                  <a:srgbClr val="281E78"/>
                </a:solidFill>
              </a:rPr>
              <a:t>Intégration des autres champs PMSI : HAD, SSR</a:t>
            </a:r>
            <a:br>
              <a:rPr lang="fr-FR" sz="1800">
                <a:solidFill>
                  <a:srgbClr val="281E78"/>
                </a:solidFill>
              </a:rPr>
            </a:br>
            <a:endParaRPr sz="1800">
              <a:solidFill>
                <a:srgbClr val="281E7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1800"/>
              <a:buChar char="●"/>
            </a:pPr>
            <a:r>
              <a:rPr lang="fr-FR" sz="1800">
                <a:solidFill>
                  <a:srgbClr val="281E78"/>
                </a:solidFill>
              </a:rPr>
              <a:t>Traduction / intégration des codes SAS de Drugs-Safe-R</a:t>
            </a:r>
            <a:br>
              <a:rPr lang="fr-FR" sz="1800">
                <a:solidFill>
                  <a:srgbClr val="281E78"/>
                </a:solidFill>
              </a:rPr>
            </a:br>
            <a:endParaRPr sz="1800">
              <a:solidFill>
                <a:srgbClr val="281E7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1800"/>
              <a:buChar char="●"/>
            </a:pPr>
            <a:r>
              <a:rPr lang="fr-FR" sz="1800">
                <a:solidFill>
                  <a:srgbClr val="281E78"/>
                </a:solidFill>
              </a:rPr>
              <a:t>Extension à d’autres champs du </a:t>
            </a:r>
            <a:r>
              <a:rPr lang="fr-FR" sz="1800">
                <a:solidFill>
                  <a:srgbClr val="281E78"/>
                </a:solidFill>
              </a:rPr>
              <a:t>SNDS </a:t>
            </a:r>
            <a:r>
              <a:rPr lang="fr-FR" sz="1800">
                <a:solidFill>
                  <a:srgbClr val="281E78"/>
                </a:solidFill>
              </a:rPr>
              <a:t>: </a:t>
            </a:r>
            <a:br>
              <a:rPr lang="fr-FR" sz="1800">
                <a:solidFill>
                  <a:srgbClr val="281E78"/>
                </a:solidFill>
              </a:rPr>
            </a:br>
            <a:r>
              <a:rPr lang="fr-FR" sz="1800">
                <a:solidFill>
                  <a:srgbClr val="281E78"/>
                </a:solidFill>
              </a:rPr>
              <a:t>biologies (DCIR et PMSI), CCAM (DCIR et PMSI), top pathologies, ALD, indemnités journalières (DCIR), médicaments hors GHS (PMSI) (</a:t>
            </a:r>
            <a:r>
              <a:rPr lang="fr-FR" sz="1800" u="sng">
                <a:solidFill>
                  <a:schemeClr val="hlink"/>
                </a:solidFill>
                <a:hlinkClick r:id="rId5"/>
              </a:rPr>
              <a:t>#79</a:t>
            </a:r>
            <a:r>
              <a:rPr lang="fr-FR" sz="1800">
                <a:solidFill>
                  <a:srgbClr val="281E78"/>
                </a:solidFill>
              </a:rPr>
              <a:t>) </a:t>
            </a:r>
            <a:r>
              <a:rPr lang="fr-FR" sz="1800">
                <a:solidFill>
                  <a:srgbClr val="281E78"/>
                </a:solidFill>
              </a:rPr>
              <a:t>…</a:t>
            </a:r>
            <a:endParaRPr sz="1800">
              <a:solidFill>
                <a:srgbClr val="281E78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81E78"/>
                </a:solidFill>
              </a:rPr>
              <a:t> </a:t>
            </a:r>
            <a:endParaRPr sz="1800">
              <a:solidFill>
                <a:srgbClr val="281E78"/>
              </a:solidFill>
            </a:endParaRPr>
          </a:p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281E78"/>
              </a:buClr>
              <a:buSzPts val="1800"/>
              <a:buChar char="●"/>
            </a:pPr>
            <a:r>
              <a:rPr lang="fr-FR" sz="1800">
                <a:solidFill>
                  <a:srgbClr val="281E78"/>
                </a:solidFill>
              </a:rPr>
              <a:t>🤗 A la recherche de contributeurs : </a:t>
            </a:r>
            <a:br>
              <a:rPr lang="fr-FR" sz="1800">
                <a:solidFill>
                  <a:srgbClr val="281E78"/>
                </a:solidFill>
              </a:rPr>
            </a:br>
            <a:r>
              <a:rPr lang="fr-FR" sz="1800" u="sng">
                <a:solidFill>
                  <a:schemeClr val="hlink"/>
                </a:solidFill>
                <a:hlinkClick r:id="rId6"/>
              </a:rPr>
              <a:t>https://github.com/SNDStoolers/sndsTools/issues</a:t>
            </a:r>
            <a:r>
              <a:rPr lang="fr-FR" sz="1800">
                <a:solidFill>
                  <a:srgbClr val="281E78"/>
                </a:solidFill>
              </a:rPr>
              <a:t> </a:t>
            </a:r>
            <a:endParaRPr sz="1800">
              <a:solidFill>
                <a:srgbClr val="281E78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1800"/>
              <a:buChar char="○"/>
            </a:pPr>
            <a:r>
              <a:rPr lang="fr-FR" sz="1800">
                <a:solidFill>
                  <a:srgbClr val="281E78"/>
                </a:solidFill>
              </a:rPr>
              <a:t>Idées</a:t>
            </a:r>
            <a:endParaRPr sz="1800">
              <a:solidFill>
                <a:srgbClr val="281E78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1800"/>
              <a:buChar char="○"/>
            </a:pPr>
            <a:r>
              <a:rPr lang="fr-FR" sz="1800">
                <a:solidFill>
                  <a:srgbClr val="281E78"/>
                </a:solidFill>
              </a:rPr>
              <a:t>Documentation</a:t>
            </a:r>
            <a:endParaRPr sz="1800">
              <a:solidFill>
                <a:srgbClr val="281E78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1800"/>
              <a:buChar char="○"/>
            </a:pPr>
            <a:r>
              <a:rPr lang="fr-FR" sz="1800">
                <a:solidFill>
                  <a:srgbClr val="281E78"/>
                </a:solidFill>
              </a:rPr>
              <a:t>Revue de code</a:t>
            </a:r>
            <a:endParaRPr sz="1800">
              <a:solidFill>
                <a:srgbClr val="281E78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1800"/>
              <a:buChar char="○"/>
            </a:pPr>
            <a:r>
              <a:rPr lang="fr-FR" sz="1800">
                <a:solidFill>
                  <a:srgbClr val="281E78"/>
                </a:solidFill>
              </a:rPr>
              <a:t>Code </a:t>
            </a:r>
            <a:endParaRPr sz="1800">
              <a:solidFill>
                <a:srgbClr val="281E78"/>
              </a:solidFill>
            </a:endParaRPr>
          </a:p>
        </p:txBody>
      </p:sp>
      <p:pic>
        <p:nvPicPr>
          <p:cNvPr id="397" name="Google Shape;397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65450" y="497813"/>
            <a:ext cx="4323815" cy="55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5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6"/>
          <p:cNvSpPr txBox="1"/>
          <p:nvPr/>
        </p:nvSpPr>
        <p:spPr>
          <a:xfrm>
            <a:off x="613025" y="224300"/>
            <a:ext cx="1157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📌 Journées data science &amp; open source, Insee, SSPHub</a:t>
            </a:r>
            <a:br>
              <a:rPr b="1" lang="fr-FR" sz="2400">
                <a:solidFill>
                  <a:srgbClr val="FF6168"/>
                </a:solidFill>
              </a:rPr>
            </a:br>
            <a:r>
              <a:rPr b="1" lang="fr-FR" sz="1800" u="sng">
                <a:solidFill>
                  <a:schemeClr val="hlink"/>
                </a:solidFill>
                <a:hlinkClick r:id="rId3"/>
              </a:rPr>
              <a:t>https://ssphub.netlify.app/talk/2026-06-jdos/</a:t>
            </a:r>
            <a:r>
              <a:rPr b="1" lang="fr-FR" sz="1800">
                <a:solidFill>
                  <a:srgbClr val="FF6168"/>
                </a:solidFill>
              </a:rPr>
              <a:t> </a:t>
            </a:r>
            <a:endParaRPr sz="1800">
              <a:solidFill>
                <a:srgbClr val="FF6168"/>
              </a:solidFill>
            </a:endParaRPr>
          </a:p>
        </p:txBody>
      </p:sp>
      <p:sp>
        <p:nvSpPr>
          <p:cNvPr id="404" name="Google Shape;404;p36"/>
          <p:cNvSpPr txBox="1"/>
          <p:nvPr/>
        </p:nvSpPr>
        <p:spPr>
          <a:xfrm>
            <a:off x="613025" y="1561900"/>
            <a:ext cx="11169600" cy="3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2200">
                <a:solidFill>
                  <a:srgbClr val="281E78"/>
                </a:solidFill>
              </a:rPr>
              <a:t>16 juin 2026 (9h30-17h30):</a:t>
            </a:r>
            <a:endParaRPr sz="2200">
              <a:solidFill>
                <a:srgbClr val="281E78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fr-FR" sz="2200">
                <a:solidFill>
                  <a:srgbClr val="281E78"/>
                </a:solidFill>
              </a:rPr>
              <a:t>Matinée </a:t>
            </a:r>
            <a:r>
              <a:rPr lang="fr-FR" sz="2200">
                <a:solidFill>
                  <a:srgbClr val="281E78"/>
                </a:solidFill>
              </a:rPr>
              <a:t>: accueil et présentation des principes de contribution à l’open source</a:t>
            </a:r>
            <a:endParaRPr sz="2200">
              <a:solidFill>
                <a:srgbClr val="281E78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fr-FR" sz="2200">
                <a:solidFill>
                  <a:srgbClr val="281E78"/>
                </a:solidFill>
              </a:rPr>
              <a:t>Après-midi </a:t>
            </a:r>
            <a:r>
              <a:rPr lang="fr-FR" sz="2200">
                <a:solidFill>
                  <a:srgbClr val="281E78"/>
                </a:solidFill>
              </a:rPr>
              <a:t>: séparation en groupes autour des différents projets et contributions</a:t>
            </a:r>
            <a:br>
              <a:rPr lang="fr-FR" sz="2200">
                <a:solidFill>
                  <a:srgbClr val="281E78"/>
                </a:solidFill>
              </a:rPr>
            </a:br>
            <a:endParaRPr sz="2200">
              <a:solidFill>
                <a:srgbClr val="281E7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-FR" sz="2200">
                <a:solidFill>
                  <a:srgbClr val="281E78"/>
                </a:solidFill>
              </a:rPr>
              <a:t>17 juin 2026 (9h-17h):</a:t>
            </a:r>
            <a:endParaRPr sz="2200">
              <a:solidFill>
                <a:srgbClr val="281E78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fr-FR" sz="2200">
                <a:solidFill>
                  <a:srgbClr val="281E78"/>
                </a:solidFill>
              </a:rPr>
              <a:t>Matinée </a:t>
            </a:r>
            <a:r>
              <a:rPr lang="fr-FR" sz="2200">
                <a:solidFill>
                  <a:srgbClr val="281E78"/>
                </a:solidFill>
              </a:rPr>
              <a:t>: contributions</a:t>
            </a:r>
            <a:endParaRPr sz="2200">
              <a:solidFill>
                <a:srgbClr val="281E78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fr-FR" sz="2200">
                <a:solidFill>
                  <a:srgbClr val="281E78"/>
                </a:solidFill>
              </a:rPr>
              <a:t>Après-midi </a:t>
            </a:r>
            <a:r>
              <a:rPr lang="fr-FR" sz="2200">
                <a:solidFill>
                  <a:srgbClr val="281E78"/>
                </a:solidFill>
              </a:rPr>
              <a:t>: contributions et clôture</a:t>
            </a:r>
            <a:endParaRPr sz="2200">
              <a:solidFill>
                <a:srgbClr val="281E78"/>
              </a:solidFill>
            </a:endParaRPr>
          </a:p>
        </p:txBody>
      </p:sp>
      <p:sp>
        <p:nvSpPr>
          <p:cNvPr id="405" name="Google Shape;405;p36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/>
          <p:nvPr/>
        </p:nvSpPr>
        <p:spPr>
          <a:xfrm>
            <a:off x="915450" y="1179600"/>
            <a:ext cx="57339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3C7C"/>
                </a:solidFill>
              </a:rPr>
              <a:t>Antoine Belloir (ICM)</a:t>
            </a:r>
            <a:endParaRPr b="1" sz="2400">
              <a:solidFill>
                <a:srgbClr val="003C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3C7C"/>
                </a:solidFill>
              </a:rPr>
              <a:t>Thomas Soeiro (AP-HM)</a:t>
            </a:r>
            <a:endParaRPr b="1" sz="2400">
              <a:solidFill>
                <a:srgbClr val="003C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3C7C"/>
                </a:solidFill>
              </a:rPr>
              <a:t>Marc Dibbling (ICM)</a:t>
            </a:r>
            <a:endParaRPr b="1" sz="2400">
              <a:solidFill>
                <a:srgbClr val="003C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3C7C"/>
                </a:solidFill>
              </a:rPr>
              <a:t>Leo Guillon (ICM)</a:t>
            </a:r>
            <a:endParaRPr b="1" sz="2400">
              <a:solidFill>
                <a:srgbClr val="003C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3C7C"/>
                </a:solidFill>
              </a:rPr>
              <a:t>Thomas Nédelec (ICM)</a:t>
            </a:r>
            <a:endParaRPr b="1" sz="2400">
              <a:solidFill>
                <a:srgbClr val="003C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3C7C"/>
                </a:solidFill>
              </a:rPr>
              <a:t>Judith Abecassis (Inria)</a:t>
            </a:r>
            <a:endParaRPr b="1" sz="2400">
              <a:solidFill>
                <a:srgbClr val="003C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3C7C"/>
                </a:solidFill>
              </a:rPr>
              <a:t>Catherine Bisquet (HAS)</a:t>
            </a:r>
            <a:endParaRPr b="1" sz="2400">
              <a:solidFill>
                <a:srgbClr val="003C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3C7C"/>
                </a:solidFill>
              </a:rPr>
              <a:t>Nelly Leguen (HAS)</a:t>
            </a:r>
            <a:endParaRPr b="1" sz="2400">
              <a:solidFill>
                <a:srgbClr val="003C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3C7C"/>
                </a:solidFill>
              </a:rPr>
              <a:t>Gladys Baudet (Drees)</a:t>
            </a:r>
            <a:endParaRPr b="1" sz="2400">
              <a:solidFill>
                <a:srgbClr val="003C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3C7C"/>
                </a:solidFill>
              </a:rPr>
              <a:t>Nicolas Minier (Epiphare)</a:t>
            </a:r>
            <a:endParaRPr b="1" sz="2400">
              <a:solidFill>
                <a:srgbClr val="003C7C"/>
              </a:solidFill>
            </a:endParaRPr>
          </a:p>
        </p:txBody>
      </p:sp>
      <p:sp>
        <p:nvSpPr>
          <p:cNvPr id="411" name="Google Shape;411;p37"/>
          <p:cNvSpPr txBox="1"/>
          <p:nvPr/>
        </p:nvSpPr>
        <p:spPr>
          <a:xfrm>
            <a:off x="0" y="0"/>
            <a:ext cx="643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Merci à tous les contributeurs !</a:t>
            </a:r>
            <a:endParaRPr b="1" sz="2400">
              <a:solidFill>
                <a:srgbClr val="FF6168"/>
              </a:solidFill>
            </a:endParaRPr>
          </a:p>
        </p:txBody>
      </p:sp>
      <p:sp>
        <p:nvSpPr>
          <p:cNvPr id="412" name="Google Shape;412;p37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8"/>
          <p:cNvSpPr txBox="1"/>
          <p:nvPr/>
        </p:nvSpPr>
        <p:spPr>
          <a:xfrm>
            <a:off x="4256550" y="2812225"/>
            <a:ext cx="360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S</a:t>
            </a:r>
            <a:r>
              <a:rPr b="1" lang="fr-FR" sz="2400">
                <a:solidFill>
                  <a:srgbClr val="FF6168"/>
                </a:solidFill>
              </a:rPr>
              <a:t>lides supplémentaires</a:t>
            </a:r>
            <a:endParaRPr sz="800">
              <a:solidFill>
                <a:srgbClr val="FF6168"/>
              </a:solidFill>
            </a:endParaRPr>
          </a:p>
        </p:txBody>
      </p:sp>
      <p:sp>
        <p:nvSpPr>
          <p:cNvPr id="418" name="Google Shape;418;p38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"/>
          <p:cNvSpPr txBox="1"/>
          <p:nvPr/>
        </p:nvSpPr>
        <p:spPr>
          <a:xfrm>
            <a:off x="613025" y="224300"/>
            <a:ext cx="115791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Une comparaison R natif vs sndsTools</a:t>
            </a:r>
            <a:br>
              <a:rPr b="1" lang="fr-FR" sz="2400">
                <a:solidFill>
                  <a:srgbClr val="FF6168"/>
                </a:solidFill>
              </a:rPr>
            </a:br>
            <a:r>
              <a:rPr b="1" lang="fr-FR" sz="1800" u="sng">
                <a:solidFill>
                  <a:schemeClr val="hlink"/>
                </a:solidFill>
                <a:hlinkClick r:id="rId3"/>
              </a:rPr>
              <a:t>https://sndstoolers.github.io/sndsTools/articles/benchmark_sndstools_vs_r.html</a:t>
            </a:r>
            <a:r>
              <a:rPr b="1" lang="fr-FR" sz="1800">
                <a:solidFill>
                  <a:srgbClr val="FF6168"/>
                </a:solidFill>
              </a:rPr>
              <a:t> </a:t>
            </a:r>
            <a:br>
              <a:rPr b="1" lang="fr-FR" sz="1800">
                <a:solidFill>
                  <a:srgbClr val="FF6168"/>
                </a:solidFill>
              </a:rPr>
            </a:br>
            <a:endParaRPr sz="200">
              <a:solidFill>
                <a:schemeClr val="accent5"/>
              </a:solidFill>
            </a:endParaRPr>
          </a:p>
        </p:txBody>
      </p:sp>
      <p:sp>
        <p:nvSpPr>
          <p:cNvPr id="424" name="Google Shape;424;p39"/>
          <p:cNvSpPr txBox="1"/>
          <p:nvPr/>
        </p:nvSpPr>
        <p:spPr>
          <a:xfrm>
            <a:off x="491325" y="1561150"/>
            <a:ext cx="47406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00">
                <a:solidFill>
                  <a:srgbClr val="281E78"/>
                </a:solidFill>
              </a:rPr>
              <a:t>❓</a:t>
            </a:r>
            <a:r>
              <a:rPr lang="fr-FR" sz="2300">
                <a:solidFill>
                  <a:srgbClr val="281E78"/>
                </a:solidFill>
              </a:rPr>
              <a:t>Est-ce qu’il y a une différence de résultats entre une requête native en R et l’utilisation de sndsTools ?</a:t>
            </a:r>
            <a:endParaRPr sz="2300">
              <a:solidFill>
                <a:srgbClr val="281E7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81E78"/>
              </a:solidFill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300"/>
              <a:buChar char="●"/>
            </a:pPr>
            <a:r>
              <a:rPr lang="fr-FR" sz="2300">
                <a:solidFill>
                  <a:srgbClr val="281E78"/>
                </a:solidFill>
              </a:rPr>
              <a:t>Même résultats</a:t>
            </a:r>
            <a:br>
              <a:rPr lang="fr-FR" sz="2300">
                <a:solidFill>
                  <a:srgbClr val="281E78"/>
                </a:solidFill>
              </a:rPr>
            </a:br>
            <a:endParaRPr sz="2300">
              <a:solidFill>
                <a:srgbClr val="281E78"/>
              </a:solidFill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300"/>
              <a:buChar char="●"/>
            </a:pPr>
            <a:r>
              <a:rPr lang="fr-FR" sz="2300">
                <a:solidFill>
                  <a:srgbClr val="281E78"/>
                </a:solidFill>
              </a:rPr>
              <a:t>sndsTools plus lent car boucle sur les mois (bonnes pratiques CNAM)</a:t>
            </a:r>
            <a:endParaRPr sz="2300"/>
          </a:p>
        </p:txBody>
      </p:sp>
      <p:pic>
        <p:nvPicPr>
          <p:cNvPr id="425" name="Google Shape;42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5075" y="3739700"/>
            <a:ext cx="4302200" cy="30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6200" y="997699"/>
            <a:ext cx="5487925" cy="27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9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0"/>
          <p:cNvSpPr txBox="1"/>
          <p:nvPr/>
        </p:nvSpPr>
        <p:spPr>
          <a:xfrm>
            <a:off x="613025" y="224300"/>
            <a:ext cx="1157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6168"/>
                </a:solidFill>
              </a:rPr>
              <a:t>Un benchmark de temps d’extraction </a:t>
            </a:r>
            <a:r>
              <a:rPr b="1" lang="fr-FR" sz="1800" u="sng">
                <a:solidFill>
                  <a:schemeClr val="hlink"/>
                </a:solidFill>
                <a:hlinkClick r:id="rId3"/>
              </a:rPr>
              <a:t>https://sndstoolers.github.io/sndsTools/articles/benchmark_dplyr_vs_rsql.html</a:t>
            </a:r>
            <a:r>
              <a:rPr b="1" lang="fr-FR" sz="1800">
                <a:solidFill>
                  <a:srgbClr val="FA4616"/>
                </a:solidFill>
              </a:rPr>
              <a:t> </a:t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457200" y="1561150"/>
            <a:ext cx="5275800" cy="44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300">
                <a:solidFill>
                  <a:srgbClr val="281E78"/>
                </a:solidFill>
              </a:rPr>
              <a:t>❓</a:t>
            </a:r>
            <a:r>
              <a:rPr lang="fr-FR" sz="2300">
                <a:solidFill>
                  <a:srgbClr val="281E78"/>
                </a:solidFill>
              </a:rPr>
              <a:t>Différence</a:t>
            </a:r>
            <a:r>
              <a:rPr lang="fr-FR" sz="2300">
                <a:solidFill>
                  <a:srgbClr val="281E78"/>
                </a:solidFill>
              </a:rPr>
              <a:t> de temps d’extraction entre syntaxe dplyr et syntaxe sql ? </a:t>
            </a:r>
            <a:endParaRPr sz="2300">
              <a:solidFill>
                <a:srgbClr val="281E7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81E78"/>
              </a:solidFill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300"/>
              <a:buChar char="●"/>
            </a:pPr>
            <a:r>
              <a:rPr lang="fr-FR" sz="2300">
                <a:solidFill>
                  <a:srgbClr val="281E78"/>
                </a:solidFill>
              </a:rPr>
              <a:t>Requête simple mais volumineuse sur ER_PRS_F, ER_PHA_F et ER_ETE_F</a:t>
            </a:r>
            <a:br>
              <a:rPr lang="fr-FR" sz="2300">
                <a:solidFill>
                  <a:srgbClr val="281E78"/>
                </a:solidFill>
              </a:rPr>
            </a:br>
            <a:endParaRPr sz="2300">
              <a:solidFill>
                <a:srgbClr val="281E78"/>
              </a:solidFill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300"/>
              <a:buChar char="●"/>
            </a:pPr>
            <a:r>
              <a:rPr lang="fr-FR" sz="2300">
                <a:solidFill>
                  <a:srgbClr val="281E78"/>
                </a:solidFill>
              </a:rPr>
              <a:t>Cas d’étude : Vitamin C sur différente périodes</a:t>
            </a:r>
            <a:endParaRPr sz="2300">
              <a:solidFill>
                <a:srgbClr val="281E78"/>
              </a:solidFill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81E78"/>
              </a:buClr>
              <a:buSzPts val="2300"/>
              <a:buChar char="●"/>
            </a:pPr>
            <a:r>
              <a:rPr lang="fr-FR" sz="2300">
                <a:solidFill>
                  <a:srgbClr val="281E78"/>
                </a:solidFill>
              </a:rPr>
              <a:t>Conclusion : Pas de </a:t>
            </a:r>
            <a:r>
              <a:rPr lang="fr-FR" sz="2300">
                <a:solidFill>
                  <a:srgbClr val="281E78"/>
                </a:solidFill>
              </a:rPr>
              <a:t>différence</a:t>
            </a:r>
            <a:r>
              <a:rPr lang="fr-FR" sz="2300">
                <a:solidFill>
                  <a:srgbClr val="281E78"/>
                </a:solidFill>
              </a:rPr>
              <a:t>s !</a:t>
            </a:r>
            <a:endParaRPr sz="2300"/>
          </a:p>
        </p:txBody>
      </p:sp>
      <p:pic>
        <p:nvPicPr>
          <p:cNvPr id="434" name="Google Shape;43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9800" y="1191800"/>
            <a:ext cx="5222799" cy="522279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0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