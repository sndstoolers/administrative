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media/image1.png" ContentType="image/png"/>
  <Override PartName="/ppt/media/image31.png" ContentType="image/png"/>
  <Override PartName="/ppt/media/image7.jpeg" ContentType="image/jpeg"/>
  <Override PartName="/ppt/media/image2.png" ContentType="image/png"/>
  <Override PartName="/ppt/media/image4.jpeg" ContentType="image/jpeg"/>
  <Override PartName="/ppt/media/image3.png" ContentType="image/png"/>
  <Override PartName="/ppt/media/image5.png" ContentType="image/png"/>
  <Override PartName="/ppt/media/image6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D3F7EC8-062F-419C-AE18-861830E38EFE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5AF6F8-6FDF-4D96-873B-0843CF17EBA6}" type="slidenum"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C07FC6-9778-40E8-88D3-7CF6DE661B4C}" type="slidenum"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F2F14F-7E56-4E29-968D-1C1CD8F2ED39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3833280" y="-1623240"/>
            <a:ext cx="4525560" cy="1097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90DFC8-2DAF-41B6-9FC8-5453A9B619AE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7285320" y="1828440"/>
            <a:ext cx="585108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1697400" y="-812880"/>
            <a:ext cx="5851080" cy="80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C09EB6-B467-47E2-8F1C-A27CCBCC2549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E47B5C-A15D-4081-95B3-45591AA99420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7CA777-B69E-4F42-B904-D7F939BFBA5D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DF6A02-085D-4CC2-996A-CDB90FBEF0B2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D23320-ACA2-4B3F-A1B4-C436EBC0C996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B397E7-B390-40FF-98ED-D9808920A3F2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397828-B3C6-431D-A4F2-32790A0F121C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BEEEBA-5908-4AF3-BD84-CC13ADA12496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8E7B23-E932-461F-99C2-E2C815CA0452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hyperlink" Target="https://documentation-snds.health-data-hub.fr/snds/" TargetMode="External"/><Relationship Id="rId3" Type="http://schemas.openxmlformats.org/officeDocument/2006/relationships/hyperlink" Target="https://health-data-hub.shinyapps.io/dico-snds/" TargetMode="External"/><Relationship Id="rId4" Type="http://schemas.openxmlformats.org/officeDocument/2006/relationships/image" Target="../media/image27.png"/><Relationship Id="rId5" Type="http://schemas.openxmlformats.org/officeDocument/2006/relationships/hyperlink" Target="https://entraide.health-data-hub.fr/categories" TargetMode="External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gitlab.com/healthdatahub/boas/" TargetMode="External"/><Relationship Id="rId2" Type="http://schemas.openxmlformats.org/officeDocument/2006/relationships/image" Target="../media/image29.png"/><Relationship Id="rId3" Type="http://schemas.openxmlformats.org/officeDocument/2006/relationships/hyperlink" Target="https://github.com/X-DataInitiative/SCALPEL-Flattening" TargetMode="External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hyperlink" Target="https://gitlab.com/healthdatahub/boas/institut-curie/combicancer" TargetMode="External"/><Relationship Id="rId9" Type="http://schemas.openxmlformats.org/officeDocument/2006/relationships/hyperlink" Target="http://github.com/GuyomardMarie/pysnds/" TargetMode="External"/><Relationship Id="rId10" Type="http://schemas.openxmlformats.org/officeDocument/2006/relationships/hyperlink" Target="https://github.com/Epiconcept-Paris/sndskit" TargetMode="External"/><Relationship Id="rId11" Type="http://schemas.openxmlformats.org/officeDocument/2006/relationships/hyperlink" Target="https://gitlab.com/Drugs-Safe-R/Outils_SNDS" TargetMode="External"/><Relationship Id="rId12" Type="http://schemas.openxmlformats.org/officeDocument/2006/relationships/image" Target="../media/image34.png"/><Relationship Id="rId1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5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entraide.health-data-hub.fr/t/compte-rendu-de-latelier-r-snds-tenu-au-congres-emois-2024/2071" TargetMode="External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sndstoolers.github.io/sndsTools/reference/index.html" TargetMode="Externa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sndstoolers.github.io/sndsTools/reference/extract_consultations_erprsf.html" TargetMode="External"/><Relationship Id="rId2" Type="http://schemas.openxmlformats.org/officeDocument/2006/relationships/hyperlink" Target="https://roxygen2.r-lib.org/index.html" TargetMode="External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github.com/SNDStoolers/sndsTools/releases" TargetMode="External"/><Relationship Id="rId2" Type="http://schemas.openxmlformats.org/officeDocument/2006/relationships/hyperlink" Target="https://github.com/SNDStoolers/sndsTools/releases" TargetMode="External"/><Relationship Id="rId3" Type="http://schemas.openxmlformats.org/officeDocument/2006/relationships/hyperlink" Target="https://github.com/SNDStoolers/sndsTools/releases" TargetMode="External"/><Relationship Id="rId4" Type="http://schemas.openxmlformats.org/officeDocument/2006/relationships/hyperlink" Target="https://github.com/SNDStoolers/sndsTools/releases" TargetMode="External"/><Relationship Id="rId5" Type="http://schemas.openxmlformats.org/officeDocument/2006/relationships/hyperlink" Target="https://sndstoolers.github.io/sndsTools/articles/sndsTools.html" TargetMode="External"/><Relationship Id="rId6" Type="http://schemas.openxmlformats.org/officeDocument/2006/relationships/image" Target="../media/image40.png"/><Relationship Id="rId7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sndstoolers.github.io/sndsTools/articles/tutoriel_avc.html" TargetMode="External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sndstoolers.github.io/sndsTools/articles/sndsTools.html#utilisation" TargetMode="External"/><Relationship Id="rId2" Type="http://schemas.openxmlformats.org/officeDocument/2006/relationships/image" Target="../media/image42.pn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github.com/SNDStoolers/sndsTools/issues" TargetMode="External"/><Relationship Id="rId2" Type="http://schemas.openxmlformats.org/officeDocument/2006/relationships/hyperlink" Target="https://github.com/SNDStoolers/sndsTools/pull/86" TargetMode="External"/><Relationship Id="rId3" Type="http://schemas.openxmlformats.org/officeDocument/2006/relationships/hyperlink" Target="https://github.com/SNDStoolers/sndsTools/pull/77" TargetMode="External"/><Relationship Id="rId4" Type="http://schemas.openxmlformats.org/officeDocument/2006/relationships/hyperlink" Target="https://github.com/SNDStoolers/sndsTools/issues/46" TargetMode="External"/><Relationship Id="rId5" Type="http://schemas.openxmlformats.org/officeDocument/2006/relationships/hyperlink" Target="https://github.com/SNDStoolers/sndsTools/issues/98" TargetMode="External"/><Relationship Id="rId6" Type="http://schemas.openxmlformats.org/officeDocument/2006/relationships/hyperlink" Target="https://github.com/SNDStoolers/sndsTools/issues/97" TargetMode="External"/><Relationship Id="rId7" Type="http://schemas.openxmlformats.org/officeDocument/2006/relationships/hyperlink" Target="https://github.com/SNDStoolers/sndsTools/issues/96" TargetMode="External"/><Relationship Id="rId8" Type="http://schemas.openxmlformats.org/officeDocument/2006/relationships/hyperlink" Target="https://github.com/SNDStoolers/sndsTools/issues/95" TargetMode="External"/><Relationship Id="rId9" Type="http://schemas.openxmlformats.org/officeDocument/2006/relationships/hyperlink" Target="https://github.com/SNDStoolers/sndsTools/issues/99" TargetMode="External"/><Relationship Id="rId10" Type="http://schemas.openxmlformats.org/officeDocument/2006/relationships/hyperlink" Target="https://github.com/SNDStoolers/sndsTools/issues/100" TargetMode="External"/><Relationship Id="rId11" Type="http://schemas.openxmlformats.org/officeDocument/2006/relationships/hyperlink" Target="https://github.com/SNDStoolers/sndsTools/issues/101" TargetMode="External"/><Relationship Id="rId12" Type="http://schemas.openxmlformats.org/officeDocument/2006/relationships/hyperlink" Target="https://github.com/SNDStoolers/sndsTools/issues/103" TargetMode="External"/><Relationship Id="rId13" Type="http://schemas.openxmlformats.org/officeDocument/2006/relationships/hyperlink" Target="https://github.com/SNDStoolers/sndsTools/issues/104" TargetMode="External"/><Relationship Id="rId14" Type="http://schemas.openxmlformats.org/officeDocument/2006/relationships/hyperlink" Target="https://github.com/SNDStoolers/sndsTools/issues/92" TargetMode="External"/><Relationship Id="rId15" Type="http://schemas.openxmlformats.org/officeDocument/2006/relationships/hyperlink" Target="https://github.com/SNDStoolers/sndsTools/issues/79" TargetMode="External"/><Relationship Id="rId16" Type="http://schemas.openxmlformats.org/officeDocument/2006/relationships/hyperlink" Target="https://github.com/SNDStoolers/sndsTools/issues/94" TargetMode="External"/><Relationship Id="rId17" Type="http://schemas.openxmlformats.org/officeDocument/2006/relationships/hyperlink" Target="https://gitlab.com/Drugs-Safe-R/Outils_SNDS/-/tree/main/Extraction" TargetMode="External"/><Relationship Id="rId18" Type="http://schemas.openxmlformats.org/officeDocument/2006/relationships/hyperlink" Target="https://github.com/SNDStoolers/sndsTools/issues/102" TargetMode="External"/><Relationship Id="rId19" Type="http://schemas.openxmlformats.org/officeDocument/2006/relationships/image" Target="../media/image43.png"/><Relationship Id="rId20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sndstoolers.github.io/sndsTools/articles/contribuer.html#comment-contribuer-concr&#232;tement" TargetMode="External"/><Relationship Id="rId2" Type="http://schemas.openxmlformats.org/officeDocument/2006/relationships/hyperlink" Target="https://sndstoolers.github.io/sndsTools/articles/contribuer.html#api" TargetMode="External"/><Relationship Id="rId3" Type="http://schemas.openxmlformats.org/officeDocument/2006/relationships/hyperlink" Target="https://health-data-hub.shinyapps.io/dico-snds/" TargetMode="External"/><Relationship Id="rId4" Type="http://schemas.openxmlformats.org/officeDocument/2006/relationships/hyperlink" Target="https://documentation-snds.health-data-hub.fr/snds/" TargetMode="External"/><Relationship Id="rId5" Type="http://schemas.openxmlformats.org/officeDocument/2006/relationships/image" Target="../media/image44.png"/><Relationship Id="rId6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https://sndstoolers.github.io/sndsTools/articles/benchmark_sndstools_vs_r.html" TargetMode="Externa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https://sndstoolers.github.io/sndsTools/articles/benchmark_dplyr_vs_rsql.html" TargetMode="External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90;p15"/>
          <p:cNvSpPr/>
          <p:nvPr/>
        </p:nvSpPr>
        <p:spPr>
          <a:xfrm>
            <a:off x="721800" y="2473560"/>
            <a:ext cx="10748160" cy="9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anchor="t">
            <a:spAutoFit/>
          </a:bodyPr>
          <a:p>
            <a:pPr algn="r">
              <a:lnSpc>
                <a:spcPct val="70000"/>
              </a:lnSpc>
              <a:tabLst>
                <a:tab algn="l" pos="0"/>
              </a:tabLst>
            </a:pPr>
            <a:r>
              <a:rPr b="1" lang="fr-FR" sz="8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sndsTools</a:t>
            </a:r>
            <a:endParaRPr b="0" lang="fr-F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1;p15"/>
          <p:cNvSpPr/>
          <p:nvPr/>
        </p:nvSpPr>
        <p:spPr>
          <a:xfrm>
            <a:off x="6010560" y="4257000"/>
            <a:ext cx="5263920" cy="12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Matthieu Doutreligne 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Insee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2026-06-16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2;p15"/>
          <p:cNvSpPr/>
          <p:nvPr/>
        </p:nvSpPr>
        <p:spPr>
          <a:xfrm>
            <a:off x="10019880" y="5999400"/>
            <a:ext cx="1351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24/03/2025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Google Shape;93;p15"/>
          <p:cNvCxnSpPr/>
          <p:nvPr/>
        </p:nvCxnSpPr>
        <p:spPr>
          <a:xfrm>
            <a:off x="10019880" y="5709960"/>
            <a:ext cx="13518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70" name="Google Shape;94;p15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2365920" cy="79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Google Shape;95;p15" descr="Une image contenant horloge, signe&#10;&#10;Description générée automatiquement"/>
          <p:cNvPicPr/>
          <p:nvPr/>
        </p:nvPicPr>
        <p:blipFill>
          <a:blip r:embed="rId2"/>
          <a:stretch/>
        </p:blipFill>
        <p:spPr>
          <a:xfrm>
            <a:off x="2813760" y="203040"/>
            <a:ext cx="2484000" cy="69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Google Shape;96;p15"/>
          <p:cNvSpPr/>
          <p:nvPr/>
        </p:nvSpPr>
        <p:spPr>
          <a:xfrm>
            <a:off x="1935360" y="3504600"/>
            <a:ext cx="10818000" cy="6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3200" strike="noStrike" u="none">
                <a:solidFill>
                  <a:srgbClr val="4a86e8"/>
                </a:solidFill>
                <a:effectLst/>
                <a:uFillTx/>
                <a:latin typeface="Calibri"/>
                <a:ea typeface="Calibri"/>
              </a:rPr>
              <a:t>Un package R simplifiant l’extraction de données SNDS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7;p15"/>
          <p:cNvSpPr/>
          <p:nvPr/>
        </p:nvSpPr>
        <p:spPr>
          <a:xfrm>
            <a:off x="1788120" y="5707080"/>
            <a:ext cx="985860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fr-FR" sz="2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merci à Antoine Belloir and Marc Dibbling (ICM, équipe Aramis)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3AC1A0-4EE6-4BF1-9EB5-C642C16EAEAB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" name="Google Shape;99;p15" descr=""/>
          <p:cNvPicPr/>
          <p:nvPr/>
        </p:nvPicPr>
        <p:blipFill>
          <a:blip r:embed="rId3"/>
          <a:srcRect l="0" t="34224" r="0" b="29209"/>
          <a:stretch/>
        </p:blipFill>
        <p:spPr>
          <a:xfrm>
            <a:off x="5633280" y="203040"/>
            <a:ext cx="2168280" cy="79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04;p16"/>
          <p:cNvSpPr/>
          <p:nvPr/>
        </p:nvSpPr>
        <p:spPr>
          <a:xfrm>
            <a:off x="613080" y="224280"/>
            <a:ext cx="54828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Sources SNDS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Google Shape;105;p16" descr="Accueil | SNDS"/>
          <p:cNvPicPr/>
          <p:nvPr/>
        </p:nvPicPr>
        <p:blipFill>
          <a:blip r:embed="rId1"/>
          <a:stretch/>
        </p:blipFill>
        <p:spPr>
          <a:xfrm>
            <a:off x="9806760" y="1559160"/>
            <a:ext cx="2102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6;p16"/>
          <p:cNvSpPr/>
          <p:nvPr/>
        </p:nvSpPr>
        <p:spPr>
          <a:xfrm rot="5400000">
            <a:off x="4211640" y="2676600"/>
            <a:ext cx="327960" cy="258120"/>
          </a:xfrm>
          <a:prstGeom prst="rightArrow">
            <a:avLst>
              <a:gd name="adj1" fmla="val 50000"/>
              <a:gd name="adj2" fmla="val 34252"/>
            </a:avLst>
          </a:prstGeom>
          <a:solidFill>
            <a:srgbClr val="0c41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7;p16"/>
          <p:cNvSpPr/>
          <p:nvPr/>
        </p:nvSpPr>
        <p:spPr>
          <a:xfrm>
            <a:off x="7867440" y="1912320"/>
            <a:ext cx="1706040" cy="904320"/>
          </a:xfrm>
          <a:prstGeom prst="can">
            <a:avLst>
              <a:gd name="adj" fmla="val 25000"/>
            </a:avLst>
          </a:prstGeom>
          <a:solidFill>
            <a:srgbClr val="ffcc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8;p16"/>
          <p:cNvSpPr/>
          <p:nvPr/>
        </p:nvSpPr>
        <p:spPr>
          <a:xfrm>
            <a:off x="8141400" y="2484720"/>
            <a:ext cx="1158120" cy="243000"/>
          </a:xfrm>
          <a:prstGeom prst="ellipse">
            <a:avLst/>
          </a:prstGeom>
          <a:solidFill>
            <a:srgbClr val="7fc31c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9;p16"/>
          <p:cNvSpPr/>
          <p:nvPr/>
        </p:nvSpPr>
        <p:spPr>
          <a:xfrm>
            <a:off x="8211960" y="2457360"/>
            <a:ext cx="11480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00" strike="noStrike" u="none">
                <a:solidFill>
                  <a:srgbClr val="003399"/>
                </a:solidFill>
                <a:effectLst/>
                <a:uFillTx/>
                <a:latin typeface="Arial"/>
                <a:ea typeface="Arial"/>
              </a:rPr>
              <a:t>NIR chiffré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Google Shape;110;p16" descr=""/>
          <p:cNvPicPr/>
          <p:nvPr/>
        </p:nvPicPr>
        <p:blipFill>
          <a:blip r:embed="rId2"/>
          <a:stretch/>
        </p:blipFill>
        <p:spPr>
          <a:xfrm>
            <a:off x="673920" y="1672200"/>
            <a:ext cx="1006200" cy="130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Google Shape;111;p16"/>
          <p:cNvSpPr/>
          <p:nvPr/>
        </p:nvSpPr>
        <p:spPr>
          <a:xfrm>
            <a:off x="1204920" y="2526840"/>
            <a:ext cx="2055960" cy="538200"/>
          </a:xfrm>
          <a:prstGeom prst="wedgeRoundRectCallout">
            <a:avLst>
              <a:gd name="adj1" fmla="val 62292"/>
              <a:gd name="adj2" fmla="val -36344"/>
              <a:gd name="adj3" fmla="val 16667"/>
            </a:avLst>
          </a:prstGeom>
          <a:solidFill>
            <a:srgbClr val="aac8f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Données des offreurs de soin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2;p16"/>
          <p:cNvSpPr/>
          <p:nvPr/>
        </p:nvSpPr>
        <p:spPr>
          <a:xfrm>
            <a:off x="3553920" y="2285280"/>
            <a:ext cx="1643040" cy="328320"/>
          </a:xfrm>
          <a:prstGeom prst="roundRect">
            <a:avLst>
              <a:gd name="adj" fmla="val 16667"/>
            </a:avLst>
          </a:prstGeom>
          <a:solidFill>
            <a:srgbClr val="aac8f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3;p16"/>
          <p:cNvSpPr/>
          <p:nvPr/>
        </p:nvSpPr>
        <p:spPr>
          <a:xfrm>
            <a:off x="8029800" y="2195280"/>
            <a:ext cx="133020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7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DCIR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4;p16"/>
          <p:cNvSpPr/>
          <p:nvPr/>
        </p:nvSpPr>
        <p:spPr>
          <a:xfrm>
            <a:off x="3650400" y="2294280"/>
            <a:ext cx="14497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5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Comptes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5;p16"/>
          <p:cNvSpPr/>
          <p:nvPr/>
        </p:nvSpPr>
        <p:spPr>
          <a:xfrm rot="16200000">
            <a:off x="5289120" y="2189160"/>
            <a:ext cx="340920" cy="503280"/>
          </a:xfrm>
          <a:prstGeom prst="downArrow">
            <a:avLst>
              <a:gd name="adj1" fmla="val 50000"/>
              <a:gd name="adj2" fmla="val 31216"/>
            </a:avLst>
          </a:prstGeom>
          <a:solidFill>
            <a:srgbClr val="7dd2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6;p16"/>
          <p:cNvSpPr/>
          <p:nvPr/>
        </p:nvSpPr>
        <p:spPr>
          <a:xfrm>
            <a:off x="5711760" y="2054160"/>
            <a:ext cx="1643040" cy="792720"/>
          </a:xfrm>
          <a:prstGeom prst="ellipse">
            <a:avLst/>
          </a:prstGeom>
          <a:solidFill>
            <a:srgbClr val="7fc31c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7;p16"/>
          <p:cNvSpPr/>
          <p:nvPr/>
        </p:nvSpPr>
        <p:spPr>
          <a:xfrm>
            <a:off x="5636160" y="2070360"/>
            <a:ext cx="1858320" cy="81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Contrôles et anonymisation : </a:t>
            </a:r>
            <a:br>
              <a:rPr sz="1500"/>
            </a:br>
            <a:r>
              <a:rPr b="0" lang="fr-FR" sz="15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chiffrage NIR 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8;p16"/>
          <p:cNvSpPr/>
          <p:nvPr/>
        </p:nvSpPr>
        <p:spPr>
          <a:xfrm>
            <a:off x="3289320" y="2908080"/>
            <a:ext cx="2171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Remboursement des offreurs de soin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9;p16"/>
          <p:cNvSpPr/>
          <p:nvPr/>
        </p:nvSpPr>
        <p:spPr>
          <a:xfrm rot="5400000">
            <a:off x="2922480" y="1473840"/>
            <a:ext cx="352080" cy="4333320"/>
          </a:xfrm>
          <a:prstGeom prst="rightBrace">
            <a:avLst>
              <a:gd name="adj1" fmla="val 94965"/>
              <a:gd name="adj2" fmla="val 48861"/>
            </a:avLst>
          </a:prstGeom>
          <a:noFill/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0;p16"/>
          <p:cNvSpPr/>
          <p:nvPr/>
        </p:nvSpPr>
        <p:spPr>
          <a:xfrm rot="5400000">
            <a:off x="9012600" y="2085480"/>
            <a:ext cx="352080" cy="4386960"/>
          </a:xfrm>
          <a:prstGeom prst="rightBrace">
            <a:avLst>
              <a:gd name="adj1" fmla="val 57977"/>
              <a:gd name="adj2" fmla="val 48861"/>
            </a:avLst>
          </a:prstGeom>
          <a:noFill/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21;p16"/>
          <p:cNvSpPr/>
          <p:nvPr/>
        </p:nvSpPr>
        <p:spPr>
          <a:xfrm>
            <a:off x="496800" y="3886560"/>
            <a:ext cx="5395680" cy="9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Données locales nominatives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Remboursement, identification possible, spécificités à chaque régime et caisses locales.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22;p16"/>
          <p:cNvSpPr/>
          <p:nvPr/>
        </p:nvSpPr>
        <p:spPr>
          <a:xfrm>
            <a:off x="6769080" y="4407480"/>
            <a:ext cx="49903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Système National des Données de Santé (SNDS</a:t>
            </a: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Google Shape;123;p16" descr="C:\Users\RUDANT-09690\Pictures\CV anonyme.png"/>
          <p:cNvPicPr/>
          <p:nvPr/>
        </p:nvPicPr>
        <p:blipFill>
          <a:blip r:embed="rId3"/>
          <a:stretch/>
        </p:blipFill>
        <p:spPr>
          <a:xfrm>
            <a:off x="1715760" y="1678320"/>
            <a:ext cx="1133640" cy="66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Google Shape;124;p16"/>
          <p:cNvSpPr/>
          <p:nvPr/>
        </p:nvSpPr>
        <p:spPr>
          <a:xfrm rot="16200000">
            <a:off x="1838880" y="1209600"/>
            <a:ext cx="511560" cy="1870920"/>
          </a:xfrm>
          <a:prstGeom prst="wedgeRoundRectCallout">
            <a:avLst>
              <a:gd name="adj1" fmla="val -39518"/>
              <a:gd name="adj2" fmla="val 75212"/>
              <a:gd name="adj3" fmla="val 16667"/>
            </a:avLst>
          </a:prstGeom>
          <a:solidFill>
            <a:srgbClr val="aac8f8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5;p16"/>
          <p:cNvSpPr/>
          <p:nvPr/>
        </p:nvSpPr>
        <p:spPr>
          <a:xfrm>
            <a:off x="1186200" y="1914120"/>
            <a:ext cx="18169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6;p16"/>
          <p:cNvSpPr/>
          <p:nvPr/>
        </p:nvSpPr>
        <p:spPr>
          <a:xfrm>
            <a:off x="1170360" y="1889280"/>
            <a:ext cx="18709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fiches de remboursement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7;p16"/>
          <p:cNvSpPr/>
          <p:nvPr/>
        </p:nvSpPr>
        <p:spPr>
          <a:xfrm>
            <a:off x="3402720" y="1525320"/>
            <a:ext cx="2171520" cy="369000"/>
          </a:xfrm>
          <a:prstGeom prst="rect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6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caisses primaires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8;p16"/>
          <p:cNvSpPr/>
          <p:nvPr/>
        </p:nvSpPr>
        <p:spPr>
          <a:xfrm>
            <a:off x="7867440" y="1346040"/>
            <a:ext cx="1706040" cy="369000"/>
          </a:xfrm>
          <a:prstGeom prst="rect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6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CNAM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9;p16"/>
          <p:cNvSpPr/>
          <p:nvPr/>
        </p:nvSpPr>
        <p:spPr>
          <a:xfrm>
            <a:off x="6926040" y="5029200"/>
            <a:ext cx="492660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b="1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Base de données nationale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Tous régimes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Chaînées avec les données hospitalières (</a:t>
            </a:r>
            <a:r>
              <a:rPr b="1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PMSI</a:t>
            </a: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programme de médicalisation des systèmes d’information) 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Chaînées avec les certificats des cause de décès</a:t>
            </a:r>
            <a:r>
              <a:rPr b="1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b="1" lang="fr-FR" sz="15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CépiDc</a:t>
            </a: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30;p16"/>
          <p:cNvSpPr/>
          <p:nvPr/>
        </p:nvSpPr>
        <p:spPr>
          <a:xfrm>
            <a:off x="6323040" y="3526200"/>
            <a:ext cx="762120" cy="353520"/>
          </a:xfrm>
          <a:prstGeom prst="rect">
            <a:avLst/>
          </a:prstGeom>
          <a:solidFill>
            <a:schemeClr val="lt1"/>
          </a:solidFill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5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ATIH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1;p16"/>
          <p:cNvSpPr/>
          <p:nvPr/>
        </p:nvSpPr>
        <p:spPr>
          <a:xfrm>
            <a:off x="11161440" y="3544920"/>
            <a:ext cx="928080" cy="353520"/>
          </a:xfrm>
          <a:prstGeom prst="rect">
            <a:avLst/>
          </a:prstGeom>
          <a:solidFill>
            <a:schemeClr val="lt1"/>
          </a:solidFill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5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CépiDc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2;p16"/>
          <p:cNvSpPr/>
          <p:nvPr/>
        </p:nvSpPr>
        <p:spPr>
          <a:xfrm rot="16200000">
            <a:off x="7441200" y="2182680"/>
            <a:ext cx="340920" cy="503280"/>
          </a:xfrm>
          <a:prstGeom prst="downArrow">
            <a:avLst>
              <a:gd name="adj1" fmla="val 50000"/>
              <a:gd name="adj2" fmla="val 31216"/>
            </a:avLst>
          </a:prstGeom>
          <a:solidFill>
            <a:srgbClr val="7dd2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3;p16"/>
          <p:cNvSpPr/>
          <p:nvPr/>
        </p:nvSpPr>
        <p:spPr>
          <a:xfrm>
            <a:off x="6976080" y="2936880"/>
            <a:ext cx="1037520" cy="606240"/>
          </a:xfrm>
          <a:prstGeom prst="can">
            <a:avLst>
              <a:gd name="adj" fmla="val 25000"/>
            </a:avLst>
          </a:prstGeom>
          <a:solidFill>
            <a:srgbClr val="ffcc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4;p16"/>
          <p:cNvSpPr/>
          <p:nvPr/>
        </p:nvSpPr>
        <p:spPr>
          <a:xfrm>
            <a:off x="9372240" y="2929680"/>
            <a:ext cx="1992600" cy="646920"/>
          </a:xfrm>
          <a:prstGeom prst="can">
            <a:avLst>
              <a:gd name="adj" fmla="val 25000"/>
            </a:avLst>
          </a:prstGeom>
          <a:solidFill>
            <a:srgbClr val="ffcc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5;p16"/>
          <p:cNvSpPr/>
          <p:nvPr/>
        </p:nvSpPr>
        <p:spPr>
          <a:xfrm>
            <a:off x="6958440" y="3110760"/>
            <a:ext cx="104904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7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PMSI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6;p16"/>
          <p:cNvSpPr/>
          <p:nvPr/>
        </p:nvSpPr>
        <p:spPr>
          <a:xfrm>
            <a:off x="9389520" y="3106080"/>
            <a:ext cx="199260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700" strike="noStrike" u="none">
                <a:solidFill>
                  <a:srgbClr val="0c419a"/>
                </a:solidFill>
                <a:effectLst/>
                <a:uFillTx/>
                <a:latin typeface="Calibri"/>
                <a:ea typeface="Calibri"/>
              </a:rPr>
              <a:t>Causes de décès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7;p16"/>
          <p:cNvSpPr/>
          <p:nvPr/>
        </p:nvSpPr>
        <p:spPr>
          <a:xfrm>
            <a:off x="6928920" y="3418200"/>
            <a:ext cx="1158120" cy="243000"/>
          </a:xfrm>
          <a:prstGeom prst="ellipse">
            <a:avLst/>
          </a:prstGeom>
          <a:solidFill>
            <a:srgbClr val="7fc31c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8;p16"/>
          <p:cNvSpPr/>
          <p:nvPr/>
        </p:nvSpPr>
        <p:spPr>
          <a:xfrm>
            <a:off x="6986160" y="3390120"/>
            <a:ext cx="11480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00" strike="noStrike" u="none">
                <a:solidFill>
                  <a:srgbClr val="003399"/>
                </a:solidFill>
                <a:effectLst/>
                <a:uFillTx/>
                <a:latin typeface="Arial"/>
                <a:ea typeface="Arial"/>
              </a:rPr>
              <a:t>NIR chiffré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9;p16"/>
          <p:cNvSpPr/>
          <p:nvPr/>
        </p:nvSpPr>
        <p:spPr>
          <a:xfrm>
            <a:off x="9806760" y="3453480"/>
            <a:ext cx="1158120" cy="243000"/>
          </a:xfrm>
          <a:prstGeom prst="ellipse">
            <a:avLst/>
          </a:prstGeom>
          <a:solidFill>
            <a:srgbClr val="7fc31c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40;p16"/>
          <p:cNvSpPr/>
          <p:nvPr/>
        </p:nvSpPr>
        <p:spPr>
          <a:xfrm>
            <a:off x="9842400" y="3426840"/>
            <a:ext cx="11480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00" strike="noStrike" u="none">
                <a:solidFill>
                  <a:srgbClr val="003399"/>
                </a:solidFill>
                <a:effectLst/>
                <a:uFillTx/>
                <a:latin typeface="Arial"/>
                <a:ea typeface="Arial"/>
              </a:rPr>
              <a:t>NIR chiffré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Google Shape;141;p16"/>
          <p:cNvCxnSpPr/>
          <p:nvPr/>
        </p:nvCxnSpPr>
        <p:spPr>
          <a:xfrm flipH="1" flipV="1" rot="5400000">
            <a:off x="7986960" y="2833200"/>
            <a:ext cx="530640" cy="489600"/>
          </a:xfrm>
          <a:prstGeom prst="curvedConnector3">
            <a:avLst>
              <a:gd name="adj1" fmla="val 49966"/>
            </a:avLst>
          </a:prstGeom>
          <a:ln w="19050">
            <a:solidFill>
              <a:srgbClr val="9bbb59"/>
            </a:solidFill>
            <a:round/>
            <a:headEnd len="med" type="stealth" w="med"/>
            <a:tailEnd len="med" type="stealth" w="med"/>
          </a:ln>
        </p:spPr>
      </p:cxnSp>
      <p:cxnSp>
        <p:nvCxnSpPr>
          <p:cNvPr id="114" name="Google Shape;142;p16"/>
          <p:cNvCxnSpPr/>
          <p:nvPr/>
        </p:nvCxnSpPr>
        <p:spPr>
          <a:xfrm rot="10800000">
            <a:off x="8841600" y="2818440"/>
            <a:ext cx="525240" cy="515520"/>
          </a:xfrm>
          <a:prstGeom prst="curvedConnector3">
            <a:avLst>
              <a:gd name="adj1" fmla="val 50000"/>
            </a:avLst>
          </a:prstGeom>
          <a:ln w="19050">
            <a:solidFill>
              <a:srgbClr val="9bbb59"/>
            </a:solidFill>
            <a:round/>
            <a:headEnd len="med" type="stealth" w="med"/>
            <a:tailEnd len="med" type="stealth" w="med"/>
          </a:ln>
        </p:spPr>
      </p:cxnSp>
      <p:sp>
        <p:nvSpPr>
          <p:cNvPr id="115" name="Google Shape;143;p16"/>
          <p:cNvSpPr/>
          <p:nvPr/>
        </p:nvSpPr>
        <p:spPr>
          <a:xfrm>
            <a:off x="391680" y="773280"/>
            <a:ext cx="104641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Janvier 2016 : création par la loi « </a:t>
            </a:r>
            <a:r>
              <a:rPr b="1" lang="fr-FR" sz="2100" strike="noStrike" u="none">
                <a:solidFill>
                  <a:srgbClr val="fe5061"/>
                </a:solidFill>
                <a:effectLst/>
                <a:uFillTx/>
                <a:latin typeface="Arial"/>
                <a:ea typeface="Arial"/>
              </a:rPr>
              <a:t>modernisation de notre système de santé </a:t>
            </a:r>
            <a:r>
              <a:rPr b="1" lang="fr-FR" sz="21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»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4;p16"/>
          <p:cNvSpPr/>
          <p:nvPr/>
        </p:nvSpPr>
        <p:spPr>
          <a:xfrm>
            <a:off x="613080" y="5318640"/>
            <a:ext cx="5605200" cy="11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1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🚀 2021: </a:t>
            </a:r>
            <a:r>
              <a:rPr b="0" lang="fr-FR" sz="21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Accès permanent à la recherche (INRIA, INSERM, hôpitaux…) : profil 108 et formation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3E478D-420A-4B6C-9E06-757563069351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71000" y="95400"/>
            <a:ext cx="11616120" cy="769320"/>
          </a:xfrm>
          <a:prstGeom prst="rect">
            <a:avLst/>
          </a:prstGeom>
          <a:noFill/>
          <a:ln w="0">
            <a:noFill/>
          </a:ln>
        </p:spPr>
        <p:txBody>
          <a:bodyPr lIns="240120" rIns="0" tIns="119880" bIns="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fr-FR" sz="2900" strike="noStrike" u="none">
                <a:solidFill>
                  <a:srgbClr val="ff6168"/>
                </a:solidFill>
                <a:effectLst/>
                <a:uFillTx/>
                <a:latin typeface="Calibri"/>
                <a:ea typeface="Calibri"/>
              </a:rPr>
              <a:t>En résumé, le SNDS est une base riche</a:t>
            </a:r>
            <a:endParaRPr b="0" lang="fr-FR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51;p17"/>
          <p:cNvSpPr/>
          <p:nvPr/>
        </p:nvSpPr>
        <p:spPr>
          <a:xfrm>
            <a:off x="1918800" y="1110960"/>
            <a:ext cx="2912040" cy="671760"/>
          </a:xfrm>
          <a:prstGeom prst="roundRect">
            <a:avLst>
              <a:gd name="adj" fmla="val 16667"/>
            </a:avLst>
          </a:prstGeom>
          <a:solidFill>
            <a:srgbClr val="ff6168"/>
          </a:solidFill>
          <a:ln w="12700">
            <a:solidFill>
              <a:srgbClr val="002b5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Base de donnée populationnelle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52;p17"/>
          <p:cNvSpPr/>
          <p:nvPr/>
        </p:nvSpPr>
        <p:spPr>
          <a:xfrm>
            <a:off x="1936440" y="1780200"/>
            <a:ext cx="2918160" cy="5061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>
            <a:solidFill>
              <a:srgbClr val="18471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lvl="1" marL="177840" indent="-177840" algn="ctr">
              <a:lnSpc>
                <a:spcPct val="100000"/>
              </a:lnSpc>
              <a:buClr>
                <a:srgbClr val="18471a"/>
              </a:buClr>
              <a:buFont typeface="Noto Sans Symbols"/>
              <a:buChar char="✔"/>
            </a:pPr>
            <a:r>
              <a:rPr b="1" lang="fr-FR" sz="1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≃ 68 millions individuals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153;p17" descr=""/>
          <p:cNvPicPr/>
          <p:nvPr/>
        </p:nvPicPr>
        <p:blipFill>
          <a:blip r:embed="rId1"/>
          <a:stretch/>
        </p:blipFill>
        <p:spPr>
          <a:xfrm rot="685800">
            <a:off x="5077080" y="1793880"/>
            <a:ext cx="1803960" cy="554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2" name="Google Shape;154;p17"/>
          <p:cNvGrpSpPr/>
          <p:nvPr/>
        </p:nvGrpSpPr>
        <p:grpSpPr>
          <a:xfrm>
            <a:off x="7084440" y="661320"/>
            <a:ext cx="4548960" cy="1414440"/>
            <a:chOff x="7084440" y="661320"/>
            <a:chExt cx="4548960" cy="1414440"/>
          </a:xfrm>
        </p:grpSpPr>
        <p:sp>
          <p:nvSpPr>
            <p:cNvPr id="123" name="Google Shape;155;p17"/>
            <p:cNvSpPr/>
            <p:nvPr/>
          </p:nvSpPr>
          <p:spPr>
            <a:xfrm>
              <a:off x="7122960" y="661320"/>
              <a:ext cx="3631320" cy="369000"/>
            </a:xfrm>
            <a:prstGeom prst="roundRect">
              <a:avLst>
                <a:gd name="adj" fmla="val 16667"/>
              </a:avLst>
            </a:prstGeom>
            <a:solidFill>
              <a:srgbClr val="004990"/>
            </a:solidFill>
            <a:ln w="12700">
              <a:solidFill>
                <a:srgbClr val="002b5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60840" bIns="608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fr-FR" sz="1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Données de ville (DCIR)</a:t>
              </a:r>
              <a:endParaRPr b="0" lang="fr-FR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Google Shape;156;p17"/>
            <p:cNvSpPr/>
            <p:nvPr/>
          </p:nvSpPr>
          <p:spPr>
            <a:xfrm>
              <a:off x="7084440" y="1027800"/>
              <a:ext cx="4321800" cy="104796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18471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60840" bIns="60840" anchor="ctr">
              <a:noAutofit/>
            </a:bodyPr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300" strike="noStrike" u="none">
                  <a:solidFill>
                    <a:schemeClr val="dk2"/>
                  </a:solidFill>
                  <a:effectLst/>
                  <a:uFillTx/>
                  <a:latin typeface="Arial"/>
                  <a:ea typeface="Arial"/>
                </a:rPr>
                <a:t>Consultations</a:t>
              </a:r>
              <a:endParaRPr b="0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300" strike="noStrike" u="none">
                  <a:solidFill>
                    <a:schemeClr val="dk2"/>
                  </a:solidFill>
                  <a:effectLst/>
                  <a:uFillTx/>
                  <a:latin typeface="Arial"/>
                  <a:ea typeface="Arial"/>
                </a:rPr>
                <a:t>Actes médicaux</a:t>
              </a:r>
              <a:endParaRPr b="0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300" strike="noStrike" u="none">
                  <a:solidFill>
                    <a:schemeClr val="dk2"/>
                  </a:solidFill>
                  <a:effectLst/>
                  <a:uFillTx/>
                  <a:latin typeface="Arial"/>
                  <a:ea typeface="Arial"/>
                </a:rPr>
                <a:t>Examens médicaux</a:t>
              </a:r>
              <a:endParaRPr b="0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400" strike="noStrike" u="none">
                  <a:solidFill>
                    <a:schemeClr val="dk2"/>
                  </a:solidFill>
                  <a:effectLst/>
                  <a:uFillTx/>
                  <a:latin typeface="Calibri"/>
                  <a:ea typeface="Calibri"/>
                </a:rPr>
                <a:t>Médicaments et dispositifs médicaux (remboursés uniquement)</a:t>
              </a:r>
              <a:endPara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" name="Google Shape;157;p17"/>
            <p:cNvGrpSpPr/>
            <p:nvPr/>
          </p:nvGrpSpPr>
          <p:grpSpPr>
            <a:xfrm>
              <a:off x="10754640" y="728280"/>
              <a:ext cx="878760" cy="882720"/>
              <a:chOff x="10754640" y="728280"/>
              <a:chExt cx="878760" cy="882720"/>
            </a:xfrm>
          </p:grpSpPr>
          <p:pic>
            <p:nvPicPr>
              <p:cNvPr id="126" name="Google Shape;158;p17" descr=""/>
              <p:cNvPicPr/>
              <p:nvPr/>
            </p:nvPicPr>
            <p:blipFill>
              <a:blip r:embed="rId2"/>
              <a:stretch/>
            </p:blipFill>
            <p:spPr>
              <a:xfrm>
                <a:off x="10782720" y="728280"/>
                <a:ext cx="850680" cy="867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27" name="Google Shape;159;p17"/>
              <p:cNvSpPr/>
              <p:nvPr/>
            </p:nvSpPr>
            <p:spPr>
              <a:xfrm>
                <a:off x="10754640" y="745200"/>
                <a:ext cx="850680" cy="865800"/>
              </a:xfrm>
              <a:prstGeom prst="ellipse">
                <a:avLst/>
              </a:prstGeom>
              <a:noFill/>
              <a:ln w="57150">
                <a:solidFill>
                  <a:srgbClr val="a3dbd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040" rIns="122040" tIns="60840" bIns="608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8" name="Google Shape;160;p17"/>
          <p:cNvGrpSpPr/>
          <p:nvPr/>
        </p:nvGrpSpPr>
        <p:grpSpPr>
          <a:xfrm>
            <a:off x="7084440" y="2076480"/>
            <a:ext cx="4482000" cy="1136880"/>
            <a:chOff x="7084440" y="2076480"/>
            <a:chExt cx="4482000" cy="1136880"/>
          </a:xfrm>
        </p:grpSpPr>
        <p:sp>
          <p:nvSpPr>
            <p:cNvPr id="129" name="Google Shape;161;p17"/>
            <p:cNvSpPr/>
            <p:nvPr/>
          </p:nvSpPr>
          <p:spPr>
            <a:xfrm>
              <a:off x="7084440" y="2076480"/>
              <a:ext cx="3677760" cy="433440"/>
            </a:xfrm>
            <a:prstGeom prst="roundRect">
              <a:avLst>
                <a:gd name="adj" fmla="val 16667"/>
              </a:avLst>
            </a:prstGeom>
            <a:solidFill>
              <a:srgbClr val="004990"/>
            </a:solidFill>
            <a:ln w="12700">
              <a:solidFill>
                <a:srgbClr val="002b5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60840" bIns="608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fr-FR" sz="1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Hospitalisation (PMSI)</a:t>
              </a:r>
              <a:endParaRPr b="0" lang="fr-FR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Google Shape;162;p17"/>
            <p:cNvSpPr/>
            <p:nvPr/>
          </p:nvSpPr>
          <p:spPr>
            <a:xfrm>
              <a:off x="7089840" y="2521800"/>
              <a:ext cx="4327560" cy="69156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18471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60840" bIns="60840" anchor="ctr">
              <a:noAutofit/>
            </a:bodyPr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400" strike="noStrike" u="none">
                  <a:solidFill>
                    <a:schemeClr val="dk2"/>
                  </a:solidFill>
                  <a:effectLst/>
                  <a:uFillTx/>
                  <a:latin typeface="Calibri"/>
                  <a:ea typeface="Calibri"/>
                </a:rPr>
                <a:t>Séjours </a:t>
              </a:r>
              <a:endPara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300" strike="noStrike" u="none">
                  <a:solidFill>
                    <a:schemeClr val="dk2"/>
                  </a:solidFill>
                  <a:effectLst/>
                  <a:uFillTx/>
                  <a:latin typeface="Arial"/>
                  <a:ea typeface="Arial"/>
                </a:rPr>
                <a:t>Actes et diagnostics</a:t>
              </a:r>
              <a:endParaRPr b="0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300" strike="noStrike" u="none">
                  <a:solidFill>
                    <a:schemeClr val="dk2"/>
                  </a:solidFill>
                  <a:effectLst/>
                  <a:uFillTx/>
                  <a:latin typeface="Arial"/>
                  <a:ea typeface="Arial"/>
                </a:rPr>
                <a:t>Consultations externes</a:t>
              </a:r>
              <a:endParaRPr b="0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1" name="Google Shape;163;p17"/>
            <p:cNvGrpSpPr/>
            <p:nvPr/>
          </p:nvGrpSpPr>
          <p:grpSpPr>
            <a:xfrm>
              <a:off x="10720800" y="2215440"/>
              <a:ext cx="845640" cy="913680"/>
              <a:chOff x="10720800" y="2215440"/>
              <a:chExt cx="845640" cy="913680"/>
            </a:xfrm>
          </p:grpSpPr>
          <p:pic>
            <p:nvPicPr>
              <p:cNvPr id="132" name="Google Shape;164;p17" descr=""/>
              <p:cNvPicPr/>
              <p:nvPr/>
            </p:nvPicPr>
            <p:blipFill>
              <a:blip r:embed="rId3"/>
              <a:stretch/>
            </p:blipFill>
            <p:spPr>
              <a:xfrm>
                <a:off x="10732320" y="2215440"/>
                <a:ext cx="834120" cy="876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33" name="Google Shape;165;p17"/>
              <p:cNvSpPr/>
              <p:nvPr/>
            </p:nvSpPr>
            <p:spPr>
              <a:xfrm>
                <a:off x="10720800" y="2254320"/>
                <a:ext cx="841320" cy="874800"/>
              </a:xfrm>
              <a:prstGeom prst="ellipse">
                <a:avLst/>
              </a:prstGeom>
              <a:noFill/>
              <a:ln w="57150">
                <a:solidFill>
                  <a:srgbClr val="a3dbd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040" rIns="122040" tIns="60840" bIns="608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4" name="Google Shape;166;p17"/>
          <p:cNvGrpSpPr/>
          <p:nvPr/>
        </p:nvGrpSpPr>
        <p:grpSpPr>
          <a:xfrm>
            <a:off x="7355160" y="4357800"/>
            <a:ext cx="4836600" cy="2042640"/>
            <a:chOff x="7355160" y="4357800"/>
            <a:chExt cx="4836600" cy="2042640"/>
          </a:xfrm>
        </p:grpSpPr>
        <p:sp>
          <p:nvSpPr>
            <p:cNvPr id="135" name="Google Shape;167;p17"/>
            <p:cNvSpPr/>
            <p:nvPr/>
          </p:nvSpPr>
          <p:spPr>
            <a:xfrm>
              <a:off x="7362000" y="4357800"/>
              <a:ext cx="3670920" cy="417960"/>
            </a:xfrm>
            <a:prstGeom prst="roundRect">
              <a:avLst>
                <a:gd name="adj" fmla="val 16667"/>
              </a:avLst>
            </a:prstGeom>
            <a:solidFill>
              <a:srgbClr val="004990"/>
            </a:solidFill>
            <a:ln w="12700">
              <a:solidFill>
                <a:srgbClr val="002b5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60840" bIns="608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fr-FR" sz="1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Données patient</a:t>
              </a:r>
              <a:endParaRPr b="0" lang="fr-FR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Google Shape;168;p17"/>
            <p:cNvSpPr/>
            <p:nvPr/>
          </p:nvSpPr>
          <p:spPr>
            <a:xfrm>
              <a:off x="7355160" y="4776120"/>
              <a:ext cx="4244400" cy="162432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>
              <a:solidFill>
                <a:srgbClr val="18471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60840" bIns="60840" anchor="ctr">
              <a:noAutofit/>
            </a:bodyPr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400" strike="noStrike" u="none">
                  <a:solidFill>
                    <a:schemeClr val="dk2"/>
                  </a:solidFill>
                  <a:effectLst/>
                  <a:uFillTx/>
                  <a:latin typeface="Calibri"/>
                  <a:ea typeface="Calibri"/>
                </a:rPr>
                <a:t>Variables démographiques (âge, sexe, commune de résidence, date de naissance et de décès, indice de déprivation sociale)</a:t>
              </a:r>
              <a:endPara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400" strike="noStrike" u="none">
                  <a:solidFill>
                    <a:schemeClr val="dk2"/>
                  </a:solidFill>
                  <a:effectLst/>
                  <a:uFillTx/>
                  <a:latin typeface="Calibri"/>
                  <a:ea typeface="Calibri"/>
                </a:rPr>
                <a:t>Statut Affection de Longue Durée</a:t>
              </a:r>
              <a:endPara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lvl="1" marL="177840" indent="-171360">
                <a:lnSpc>
                  <a:spcPct val="100000"/>
                </a:lnSpc>
                <a:buClr>
                  <a:srgbClr val="000000"/>
                </a:buClr>
                <a:buFont typeface="Noto Sans Symbols"/>
                <a:buChar char="✔"/>
              </a:pPr>
              <a:r>
                <a:rPr b="0" lang="fr-FR" sz="1300" strike="noStrike" u="none">
                  <a:solidFill>
                    <a:schemeClr val="dk2"/>
                  </a:solidFill>
                  <a:effectLst/>
                  <a:uFillTx/>
                  <a:latin typeface="Arial"/>
                  <a:ea typeface="Arial"/>
                </a:rPr>
                <a:t>Classification des dépenses identifiée par la Cnam (“cartographie des pathologies”)</a:t>
              </a:r>
              <a:endParaRPr b="0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" name="Google Shape;169;p17"/>
            <p:cNvGrpSpPr/>
            <p:nvPr/>
          </p:nvGrpSpPr>
          <p:grpSpPr>
            <a:xfrm>
              <a:off x="11359080" y="5206320"/>
              <a:ext cx="832680" cy="788040"/>
              <a:chOff x="11359080" y="5206320"/>
              <a:chExt cx="832680" cy="788040"/>
            </a:xfrm>
          </p:grpSpPr>
          <p:pic>
            <p:nvPicPr>
              <p:cNvPr id="138" name="Google Shape;170;p17" descr=""/>
              <p:cNvPicPr/>
              <p:nvPr/>
            </p:nvPicPr>
            <p:blipFill>
              <a:blip r:embed="rId4"/>
              <a:stretch/>
            </p:blipFill>
            <p:spPr>
              <a:xfrm>
                <a:off x="11368080" y="5229360"/>
                <a:ext cx="814680" cy="742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39" name="Google Shape;171;p17"/>
              <p:cNvSpPr/>
              <p:nvPr/>
            </p:nvSpPr>
            <p:spPr>
              <a:xfrm>
                <a:off x="11359080" y="5206320"/>
                <a:ext cx="832680" cy="788040"/>
              </a:xfrm>
              <a:prstGeom prst="ellipse">
                <a:avLst/>
              </a:prstGeom>
              <a:noFill/>
              <a:ln w="57150">
                <a:solidFill>
                  <a:srgbClr val="a3dbd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040" rIns="122040" tIns="60840" bIns="608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Google Shape;172;p17"/>
          <p:cNvSpPr/>
          <p:nvPr/>
        </p:nvSpPr>
        <p:spPr>
          <a:xfrm>
            <a:off x="288000" y="2522160"/>
            <a:ext cx="55436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0" tIns="90000" bIns="0" anchor="t">
            <a:normAutofit fontScale="92500" lnSpcReduction="19999"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fr-FR" sz="29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…mais complexe et </a:t>
            </a:r>
            <a:br>
              <a:rPr sz="2900"/>
            </a:br>
            <a:r>
              <a:rPr b="1" lang="fr-FR" sz="29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centrée sur les remboursements </a:t>
            </a:r>
            <a:endParaRPr b="0" lang="fr-FR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" name="Google Shape;173;p17"/>
          <p:cNvGrpSpPr/>
          <p:nvPr/>
        </p:nvGrpSpPr>
        <p:grpSpPr>
          <a:xfrm>
            <a:off x="1168560" y="3429000"/>
            <a:ext cx="5111280" cy="3174120"/>
            <a:chOff x="1168560" y="3429000"/>
            <a:chExt cx="5111280" cy="3174120"/>
          </a:xfrm>
        </p:grpSpPr>
        <p:grpSp>
          <p:nvGrpSpPr>
            <p:cNvPr id="142" name="Google Shape;174;p17"/>
            <p:cNvGrpSpPr/>
            <p:nvPr/>
          </p:nvGrpSpPr>
          <p:grpSpPr>
            <a:xfrm>
              <a:off x="1168560" y="3556080"/>
              <a:ext cx="4205160" cy="3047040"/>
              <a:chOff x="1168560" y="3556080"/>
              <a:chExt cx="4205160" cy="3047040"/>
            </a:xfrm>
          </p:grpSpPr>
          <p:sp>
            <p:nvSpPr>
              <p:cNvPr id="143" name="Google Shape;175;p17"/>
              <p:cNvSpPr/>
              <p:nvPr/>
            </p:nvSpPr>
            <p:spPr>
              <a:xfrm>
                <a:off x="1168560" y="3556080"/>
                <a:ext cx="3809880" cy="551160"/>
              </a:xfrm>
              <a:prstGeom prst="roundRect">
                <a:avLst>
                  <a:gd name="adj" fmla="val 16667"/>
                </a:avLst>
              </a:prstGeom>
              <a:solidFill>
                <a:srgbClr val="7030a0"/>
              </a:solidFill>
              <a:ln w="12700">
                <a:solidFill>
                  <a:srgbClr val="002b5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040" rIns="122040" tIns="60840" bIns="608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fr-FR" sz="1500" strike="noStrike" u="none">
                    <a:solidFill>
                      <a:schemeClr val="lt1"/>
                    </a:solidFill>
                    <a:effectLst/>
                    <a:uFillTx/>
                    <a:latin typeface="Arial"/>
                    <a:ea typeface="Arial"/>
                  </a:rPr>
                  <a:t>Informations non disponibles</a:t>
                </a:r>
                <a:endParaRPr b="0" lang="fr-FR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Google Shape;176;p17"/>
              <p:cNvSpPr/>
              <p:nvPr/>
            </p:nvSpPr>
            <p:spPr>
              <a:xfrm>
                <a:off x="1168920" y="4107600"/>
                <a:ext cx="4204800" cy="249552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2700">
                <a:solidFill>
                  <a:srgbClr val="18471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040" rIns="122040" tIns="60840" bIns="60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FR" sz="13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lvl="1" marL="177840" indent="-171360">
                  <a:lnSpc>
                    <a:spcPct val="100000"/>
                  </a:lnSpc>
                  <a:buClr>
                    <a:srgbClr val="000000"/>
                  </a:buClr>
                  <a:buFont typeface="Noto Sans Symbols"/>
                  <a:buChar char="❌"/>
                  <a:tabLst>
                    <a:tab algn="l" pos="0"/>
                  </a:tabLst>
                </a:pPr>
                <a:r>
                  <a:rPr b="0" lang="fr-FR" sz="1300" strike="noStrike" u="none">
                    <a:solidFill>
                      <a:schemeClr val="dk2"/>
                    </a:solidFill>
                    <a:effectLst/>
                    <a:uFillTx/>
                    <a:latin typeface="Arial"/>
                    <a:ea typeface="Arial"/>
                  </a:rPr>
                  <a:t>Résultats d’examen</a:t>
                </a:r>
                <a:endParaRPr b="0" lang="fr-FR" sz="13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lvl="1" marL="177840" indent="-171360">
                  <a:lnSpc>
                    <a:spcPct val="100000"/>
                  </a:lnSpc>
                  <a:buClr>
                    <a:srgbClr val="000000"/>
                  </a:buClr>
                  <a:buFont typeface="Noto Sans Symbols"/>
                  <a:buChar char="❌"/>
                  <a:tabLst>
                    <a:tab algn="l" pos="0"/>
                  </a:tabLst>
                </a:pPr>
                <a:r>
                  <a:rPr b="0" lang="fr-FR" sz="1300" strike="noStrike" u="none">
                    <a:solidFill>
                      <a:schemeClr val="dk2"/>
                    </a:solidFill>
                    <a:effectLst/>
                    <a:uFillTx/>
                    <a:latin typeface="Arial"/>
                    <a:ea typeface="Arial"/>
                  </a:rPr>
                  <a:t>Données cliniques (IMC, pression artérielle, médicaments peu coûtex en hospitalisation…)</a:t>
                </a:r>
                <a:endParaRPr b="0" lang="fr-FR" sz="13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lvl="1" marL="177840" indent="-171360">
                  <a:lnSpc>
                    <a:spcPct val="100000"/>
                  </a:lnSpc>
                  <a:buClr>
                    <a:srgbClr val="000000"/>
                  </a:buClr>
                  <a:buFont typeface="Noto Sans Symbols"/>
                  <a:buChar char="❌"/>
                  <a:tabLst>
                    <a:tab algn="l" pos="0"/>
                  </a:tabLst>
                </a:pPr>
                <a:r>
                  <a:rPr b="0" lang="fr-FR" sz="1400" strike="noStrike" u="none">
                    <a:solidFill>
                      <a:schemeClr val="dk2"/>
                    </a:solidFill>
                    <a:effectLst/>
                    <a:uFillTx/>
                    <a:latin typeface="Calibri"/>
                    <a:ea typeface="Calibri"/>
                  </a:rPr>
                  <a:t>Expositions environnementales (tabac, alcool, nutrition, …)</a:t>
                </a:r>
                <a:endParaRPr b="0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lvl="1" marL="177840" indent="-171360">
                  <a:lnSpc>
                    <a:spcPct val="100000"/>
                  </a:lnSpc>
                  <a:buClr>
                    <a:srgbClr val="000000"/>
                  </a:buClr>
                  <a:buFont typeface="Noto Sans Symbols"/>
                  <a:buChar char="❌"/>
                  <a:tabLst>
                    <a:tab algn="l" pos="0"/>
                  </a:tabLst>
                </a:pPr>
                <a:r>
                  <a:rPr b="0" lang="fr-FR" sz="1400" strike="noStrike" u="none">
                    <a:solidFill>
                      <a:schemeClr val="dk2"/>
                    </a:solidFill>
                    <a:effectLst/>
                    <a:uFillTx/>
                    <a:latin typeface="Calibri"/>
                    <a:ea typeface="Calibri"/>
                  </a:rPr>
                  <a:t>Données socio-économiques (éducation, revenu, …)</a:t>
                </a:r>
                <a:endParaRPr b="0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lvl="1" marL="177840" indent="-171360">
                  <a:lnSpc>
                    <a:spcPct val="100000"/>
                  </a:lnSpc>
                  <a:buClr>
                    <a:srgbClr val="000000"/>
                  </a:buClr>
                  <a:buFont typeface="Noto Sans Symbols"/>
                  <a:buChar char="❌"/>
                  <a:tabLst>
                    <a:tab algn="l" pos="0"/>
                  </a:tabLst>
                </a:pPr>
                <a:r>
                  <a:rPr b="0" lang="fr-FR" sz="1300" strike="noStrike" u="none">
                    <a:solidFill>
                      <a:schemeClr val="dk2"/>
                    </a:solidFill>
                    <a:effectLst/>
                    <a:uFillTx/>
                    <a:latin typeface="Arial"/>
                    <a:ea typeface="Arial"/>
                  </a:rPr>
                  <a:t>Pas de motifs de consultations</a:t>
                </a:r>
                <a:endParaRPr b="0" lang="fr-FR" sz="13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45" name="Google Shape;177;p17" descr=""/>
            <p:cNvPicPr/>
            <p:nvPr/>
          </p:nvPicPr>
          <p:blipFill>
            <a:blip r:embed="rId5"/>
            <a:stretch/>
          </p:blipFill>
          <p:spPr>
            <a:xfrm>
              <a:off x="5199840" y="3429000"/>
              <a:ext cx="1080000" cy="112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6" name="Google Shape;178;p17"/>
          <p:cNvSpPr/>
          <p:nvPr/>
        </p:nvSpPr>
        <p:spPr>
          <a:xfrm>
            <a:off x="5159520" y="3550680"/>
            <a:ext cx="1192320" cy="961200"/>
          </a:xfrm>
          <a:prstGeom prst="mathMultiply">
            <a:avLst>
              <a:gd name="adj1" fmla="val 23520"/>
            </a:avLst>
          </a:prstGeom>
          <a:solidFill>
            <a:srgbClr val="001e3e">
              <a:alpha val="28000"/>
            </a:srgbClr>
          </a:solidFill>
          <a:ln w="12700">
            <a:solidFill>
              <a:srgbClr val="0c0c0c">
                <a:alpha val="32000"/>
              </a:srgbClr>
            </a:solidFill>
            <a:miter/>
          </a:ln>
          <a:effectLst>
            <a:outerShdw algn="ctr" blurRad="1193760" dir="5400000" dist="50760" rotWithShape="0" sx="200000" sy="2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7" name="Google Shape;179;p17"/>
          <p:cNvGrpSpPr/>
          <p:nvPr/>
        </p:nvGrpSpPr>
        <p:grpSpPr>
          <a:xfrm>
            <a:off x="7082640" y="3227400"/>
            <a:ext cx="4505760" cy="1118520"/>
            <a:chOff x="7082640" y="3227400"/>
            <a:chExt cx="4505760" cy="1118520"/>
          </a:xfrm>
        </p:grpSpPr>
        <p:grpSp>
          <p:nvGrpSpPr>
            <p:cNvPr id="148" name="Google Shape;180;p17"/>
            <p:cNvGrpSpPr/>
            <p:nvPr/>
          </p:nvGrpSpPr>
          <p:grpSpPr>
            <a:xfrm>
              <a:off x="7082640" y="3227400"/>
              <a:ext cx="4332960" cy="906480"/>
              <a:chOff x="7082640" y="3227400"/>
              <a:chExt cx="4332960" cy="906480"/>
            </a:xfrm>
          </p:grpSpPr>
          <p:sp>
            <p:nvSpPr>
              <p:cNvPr id="149" name="Google Shape;181;p17"/>
              <p:cNvSpPr/>
              <p:nvPr/>
            </p:nvSpPr>
            <p:spPr>
              <a:xfrm>
                <a:off x="7088400" y="3672720"/>
                <a:ext cx="4327200" cy="46116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2700">
                <a:solidFill>
                  <a:srgbClr val="18471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040" rIns="122040" tIns="60840" bIns="60840" anchor="ctr">
                <a:noAutofit/>
              </a:bodyPr>
              <a:p>
                <a:pPr lvl="1" marL="177840" indent="-171360">
                  <a:lnSpc>
                    <a:spcPct val="100000"/>
                  </a:lnSpc>
                  <a:buClr>
                    <a:srgbClr val="000000"/>
                  </a:buClr>
                  <a:buFont typeface="Noto Sans Symbols"/>
                  <a:buChar char="✔"/>
                </a:pPr>
                <a:r>
                  <a:rPr b="0" lang="fr-FR" sz="1300" strike="noStrike" u="none">
                    <a:solidFill>
                      <a:schemeClr val="dk2"/>
                    </a:solidFill>
                    <a:effectLst/>
                    <a:uFillTx/>
                    <a:latin typeface="Arial"/>
                    <a:ea typeface="Arial"/>
                  </a:rPr>
                  <a:t>Diagnostics des certificats de décès</a:t>
                </a:r>
                <a:endParaRPr b="0" lang="fr-FR" sz="13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Google Shape;182;p17"/>
              <p:cNvSpPr/>
              <p:nvPr/>
            </p:nvSpPr>
            <p:spPr>
              <a:xfrm>
                <a:off x="7082640" y="3227400"/>
                <a:ext cx="3677400" cy="433440"/>
              </a:xfrm>
              <a:prstGeom prst="roundRect">
                <a:avLst>
                  <a:gd name="adj" fmla="val 16667"/>
                </a:avLst>
              </a:prstGeom>
              <a:solidFill>
                <a:srgbClr val="004990"/>
              </a:solidFill>
              <a:ln w="12700">
                <a:solidFill>
                  <a:srgbClr val="002b5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040" rIns="122040" tIns="60840" bIns="608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fr-FR" sz="1500" strike="noStrike" u="none">
                    <a:solidFill>
                      <a:schemeClr val="lt1"/>
                    </a:solidFill>
                    <a:effectLst/>
                    <a:uFillTx/>
                    <a:latin typeface="Arial"/>
                    <a:ea typeface="Arial"/>
                  </a:rPr>
                  <a:t>Causes de décès</a:t>
                </a:r>
                <a:endParaRPr b="0" lang="fr-FR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1" name="Google Shape;183;p17"/>
            <p:cNvGrpSpPr/>
            <p:nvPr/>
          </p:nvGrpSpPr>
          <p:grpSpPr>
            <a:xfrm>
              <a:off x="10747080" y="3471120"/>
              <a:ext cx="841320" cy="874800"/>
              <a:chOff x="10747080" y="3471120"/>
              <a:chExt cx="841320" cy="874800"/>
            </a:xfrm>
          </p:grpSpPr>
          <p:pic>
            <p:nvPicPr>
              <p:cNvPr id="152" name="Google Shape;184;p17" descr=""/>
              <p:cNvPicPr/>
              <p:nvPr/>
            </p:nvPicPr>
            <p:blipFill>
              <a:blip r:embed="rId6"/>
              <a:srcRect l="8422" t="12331" r="7560" b="7955"/>
              <a:stretch/>
            </p:blipFill>
            <p:spPr>
              <a:xfrm>
                <a:off x="10766520" y="3560040"/>
                <a:ext cx="771120" cy="755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53" name="Google Shape;185;p17"/>
              <p:cNvSpPr/>
              <p:nvPr/>
            </p:nvSpPr>
            <p:spPr>
              <a:xfrm>
                <a:off x="10747080" y="3471120"/>
                <a:ext cx="841320" cy="874800"/>
              </a:xfrm>
              <a:prstGeom prst="ellipse">
                <a:avLst/>
              </a:prstGeom>
              <a:noFill/>
              <a:ln w="57150">
                <a:solidFill>
                  <a:srgbClr val="a3dbd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040" rIns="122040" tIns="60840" bIns="608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fr-F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4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285180-3971-49E6-A0D1-622A5A4AAB7D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91;p18"/>
          <p:cNvSpPr/>
          <p:nvPr/>
        </p:nvSpPr>
        <p:spPr>
          <a:xfrm>
            <a:off x="613080" y="224280"/>
            <a:ext cx="100681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Typologie des études basées sur le SNDS (ICM)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2;p18"/>
          <p:cNvSpPr/>
          <p:nvPr/>
        </p:nvSpPr>
        <p:spPr>
          <a:xfrm>
            <a:off x="1290600" y="1185840"/>
            <a:ext cx="329688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0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Etudes descriptives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3;p18"/>
          <p:cNvSpPr/>
          <p:nvPr/>
        </p:nvSpPr>
        <p:spPr>
          <a:xfrm>
            <a:off x="6095880" y="1993680"/>
            <a:ext cx="2999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Comparer l’efficience de différents traitements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4;p18"/>
          <p:cNvSpPr/>
          <p:nvPr/>
        </p:nvSpPr>
        <p:spPr>
          <a:xfrm>
            <a:off x="9144000" y="1162080"/>
            <a:ext cx="29995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0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Etudes prognostiques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5;p18"/>
          <p:cNvSpPr/>
          <p:nvPr/>
        </p:nvSpPr>
        <p:spPr>
          <a:xfrm>
            <a:off x="0" y="2147400"/>
            <a:ext cx="2999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Décrire le statut de santé d’une population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6;p18"/>
          <p:cNvSpPr/>
          <p:nvPr/>
        </p:nvSpPr>
        <p:spPr>
          <a:xfrm>
            <a:off x="2920680" y="2147400"/>
            <a:ext cx="2999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...et identifier les facteurs associés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7;p18"/>
          <p:cNvSpPr/>
          <p:nvPr/>
        </p:nvSpPr>
        <p:spPr>
          <a:xfrm>
            <a:off x="6095880" y="1162080"/>
            <a:ext cx="2999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0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Etudes comparatives</a:t>
            </a:r>
            <a:br>
              <a:rPr sz="2000"/>
            </a:br>
            <a:r>
              <a:rPr b="1" lang="fr-FR" sz="20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(thérapeutiques)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198;p18"/>
          <p:cNvSpPr/>
          <p:nvPr/>
        </p:nvSpPr>
        <p:spPr>
          <a:xfrm>
            <a:off x="9096120" y="1839600"/>
            <a:ext cx="309564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Prédire la progression d’une maladie à partir de caractéristiques individuelles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" name="Google Shape;199;p18"/>
          <p:cNvCxnSpPr>
            <a:stCxn id="156" idx="2"/>
            <a:endCxn id="159" idx="0"/>
          </p:cNvCxnSpPr>
          <p:nvPr/>
        </p:nvCxnSpPr>
        <p:spPr>
          <a:xfrm flipH="1">
            <a:off x="1499760" y="1647360"/>
            <a:ext cx="1439640" cy="500400"/>
          </a:xfrm>
          <a:prstGeom prst="straightConnector1">
            <a:avLst/>
          </a:prstGeom>
          <a:ln w="9525">
            <a:solidFill>
              <a:srgbClr val="1f497d"/>
            </a:solidFill>
            <a:round/>
            <a:tailEnd len="med" type="triangle" w="med"/>
          </a:ln>
        </p:spPr>
      </p:cxnSp>
      <p:cxnSp>
        <p:nvCxnSpPr>
          <p:cNvPr id="164" name="Google Shape;200;p18"/>
          <p:cNvCxnSpPr>
            <a:stCxn id="156" idx="2"/>
            <a:endCxn id="160" idx="0"/>
          </p:cNvCxnSpPr>
          <p:nvPr/>
        </p:nvCxnSpPr>
        <p:spPr>
          <a:xfrm>
            <a:off x="2939040" y="1647360"/>
            <a:ext cx="1481760" cy="500400"/>
          </a:xfrm>
          <a:prstGeom prst="straightConnector1">
            <a:avLst/>
          </a:prstGeom>
          <a:ln w="9525">
            <a:solidFill>
              <a:srgbClr val="1f497d"/>
            </a:solidFill>
            <a:round/>
            <a:tailEnd len="med" type="triangle" w="med"/>
          </a:ln>
        </p:spPr>
      </p:cxnSp>
      <p:cxnSp>
        <p:nvCxnSpPr>
          <p:cNvPr id="165" name="Google Shape;201;p18"/>
          <p:cNvCxnSpPr>
            <a:stCxn id="161" idx="2"/>
            <a:endCxn id="157" idx="0"/>
          </p:cNvCxnSpPr>
          <p:nvPr/>
        </p:nvCxnSpPr>
        <p:spPr>
          <a:xfrm>
            <a:off x="7595640" y="1962000"/>
            <a:ext cx="360" cy="32040"/>
          </a:xfrm>
          <a:prstGeom prst="straightConnector1">
            <a:avLst/>
          </a:prstGeom>
          <a:ln w="9525">
            <a:solidFill>
              <a:srgbClr val="1f497d"/>
            </a:solidFill>
            <a:round/>
            <a:tailEnd len="med" type="triangle" w="med"/>
          </a:ln>
        </p:spPr>
      </p:cxnSp>
      <p:cxnSp>
        <p:nvCxnSpPr>
          <p:cNvPr id="166" name="Google Shape;202;p18"/>
          <p:cNvCxnSpPr>
            <a:stCxn id="158" idx="2"/>
            <a:endCxn id="162" idx="0"/>
          </p:cNvCxnSpPr>
          <p:nvPr/>
        </p:nvCxnSpPr>
        <p:spPr>
          <a:xfrm>
            <a:off x="10643760" y="1654200"/>
            <a:ext cx="360" cy="185760"/>
          </a:xfrm>
          <a:prstGeom prst="straightConnector1">
            <a:avLst/>
          </a:prstGeom>
          <a:ln w="9525">
            <a:solidFill>
              <a:srgbClr val="1f497d"/>
            </a:solidFill>
            <a:round/>
            <a:tailEnd len="med" type="triangle" w="med"/>
          </a:ln>
        </p:spPr>
      </p:cxnSp>
      <p:sp>
        <p:nvSpPr>
          <p:cNvPr id="167" name="Google Shape;203;p18"/>
          <p:cNvSpPr/>
          <p:nvPr/>
        </p:nvSpPr>
        <p:spPr>
          <a:xfrm>
            <a:off x="99720" y="5596920"/>
            <a:ext cx="29995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Incidence de Parkinson en France sur 10 ans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4;p18"/>
          <p:cNvSpPr/>
          <p:nvPr/>
        </p:nvSpPr>
        <p:spPr>
          <a:xfrm>
            <a:off x="6095880" y="5492160"/>
            <a:ext cx="2999520" cy="12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Survie pour deux options de traitement pour la maladie de Parkinson (N=20 000)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5;p18"/>
          <p:cNvSpPr/>
          <p:nvPr/>
        </p:nvSpPr>
        <p:spPr>
          <a:xfrm>
            <a:off x="9248760" y="5481360"/>
            <a:ext cx="2907720" cy="12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Courbes ROC pour l’apparition de démence (prédictions à 2, 5 et 10 ans)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6;p18"/>
          <p:cNvSpPr/>
          <p:nvPr/>
        </p:nvSpPr>
        <p:spPr>
          <a:xfrm>
            <a:off x="3258720" y="5581080"/>
            <a:ext cx="24559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Caractéristiques associés à la maladie d’Alzheimer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Google Shape;207;p18" descr=""/>
          <p:cNvPicPr/>
          <p:nvPr/>
        </p:nvPicPr>
        <p:blipFill>
          <a:blip r:embed="rId1"/>
          <a:stretch/>
        </p:blipFill>
        <p:spPr>
          <a:xfrm>
            <a:off x="9926640" y="3440520"/>
            <a:ext cx="1551960" cy="170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Google Shape;208;p18" descr=""/>
          <p:cNvPicPr/>
          <p:nvPr/>
        </p:nvPicPr>
        <p:blipFill>
          <a:blip r:embed="rId2"/>
          <a:stretch/>
        </p:blipFill>
        <p:spPr>
          <a:xfrm>
            <a:off x="3478680" y="3282840"/>
            <a:ext cx="1690920" cy="187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Google Shape;209;p18" descr=""/>
          <p:cNvPicPr/>
          <p:nvPr/>
        </p:nvPicPr>
        <p:blipFill>
          <a:blip r:embed="rId3"/>
          <a:stretch/>
        </p:blipFill>
        <p:spPr>
          <a:xfrm>
            <a:off x="272880" y="3209040"/>
            <a:ext cx="2652840" cy="187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Google Shape;210;p18" descr=""/>
          <p:cNvPicPr/>
          <p:nvPr/>
        </p:nvPicPr>
        <p:blipFill>
          <a:blip r:embed="rId4"/>
          <a:stretch/>
        </p:blipFill>
        <p:spPr>
          <a:xfrm>
            <a:off x="5906160" y="3366360"/>
            <a:ext cx="3378960" cy="170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PlaceHolder 1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A9D8B6-18FC-4A1C-A37E-E2403F46EBD8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217;p19" descr=""/>
          <p:cNvPicPr/>
          <p:nvPr/>
        </p:nvPicPr>
        <p:blipFill>
          <a:blip r:embed="rId1"/>
          <a:stretch/>
        </p:blipFill>
        <p:spPr>
          <a:xfrm>
            <a:off x="4820760" y="864360"/>
            <a:ext cx="7450920" cy="56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PlaceHolder 1"/>
          <p:cNvSpPr>
            <a:spLocks noGrp="1"/>
          </p:cNvSpPr>
          <p:nvPr>
            <p:ph/>
          </p:nvPr>
        </p:nvSpPr>
        <p:spPr>
          <a:xfrm>
            <a:off x="288000" y="1374120"/>
            <a:ext cx="5046840" cy="50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Biologie (NABM 1260) : </a:t>
            </a: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IgG and IgM anti-CMV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1960"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1960"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Hétérogénéité des pratiques sur le territoire français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482760" indent="-19044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Usage fréquent (&gt; 40%) : 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62120" indent="-18432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7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Île-de-France, Corse, Grand Est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482760" indent="-19044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Moins commun (≈ 15%) :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62120" indent="-18432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7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Bretagne, Normandie, Hauts-de-France, Auvergne-Rhône-Alpes 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title"/>
          </p:nvPr>
        </p:nvSpPr>
        <p:spPr>
          <a:xfrm>
            <a:off x="50040" y="94320"/>
            <a:ext cx="11616120" cy="769320"/>
          </a:xfrm>
          <a:prstGeom prst="rect">
            <a:avLst/>
          </a:prstGeom>
          <a:noFill/>
          <a:ln w="0">
            <a:noFill/>
          </a:ln>
        </p:spPr>
        <p:txBody>
          <a:bodyPr lIns="240120" rIns="0" tIns="119880" bIns="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fr-FR" sz="18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Description des pratiques </a:t>
            </a:r>
            <a:br>
              <a:rPr sz="1800"/>
            </a:br>
            <a:r>
              <a:rPr b="1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Ex. Tests diagnostiques de l’infection à CMV réalisés durant la grossesse (2022-2023)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1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26AC5C-D1CB-4B76-8946-E8AC0FF353B6}" type="slidenum">
              <a:rPr b="0" lang="fr-FR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b="0" lang="fr-F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225;p20"/>
          <p:cNvSpPr/>
          <p:nvPr/>
        </p:nvSpPr>
        <p:spPr>
          <a:xfrm>
            <a:off x="613080" y="224280"/>
            <a:ext cx="1078452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2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Déterminants associés à l’évolution des IJ (arrêts) pour maladie (2019-2024)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F0FEA0-4E80-47EE-AC14-20C8B941CF0E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2" name="Google Shape;227;p20" descr=""/>
          <p:cNvPicPr/>
          <p:nvPr/>
        </p:nvPicPr>
        <p:blipFill>
          <a:blip r:embed="rId1"/>
          <a:stretch/>
        </p:blipFill>
        <p:spPr>
          <a:xfrm>
            <a:off x="2371320" y="852120"/>
            <a:ext cx="8633160" cy="575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233;p21" descr=""/>
          <p:cNvPicPr/>
          <p:nvPr/>
        </p:nvPicPr>
        <p:blipFill>
          <a:blip r:embed="rId1"/>
          <a:stretch/>
        </p:blipFill>
        <p:spPr>
          <a:xfrm>
            <a:off x="1993320" y="1153800"/>
            <a:ext cx="8201520" cy="530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288000" y="221400"/>
            <a:ext cx="11331720" cy="769320"/>
          </a:xfrm>
          <a:prstGeom prst="rect">
            <a:avLst/>
          </a:prstGeom>
          <a:noFill/>
          <a:ln w="0">
            <a:noFill/>
          </a:ln>
        </p:spPr>
        <p:txBody>
          <a:bodyPr lIns="240120" rIns="0" tIns="119880" bIns="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fr-FR" sz="18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Impact des recommandations institutionnelles </a:t>
            </a:r>
            <a:r>
              <a:rPr b="1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Eg. Proton pump inhibitor dispensing trends in children under 1 year of age since 2015 (⚠ WIP)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288000" y="1078560"/>
            <a:ext cx="7983360" cy="49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80880" indent="-26676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0">
              <a:lnSpc>
                <a:spcPct val="15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2120" indent="-76320">
              <a:lnSpc>
                <a:spcPct val="15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36;p21"/>
          <p:cNvSpPr/>
          <p:nvPr/>
        </p:nvSpPr>
        <p:spPr>
          <a:xfrm>
            <a:off x="2728080" y="6034320"/>
            <a:ext cx="420804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37;p21"/>
          <p:cNvSpPr/>
          <p:nvPr/>
        </p:nvSpPr>
        <p:spPr>
          <a:xfrm>
            <a:off x="5486400" y="3016440"/>
            <a:ext cx="12189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38;p21"/>
          <p:cNvSpPr/>
          <p:nvPr/>
        </p:nvSpPr>
        <p:spPr>
          <a:xfrm>
            <a:off x="5486400" y="3016440"/>
            <a:ext cx="12189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39;p21"/>
          <p:cNvSpPr/>
          <p:nvPr/>
        </p:nvSpPr>
        <p:spPr>
          <a:xfrm>
            <a:off x="7800480" y="6124320"/>
            <a:ext cx="1306440" cy="254520"/>
          </a:xfrm>
          <a:prstGeom prst="rect">
            <a:avLst/>
          </a:prstGeom>
          <a:solidFill>
            <a:schemeClr val="lt1"/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40;p21"/>
          <p:cNvSpPr/>
          <p:nvPr/>
        </p:nvSpPr>
        <p:spPr>
          <a:xfrm>
            <a:off x="8927280" y="2472480"/>
            <a:ext cx="972720" cy="427320"/>
          </a:xfrm>
          <a:prstGeom prst="wedgeEllipseCallout">
            <a:avLst>
              <a:gd name="adj1" fmla="val -18949"/>
              <a:gd name="adj2" fmla="val 79640"/>
            </a:avLst>
          </a:prstGeom>
          <a:solidFill>
            <a:schemeClr val="lt1"/>
          </a:solidFill>
          <a:ln w="12700">
            <a:solidFill>
              <a:srgbClr val="ff0000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200" strike="noStrike" u="non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Mars 2024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43"/>
          </p:nvPr>
        </p:nvSpPr>
        <p:spPr>
          <a:xfrm>
            <a:off x="11409120" y="633312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8A86B4-4AF3-42FD-B9E7-7FBD043C362B}" type="slidenum">
              <a:rPr b="0" lang="fr-FR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b="0" lang="fr-F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246;p22"/>
          <p:cNvSpPr/>
          <p:nvPr/>
        </p:nvSpPr>
        <p:spPr>
          <a:xfrm>
            <a:off x="613080" y="224280"/>
            <a:ext cx="1078452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2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Vérification de cohérence du SNDS : visualiser des lignes de traitement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Google Shape;247;p22" descr=""/>
          <p:cNvPicPr/>
          <p:nvPr/>
        </p:nvPicPr>
        <p:blipFill>
          <a:blip r:embed="rId1"/>
          <a:srcRect l="0" t="0" r="52214" b="0"/>
          <a:stretch/>
        </p:blipFill>
        <p:spPr>
          <a:xfrm>
            <a:off x="-55080" y="1564200"/>
            <a:ext cx="3822840" cy="465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Google Shape;248;p22" descr=""/>
          <p:cNvPicPr/>
          <p:nvPr/>
        </p:nvPicPr>
        <p:blipFill>
          <a:blip r:embed="rId2"/>
          <a:stretch/>
        </p:blipFill>
        <p:spPr>
          <a:xfrm>
            <a:off x="7491960" y="1317960"/>
            <a:ext cx="42523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Google Shape;249;p22" descr=""/>
          <p:cNvPicPr/>
          <p:nvPr/>
        </p:nvPicPr>
        <p:blipFill>
          <a:blip r:embed="rId3"/>
          <a:stretch/>
        </p:blipFill>
        <p:spPr>
          <a:xfrm>
            <a:off x="3876840" y="2225520"/>
            <a:ext cx="662760" cy="319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Google Shape;250;p22"/>
          <p:cNvSpPr/>
          <p:nvPr/>
        </p:nvSpPr>
        <p:spPr>
          <a:xfrm>
            <a:off x="3953520" y="1317960"/>
            <a:ext cx="364644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Traitement du patient durant le trimestre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51;p22"/>
          <p:cNvSpPr/>
          <p:nvPr/>
        </p:nvSpPr>
        <p:spPr>
          <a:xfrm>
            <a:off x="4649040" y="2952000"/>
            <a:ext cx="22179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Non Levodopa dépendant (sparing)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52;p22"/>
          <p:cNvSpPr/>
          <p:nvPr/>
        </p:nvSpPr>
        <p:spPr>
          <a:xfrm>
            <a:off x="4649040" y="2375640"/>
            <a:ext cx="23648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Levodopa  dépendant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53;p22"/>
          <p:cNvSpPr/>
          <p:nvPr/>
        </p:nvSpPr>
        <p:spPr>
          <a:xfrm>
            <a:off x="4649040" y="3659040"/>
            <a:ext cx="24706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Pas de traitement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54;p22"/>
          <p:cNvSpPr/>
          <p:nvPr/>
        </p:nvSpPr>
        <p:spPr>
          <a:xfrm>
            <a:off x="4649040" y="4300920"/>
            <a:ext cx="4789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Pas encore observé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55;p22"/>
          <p:cNvSpPr/>
          <p:nvPr/>
        </p:nvSpPr>
        <p:spPr>
          <a:xfrm>
            <a:off x="4649040" y="4942800"/>
            <a:ext cx="9032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Death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sldNum" idx="44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AEC7E9-22B1-4175-A1BE-39116EBC29B8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61;p23"/>
          <p:cNvSpPr/>
          <p:nvPr/>
        </p:nvSpPr>
        <p:spPr>
          <a:xfrm>
            <a:off x="613080" y="224280"/>
            <a:ext cx="76975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Chaîne de traitement typique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sldNum" idx="45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B2596D-9850-4BE1-A30A-332CBE66D4E3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5" name="Google Shape;263;p23" descr=""/>
          <p:cNvPicPr/>
          <p:nvPr/>
        </p:nvPicPr>
        <p:blipFill>
          <a:blip r:embed="rId1"/>
          <a:srcRect l="0" t="11806" r="0" b="9265"/>
          <a:stretch/>
        </p:blipFill>
        <p:spPr>
          <a:xfrm>
            <a:off x="1345680" y="1198080"/>
            <a:ext cx="2949840" cy="47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Google Shape;264;p23" descr=""/>
          <p:cNvPicPr/>
          <p:nvPr/>
        </p:nvPicPr>
        <p:blipFill>
          <a:blip r:embed="rId2"/>
          <a:stretch/>
        </p:blipFill>
        <p:spPr>
          <a:xfrm>
            <a:off x="5312880" y="528840"/>
            <a:ext cx="4409280" cy="542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69;p24"/>
          <p:cNvSpPr/>
          <p:nvPr/>
        </p:nvSpPr>
        <p:spPr>
          <a:xfrm>
            <a:off x="613080" y="224280"/>
            <a:ext cx="954648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Chaîne de traitement typique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Google Shape;270;p24" descr=""/>
          <p:cNvPicPr/>
          <p:nvPr/>
        </p:nvPicPr>
        <p:blipFill>
          <a:blip r:embed="rId1"/>
          <a:srcRect l="0" t="5585" r="0" b="3139"/>
          <a:stretch/>
        </p:blipFill>
        <p:spPr>
          <a:xfrm>
            <a:off x="1408680" y="686160"/>
            <a:ext cx="9302040" cy="570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PlaceHolder 1"/>
          <p:cNvSpPr>
            <a:spLocks noGrp="1"/>
          </p:cNvSpPr>
          <p:nvPr>
            <p:ph type="sldNum" idx="46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63CE41-C309-4F2E-BB0F-D7D15B057041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76;p25"/>
          <p:cNvSpPr/>
          <p:nvPr/>
        </p:nvSpPr>
        <p:spPr>
          <a:xfrm>
            <a:off x="613080" y="224280"/>
            <a:ext cx="102114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Ressources utiles de documentation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Google Shape;277;p25" descr=""/>
          <p:cNvPicPr/>
          <p:nvPr/>
        </p:nvPicPr>
        <p:blipFill>
          <a:blip r:embed="rId1"/>
          <a:stretch/>
        </p:blipFill>
        <p:spPr>
          <a:xfrm>
            <a:off x="1084680" y="3152880"/>
            <a:ext cx="4108320" cy="308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Google Shape;278;p25"/>
          <p:cNvSpPr/>
          <p:nvPr/>
        </p:nvSpPr>
        <p:spPr>
          <a:xfrm>
            <a:off x="524160" y="6146280"/>
            <a:ext cx="483840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https://documentation-snds.health-data-hub.fr/snds/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3" name="Google Shape;279;p25"/>
          <p:cNvCxnSpPr/>
          <p:nvPr/>
        </p:nvCxnSpPr>
        <p:spPr>
          <a:xfrm>
            <a:off x="0" y="2472840"/>
            <a:ext cx="12186720" cy="360"/>
          </a:xfrm>
          <a:prstGeom prst="straightConnector1">
            <a:avLst/>
          </a:prstGeom>
          <a:ln w="9525">
            <a:solidFill>
              <a:srgbClr val="1f497d"/>
            </a:solidFill>
            <a:round/>
          </a:ln>
        </p:spPr>
      </p:cxnSp>
      <p:cxnSp>
        <p:nvCxnSpPr>
          <p:cNvPr id="214" name="Google Shape;280;p25"/>
          <p:cNvCxnSpPr/>
          <p:nvPr/>
        </p:nvCxnSpPr>
        <p:spPr>
          <a:xfrm>
            <a:off x="0" y="713160"/>
            <a:ext cx="12186720" cy="360"/>
          </a:xfrm>
          <a:prstGeom prst="straightConnector1">
            <a:avLst/>
          </a:prstGeom>
          <a:ln w="9525">
            <a:solidFill>
              <a:srgbClr val="1f497d"/>
            </a:solidFill>
            <a:round/>
          </a:ln>
        </p:spPr>
      </p:cxnSp>
      <p:sp>
        <p:nvSpPr>
          <p:cNvPr id="215" name="Google Shape;281;p25"/>
          <p:cNvSpPr/>
          <p:nvPr/>
        </p:nvSpPr>
        <p:spPr>
          <a:xfrm>
            <a:off x="152280" y="892800"/>
            <a:ext cx="6292800" cy="86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Dictionnaire interactif</a:t>
            </a:r>
            <a:br>
              <a:rPr sz="2200"/>
            </a:br>
            <a:r>
              <a:rPr b="0" lang="fr-FR" sz="22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https://health-data-hub.shinyapps.io/dico-snds/</a:t>
            </a: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Google Shape;282;p25" descr=""/>
          <p:cNvPicPr/>
          <p:nvPr/>
        </p:nvPicPr>
        <p:blipFill>
          <a:blip r:embed="rId4"/>
          <a:stretch/>
        </p:blipFill>
        <p:spPr>
          <a:xfrm>
            <a:off x="6359400" y="740880"/>
            <a:ext cx="4838400" cy="164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Google Shape;283;p25"/>
          <p:cNvSpPr/>
          <p:nvPr/>
        </p:nvSpPr>
        <p:spPr>
          <a:xfrm>
            <a:off x="459720" y="2679480"/>
            <a:ext cx="53575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La documentation collaborative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84;p25"/>
          <p:cNvSpPr/>
          <p:nvPr/>
        </p:nvSpPr>
        <p:spPr>
          <a:xfrm>
            <a:off x="6208920" y="6188040"/>
            <a:ext cx="483840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"/>
              </a:rPr>
              <a:t>https://entraide.health-data-hub.fr/categories</a:t>
            </a:r>
            <a:r>
              <a:rPr b="0" lang="fr-FR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85;p25"/>
          <p:cNvSpPr/>
          <p:nvPr/>
        </p:nvSpPr>
        <p:spPr>
          <a:xfrm>
            <a:off x="7657560" y="2679480"/>
            <a:ext cx="20815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Le forum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Google Shape;286;p25" descr=""/>
          <p:cNvPicPr/>
          <p:nvPr/>
        </p:nvPicPr>
        <p:blipFill>
          <a:blip r:embed="rId6"/>
          <a:stretch/>
        </p:blipFill>
        <p:spPr>
          <a:xfrm>
            <a:off x="6516720" y="3226320"/>
            <a:ext cx="4523760" cy="293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PlaceHolder 1"/>
          <p:cNvSpPr>
            <a:spLocks noGrp="1"/>
          </p:cNvSpPr>
          <p:nvPr>
            <p:ph type="sldNum" idx="47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CAD6A2-8413-4913-9A24-D5692FDE1E94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92;p26"/>
          <p:cNvSpPr/>
          <p:nvPr/>
        </p:nvSpPr>
        <p:spPr>
          <a:xfrm>
            <a:off x="218880" y="136080"/>
            <a:ext cx="102114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Ressources de code existantes pour le SNDS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93;p26"/>
          <p:cNvSpPr/>
          <p:nvPr/>
        </p:nvSpPr>
        <p:spPr>
          <a:xfrm>
            <a:off x="334440" y="2644560"/>
            <a:ext cx="302472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0000" lnSpcReduction="19999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BOAS (PDS) : </a:t>
            </a: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des références utiles d’étude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fr-FR" sz="22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Code SAS ad-hoc nécessitant peu configurable, pas de cohérence entre études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94;p26"/>
          <p:cNvSpPr/>
          <p:nvPr/>
        </p:nvSpPr>
        <p:spPr>
          <a:xfrm>
            <a:off x="488520" y="6249960"/>
            <a:ext cx="26744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5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https://gitlab.com/healthdatahub/boas/</a:t>
            </a:r>
            <a:r>
              <a:rPr b="0" lang="fr-FR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Google Shape;295;p26"/>
          <p:cNvCxnSpPr/>
          <p:nvPr/>
        </p:nvCxnSpPr>
        <p:spPr>
          <a:xfrm>
            <a:off x="0" y="2472840"/>
            <a:ext cx="12186720" cy="360"/>
          </a:xfrm>
          <a:prstGeom prst="straightConnector1">
            <a:avLst/>
          </a:prstGeom>
          <a:ln w="9525">
            <a:solidFill>
              <a:srgbClr val="1f497d"/>
            </a:solidFill>
            <a:round/>
          </a:ln>
        </p:spPr>
      </p:cxnSp>
      <p:cxnSp>
        <p:nvCxnSpPr>
          <p:cNvPr id="226" name="Google Shape;296;p26"/>
          <p:cNvCxnSpPr/>
          <p:nvPr/>
        </p:nvCxnSpPr>
        <p:spPr>
          <a:xfrm flipH="1" flipV="1">
            <a:off x="3709080" y="2526120"/>
            <a:ext cx="16560" cy="4169880"/>
          </a:xfrm>
          <a:prstGeom prst="straightConnector1">
            <a:avLst/>
          </a:prstGeom>
          <a:ln w="9525">
            <a:solidFill>
              <a:srgbClr val="1f497d"/>
            </a:solidFill>
            <a:round/>
          </a:ln>
        </p:spPr>
      </p:cxnSp>
      <p:cxnSp>
        <p:nvCxnSpPr>
          <p:cNvPr id="227" name="Google Shape;297;p26"/>
          <p:cNvCxnSpPr/>
          <p:nvPr/>
        </p:nvCxnSpPr>
        <p:spPr>
          <a:xfrm>
            <a:off x="0" y="713160"/>
            <a:ext cx="12186720" cy="360"/>
          </a:xfrm>
          <a:prstGeom prst="straightConnector1">
            <a:avLst/>
          </a:prstGeom>
          <a:ln w="9525">
            <a:solidFill>
              <a:srgbClr val="1f497d"/>
            </a:solidFill>
            <a:round/>
          </a:ln>
        </p:spPr>
      </p:cxnSp>
      <p:sp>
        <p:nvSpPr>
          <p:cNvPr id="228" name="Google Shape;298;p26"/>
          <p:cNvSpPr/>
          <p:nvPr/>
        </p:nvSpPr>
        <p:spPr>
          <a:xfrm>
            <a:off x="6666480" y="2638800"/>
            <a:ext cx="24300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80000"/>
              </a:lnSpc>
              <a:tabLst>
                <a:tab algn="l" pos="0"/>
              </a:tabLst>
            </a:pPr>
            <a:r>
              <a:rPr b="1" lang="fr-FR" sz="141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Scalpel : </a:t>
            </a:r>
            <a:r>
              <a:rPr b="0" lang="fr-FR" sz="141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Initiatives ouverte pour une base de code partagée</a:t>
            </a:r>
            <a:endParaRPr b="0" lang="fr-FR" sz="14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tabLst>
                <a:tab algn="l" pos="0"/>
              </a:tabLst>
            </a:pPr>
            <a:r>
              <a:rPr b="0" i="1" lang="fr-FR" sz="141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Non adaptée à l’infrastructure partagée (actuelle) et difficilement extensible</a:t>
            </a:r>
            <a:endParaRPr b="0" lang="fr-FR" sz="14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9" name="Google Shape;299;p26" descr=""/>
          <p:cNvPicPr/>
          <p:nvPr/>
        </p:nvPicPr>
        <p:blipFill>
          <a:blip r:embed="rId2"/>
          <a:stretch/>
        </p:blipFill>
        <p:spPr>
          <a:xfrm>
            <a:off x="7206120" y="4232880"/>
            <a:ext cx="1350360" cy="175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Google Shape;300;p26"/>
          <p:cNvSpPr/>
          <p:nvPr/>
        </p:nvSpPr>
        <p:spPr>
          <a:xfrm>
            <a:off x="6666480" y="6074640"/>
            <a:ext cx="243000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4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https://github.com/X-DataInitiative/SCALPEL-Flattening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Google Shape;301;p26" descr=""/>
          <p:cNvPicPr/>
          <p:nvPr/>
        </p:nvPicPr>
        <p:blipFill>
          <a:blip r:embed="rId4"/>
          <a:stretch/>
        </p:blipFill>
        <p:spPr>
          <a:xfrm>
            <a:off x="799200" y="3922200"/>
            <a:ext cx="1813320" cy="237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Google Shape;302;p26" descr=""/>
          <p:cNvPicPr/>
          <p:nvPr/>
        </p:nvPicPr>
        <p:blipFill>
          <a:blip r:embed="rId5"/>
          <a:stretch/>
        </p:blipFill>
        <p:spPr>
          <a:xfrm>
            <a:off x="4812120" y="878760"/>
            <a:ext cx="2857320" cy="14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Google Shape;303;p26" descr=""/>
          <p:cNvPicPr/>
          <p:nvPr/>
        </p:nvPicPr>
        <p:blipFill>
          <a:blip r:embed="rId6"/>
          <a:stretch/>
        </p:blipFill>
        <p:spPr>
          <a:xfrm>
            <a:off x="7669440" y="912600"/>
            <a:ext cx="2588760" cy="136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Google Shape;304;p26" descr=""/>
          <p:cNvPicPr/>
          <p:nvPr/>
        </p:nvPicPr>
        <p:blipFill>
          <a:blip r:embed="rId7"/>
          <a:stretch/>
        </p:blipFill>
        <p:spPr>
          <a:xfrm>
            <a:off x="10667160" y="938160"/>
            <a:ext cx="1310040" cy="131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Google Shape;305;p26"/>
          <p:cNvSpPr/>
          <p:nvPr/>
        </p:nvSpPr>
        <p:spPr>
          <a:xfrm>
            <a:off x="71280" y="1044360"/>
            <a:ext cx="465012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8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Plusieurs institutions utilise la base SNDS et ont des bases de code interne construit pendant plusieurs années, mais </a:t>
            </a:r>
            <a:r>
              <a:rPr b="1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rarement publiques</a:t>
            </a: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6" name="Google Shape;306;p26"/>
          <p:cNvCxnSpPr/>
          <p:nvPr/>
        </p:nvCxnSpPr>
        <p:spPr>
          <a:xfrm flipH="1" flipV="1">
            <a:off x="9212040" y="2500560"/>
            <a:ext cx="16560" cy="4169880"/>
          </a:xfrm>
          <a:prstGeom prst="straightConnector1">
            <a:avLst/>
          </a:prstGeom>
          <a:ln w="9525">
            <a:solidFill>
              <a:srgbClr val="1f497d"/>
            </a:solidFill>
            <a:round/>
          </a:ln>
        </p:spPr>
      </p:cxnSp>
      <p:sp>
        <p:nvSpPr>
          <p:cNvPr id="237" name="Google Shape;307;p26"/>
          <p:cNvSpPr/>
          <p:nvPr/>
        </p:nvSpPr>
        <p:spPr>
          <a:xfrm>
            <a:off x="9212040" y="4101120"/>
            <a:ext cx="2999520" cy="22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fr-FR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combicancer (</a:t>
            </a:r>
            <a:r>
              <a:rPr b="0" lang="fr-FR" sz="12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8"/>
              </a:rPr>
              <a:t>https://gitlab.com/healthdatahub/boas/institut-curie/combicancer</a:t>
            </a:r>
            <a:r>
              <a:rPr b="0" lang="fr-FR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), Institut Curie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fr-FR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pysnds (</a:t>
            </a:r>
            <a:r>
              <a:rPr b="0" lang="fr-FR" sz="12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9"/>
              </a:rPr>
              <a:t>github.com/GuyomardMarie/pysnds/</a:t>
            </a:r>
            <a:r>
              <a:rPr b="0" lang="fr-FR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), Aix-Marseille University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fr-FR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sndskit (</a:t>
            </a:r>
            <a:r>
              <a:rPr b="0" lang="fr-FR" sz="12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0"/>
              </a:rPr>
              <a:t>https://github.com/Epiconcept-Paris/sndskit</a:t>
            </a:r>
            <a:r>
              <a:rPr b="0" lang="fr-FR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308;p26"/>
          <p:cNvSpPr/>
          <p:nvPr/>
        </p:nvSpPr>
        <p:spPr>
          <a:xfrm>
            <a:off x="9547200" y="2526120"/>
            <a:ext cx="2430000" cy="9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fr-FR" sz="1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Et d’autres initiatives individuelles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fr-FR" sz="1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Non maintenues, utilisées par de rares personnes, peu d’efforts logiciels (ex. notebooks)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309;p26"/>
          <p:cNvSpPr/>
          <p:nvPr/>
        </p:nvSpPr>
        <p:spPr>
          <a:xfrm>
            <a:off x="3607200" y="2589120"/>
            <a:ext cx="299952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1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Outils_SNDS</a:t>
            </a:r>
            <a:r>
              <a:rPr b="0" lang="fr-FR" sz="1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 (Drugs-Safe-R) : développé activement, beaucoup de choses, cohérence correcte entre scripts</a:t>
            </a:r>
            <a:br>
              <a:rPr sz="1400"/>
            </a:br>
            <a:r>
              <a:rPr b="0" i="1" lang="fr-FR" sz="1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Tout en sas, limitant configuration et bonnes pratiques logicielles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310;p26"/>
          <p:cNvSpPr/>
          <p:nvPr/>
        </p:nvSpPr>
        <p:spPr>
          <a:xfrm>
            <a:off x="3759120" y="6249960"/>
            <a:ext cx="231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fr-FR" sz="11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1"/>
              </a:rPr>
              <a:t>https://gitlab.com/Drugs-Safe-R/Outils_SNDS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1" name="Google Shape;311;p26"/>
          <p:cNvCxnSpPr/>
          <p:nvPr/>
        </p:nvCxnSpPr>
        <p:spPr>
          <a:xfrm flipH="1" flipV="1">
            <a:off x="6534360" y="2588760"/>
            <a:ext cx="16560" cy="4170240"/>
          </a:xfrm>
          <a:prstGeom prst="straightConnector1">
            <a:avLst/>
          </a:prstGeom>
          <a:ln w="9525">
            <a:solidFill>
              <a:srgbClr val="1f497d"/>
            </a:solidFill>
            <a:round/>
          </a:ln>
        </p:spPr>
      </p:cxnSp>
      <p:pic>
        <p:nvPicPr>
          <p:cNvPr id="242" name="Google Shape;312;p26" descr=""/>
          <p:cNvPicPr/>
          <p:nvPr/>
        </p:nvPicPr>
        <p:blipFill>
          <a:blip r:embed="rId12"/>
          <a:srcRect l="2165" t="0" r="49635" b="0"/>
          <a:stretch/>
        </p:blipFill>
        <p:spPr>
          <a:xfrm>
            <a:off x="4360320" y="4066560"/>
            <a:ext cx="1493640" cy="19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PlaceHolder 1"/>
          <p:cNvSpPr>
            <a:spLocks noGrp="1"/>
          </p:cNvSpPr>
          <p:nvPr>
            <p:ph type="sldNum" idx="48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81DFFB-F29F-4789-897A-16D0EB6BD2E5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318;p27"/>
          <p:cNvSpPr/>
          <p:nvPr/>
        </p:nvSpPr>
        <p:spPr>
          <a:xfrm>
            <a:off x="613080" y="224280"/>
            <a:ext cx="102114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Ressources de code existantes pour le SNDS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19;p27"/>
          <p:cNvSpPr/>
          <p:nvPr/>
        </p:nvSpPr>
        <p:spPr>
          <a:xfrm>
            <a:off x="888120" y="1172160"/>
            <a:ext cx="10211400" cy="12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A ce jour, pas de base de code pour de nouveaux acteurs SNDS sur la plateforme historique de la CNAM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le + proche : outils_SNDS (Drugs-Safe-R)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20;p27"/>
          <p:cNvSpPr/>
          <p:nvPr/>
        </p:nvSpPr>
        <p:spPr>
          <a:xfrm>
            <a:off x="547560" y="2581560"/>
            <a:ext cx="3400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21;p27"/>
          <p:cNvSpPr/>
          <p:nvPr/>
        </p:nvSpPr>
        <p:spPr>
          <a:xfrm>
            <a:off x="131400" y="2664360"/>
            <a:ext cx="4380480" cy="12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1155cc"/>
                </a:solidFill>
                <a:effectLst/>
                <a:uFillTx/>
                <a:latin typeface="Arial"/>
                <a:ea typeface="Arial"/>
              </a:rPr>
              <a:t>Conséquences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1155cc"/>
                </a:solidFill>
                <a:effectLst/>
                <a:uFillTx/>
                <a:latin typeface="Arial"/>
                <a:ea typeface="Arial"/>
              </a:rPr>
              <a:t>pour les chercheurs individuels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22;p27"/>
          <p:cNvSpPr/>
          <p:nvPr/>
        </p:nvSpPr>
        <p:spPr>
          <a:xfrm>
            <a:off x="4424760" y="2664360"/>
            <a:ext cx="7679520" cy="19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61800">
              <a:lnSpc>
                <a:spcPct val="115000"/>
              </a:lnSpc>
              <a:spcBef>
                <a:spcPts val="1199"/>
              </a:spcBef>
              <a:buClr>
                <a:srgbClr val="281e78"/>
              </a:buClr>
              <a:buFont typeface="Arial"/>
              <a:buChar char="●"/>
            </a:pP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Réinvention de la roue pour des fonctionnalités basiques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1800">
              <a:lnSpc>
                <a:spcPct val="115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Ré-implementations typiquement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1800">
              <a:lnSpc>
                <a:spcPct val="115000"/>
              </a:lnSpc>
              <a:buClr>
                <a:srgbClr val="281e78"/>
              </a:buClr>
              <a:buFont typeface="Arial"/>
              <a:buChar char="○"/>
            </a:pP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compromis entre qualité et temps 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1800">
              <a:lnSpc>
                <a:spcPct val="115000"/>
              </a:lnSpc>
              <a:buClr>
                <a:srgbClr val="281e78"/>
              </a:buClr>
              <a:buFont typeface="Arial"/>
              <a:buChar char="○"/>
            </a:pP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sous optimisées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1800">
              <a:lnSpc>
                <a:spcPct val="115000"/>
              </a:lnSpc>
              <a:buClr>
                <a:srgbClr val="281e78"/>
              </a:buClr>
              <a:buFont typeface="Arial"/>
              <a:buChar char="○"/>
            </a:pP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Sujettes à erreur et approximation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Google Shape;323;p27" descr=""/>
          <p:cNvPicPr/>
          <p:nvPr/>
        </p:nvPicPr>
        <p:blipFill>
          <a:blip r:embed="rId1"/>
          <a:stretch/>
        </p:blipFill>
        <p:spPr>
          <a:xfrm>
            <a:off x="1729800" y="3742560"/>
            <a:ext cx="1287000" cy="12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Google Shape;324;p27"/>
          <p:cNvSpPr/>
          <p:nvPr/>
        </p:nvSpPr>
        <p:spPr>
          <a:xfrm>
            <a:off x="1371600" y="5661720"/>
            <a:ext cx="96235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1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Temps passé à créer son dataset &gt;&gt; temps restant pour l’analyse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sldNum" idx="49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5ADBF4-39F9-4F0E-8219-57EDB359BA29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30;p28"/>
          <p:cNvSpPr/>
          <p:nvPr/>
        </p:nvSpPr>
        <p:spPr>
          <a:xfrm>
            <a:off x="131400" y="2453040"/>
            <a:ext cx="4380480" cy="20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1155cc"/>
                </a:solidFill>
                <a:effectLst/>
                <a:uFillTx/>
                <a:latin typeface="Arial"/>
                <a:ea typeface="Arial"/>
              </a:rPr>
              <a:t>Conséquences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1155cc"/>
                </a:solidFill>
                <a:effectLst/>
                <a:uFillTx/>
                <a:latin typeface="Arial"/>
                <a:ea typeface="Arial"/>
              </a:rPr>
              <a:t>pour les équipes de recherche, la statistique publique et les agences de santé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31;p28"/>
          <p:cNvSpPr/>
          <p:nvPr/>
        </p:nvSpPr>
        <p:spPr>
          <a:xfrm>
            <a:off x="613080" y="224280"/>
            <a:ext cx="102114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Ressources de code existantes pour le SNDS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32;p28"/>
          <p:cNvSpPr/>
          <p:nvPr/>
        </p:nvSpPr>
        <p:spPr>
          <a:xfrm>
            <a:off x="888120" y="1172160"/>
            <a:ext cx="10211400" cy="12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A ce jour, pas de base de code pour de nouveaux acteurs SNDS sur la plateforme historique de la CNAM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le + proche : outils_SNDS (Drugs-Safe-R)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33;p28"/>
          <p:cNvSpPr/>
          <p:nvPr/>
        </p:nvSpPr>
        <p:spPr>
          <a:xfrm>
            <a:off x="547560" y="2581560"/>
            <a:ext cx="3400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34;p28"/>
          <p:cNvSpPr/>
          <p:nvPr/>
        </p:nvSpPr>
        <p:spPr>
          <a:xfrm>
            <a:off x="4308480" y="2854080"/>
            <a:ext cx="7795440" cy="29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61800">
              <a:lnSpc>
                <a:spcPct val="115000"/>
              </a:lnSpc>
              <a:spcBef>
                <a:spcPts val="1199"/>
              </a:spcBef>
              <a:buClr>
                <a:srgbClr val="281e78"/>
              </a:buClr>
              <a:buFont typeface="Arial"/>
              <a:buChar char="●"/>
            </a:pP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Barrières à l’entrée ⇒ moins d’acteurs utilisant ces données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1800">
              <a:lnSpc>
                <a:spcPct val="115000"/>
              </a:lnSpc>
              <a:spcBef>
                <a:spcPts val="1199"/>
              </a:spcBef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Efforts dupliqués ⇒  gaspillage d’argent et de temps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9"/>
              </a:spcBef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Manque d’uniformité et de reproductibilité pour les datasets SNDS datasets  ⇒ recherche de moins bonne qualité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Google Shape;335;p28" descr=""/>
          <p:cNvPicPr/>
          <p:nvPr/>
        </p:nvPicPr>
        <p:blipFill>
          <a:blip r:embed="rId1"/>
          <a:stretch/>
        </p:blipFill>
        <p:spPr>
          <a:xfrm>
            <a:off x="1796400" y="4659840"/>
            <a:ext cx="866160" cy="86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oogle Shape;336;p28" descr=""/>
          <p:cNvPicPr/>
          <p:nvPr/>
        </p:nvPicPr>
        <p:blipFill>
          <a:blip r:embed="rId2"/>
          <a:stretch/>
        </p:blipFill>
        <p:spPr>
          <a:xfrm>
            <a:off x="929880" y="5360400"/>
            <a:ext cx="866160" cy="86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Google Shape;337;p28" descr=""/>
          <p:cNvPicPr/>
          <p:nvPr/>
        </p:nvPicPr>
        <p:blipFill>
          <a:blip r:embed="rId3"/>
          <a:stretch/>
        </p:blipFill>
        <p:spPr>
          <a:xfrm>
            <a:off x="2662920" y="5360400"/>
            <a:ext cx="866160" cy="86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PlaceHolder 1"/>
          <p:cNvSpPr>
            <a:spLocks noGrp="1"/>
          </p:cNvSpPr>
          <p:nvPr>
            <p:ph type="sldNum" idx="50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834938-C80C-42A7-B427-9C4C8F494195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343;p29"/>
          <p:cNvSpPr/>
          <p:nvPr/>
        </p:nvSpPr>
        <p:spPr>
          <a:xfrm>
            <a:off x="613080" y="224280"/>
            <a:ext cx="76975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Le paquet sndsTools : Objectifs 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44;p29"/>
          <p:cNvSpPr/>
          <p:nvPr/>
        </p:nvSpPr>
        <p:spPr>
          <a:xfrm>
            <a:off x="609480" y="1014120"/>
            <a:ext cx="7462440" cy="51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68280">
              <a:lnSpc>
                <a:spcPct val="200000"/>
              </a:lnSpc>
              <a:spcBef>
                <a:spcPts val="479"/>
              </a:spcBef>
              <a:buClr>
                <a:srgbClr val="281e78"/>
              </a:buClr>
              <a:buFont typeface="Arial"/>
              <a:buChar char="●"/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🔁 Améliorer la reproductibilité entre études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2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📄 Amélioration de la documentation existante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2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🤗 Faciliter l’arrivée de nouveaux arrivants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2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🚀 Accélérer l’extraction de données pour tous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2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🤝 Encourager le partage de code et la transparence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2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🌐 Apports communautaires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sldNum" idx="51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CEE395-48A7-47EB-945F-B3B1EDD4DE10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4" name="Google Shape;346;p29" descr=""/>
          <p:cNvPicPr/>
          <p:nvPr/>
        </p:nvPicPr>
        <p:blipFill>
          <a:blip r:embed="rId1"/>
          <a:srcRect l="0" t="11806" r="0" b="9265"/>
          <a:stretch/>
        </p:blipFill>
        <p:spPr>
          <a:xfrm>
            <a:off x="8737560" y="905760"/>
            <a:ext cx="2949840" cy="47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351;p30"/>
          <p:cNvSpPr/>
          <p:nvPr/>
        </p:nvSpPr>
        <p:spPr>
          <a:xfrm>
            <a:off x="613080" y="224280"/>
            <a:ext cx="76975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Le paquet sndsTools : Historique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52;p30"/>
          <p:cNvSpPr/>
          <p:nvPr/>
        </p:nvSpPr>
        <p:spPr>
          <a:xfrm>
            <a:off x="609480" y="1032480"/>
            <a:ext cx="10911960" cy="51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68280">
              <a:lnSpc>
                <a:spcPct val="200000"/>
              </a:lnSpc>
              <a:spcBef>
                <a:spcPts val="479"/>
              </a:spcBef>
              <a:buClr>
                <a:srgbClr val="003c7c"/>
              </a:buClr>
              <a:buFont typeface="Arial"/>
              <a:buChar char="●"/>
            </a:pPr>
            <a:r>
              <a:rPr b="0" lang="fr-FR" sz="22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2024 :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200000"/>
              </a:lnSpc>
              <a:buClr>
                <a:srgbClr val="281e78"/>
              </a:buClr>
              <a:buFont typeface="Arial"/>
              <a:buChar char="○"/>
            </a:pPr>
            <a:r>
              <a:rPr b="0" lang="fr-FR" sz="22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Organisation d'un atelier</a:t>
            </a:r>
            <a:r>
              <a:rPr b="0" lang="fr-FR" sz="22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 R-SNDS au congrès d'épidémiologie Emois</a:t>
            </a: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200000"/>
              </a:lnSpc>
              <a:buClr>
                <a:srgbClr val="003c7c"/>
              </a:buClr>
              <a:buFont typeface="Arial"/>
              <a:buChar char="○"/>
            </a:pPr>
            <a:r>
              <a:rPr b="0" lang="fr-FR" sz="22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Formaliser de besoins : Collaboration, formation / prise en main R, codes d’extractions basiques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200000"/>
              </a:lnSpc>
              <a:buClr>
                <a:srgbClr val="003c7c"/>
              </a:buClr>
              <a:buFont typeface="Arial"/>
              <a:buChar char="○"/>
            </a:pPr>
            <a:r>
              <a:rPr b="0" lang="fr-FR" sz="22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Echange de code entre HAS, ICM, AP-HM : début de sndsTools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200000"/>
              </a:lnSpc>
              <a:buClr>
                <a:srgbClr val="003c7c"/>
              </a:buClr>
              <a:buFont typeface="Arial"/>
              <a:buChar char="●"/>
            </a:pPr>
            <a:r>
              <a:rPr b="0" lang="fr-FR" sz="22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2025-2026 :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200000"/>
              </a:lnSpc>
              <a:buClr>
                <a:srgbClr val="003c7c"/>
              </a:buClr>
              <a:buFont typeface="Arial"/>
              <a:buChar char="○"/>
            </a:pPr>
            <a:r>
              <a:rPr b="0" lang="fr-FR" sz="22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Utilisation et développement par Insee / ICM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200000"/>
              </a:lnSpc>
              <a:buClr>
                <a:srgbClr val="003c7c"/>
              </a:buClr>
              <a:buFont typeface="Arial"/>
              <a:buChar char="○"/>
            </a:pPr>
            <a:r>
              <a:rPr b="0" lang="fr-FR" sz="22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Intérêts CNAM, Inria, Epiphare, SpF : recherche de financement en cours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sldNum" idx="52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356766-9A4D-4D8B-BE9C-5E5DDCF39642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358;p31"/>
          <p:cNvSpPr/>
          <p:nvPr/>
        </p:nvSpPr>
        <p:spPr>
          <a:xfrm>
            <a:off x="613080" y="224280"/>
            <a:ext cx="1089504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⚙️Fonctionnalités : Qu’y a-t-il dans sndsTools à ce jour  ?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59;p31"/>
          <p:cNvSpPr/>
          <p:nvPr/>
        </p:nvSpPr>
        <p:spPr>
          <a:xfrm>
            <a:off x="609480" y="1027800"/>
            <a:ext cx="6823800" cy="52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Références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https://sndstoolers.github.io/sndsTools/reference/index.html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1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Des fonctions d’extraction </a:t>
            </a: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basiques</a:t>
            </a:r>
            <a:br>
              <a:rPr sz="2400"/>
            </a:br>
            <a:r>
              <a:rPr b="1" lang="fr-FR" sz="24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Un utilitaire pour les </a:t>
            </a:r>
            <a:r>
              <a:rPr b="1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identifiants patients</a:t>
            </a:r>
            <a:br>
              <a:rPr sz="2400"/>
            </a:br>
            <a:r>
              <a:rPr b="1" lang="fr-FR" sz="24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Toutes les fonctions sont </a:t>
            </a:r>
            <a:r>
              <a:rPr b="1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testées </a:t>
            </a: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sur données fictives et SNDS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br>
              <a:rPr sz="2200"/>
            </a:b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Google Shape;360;p31" descr=""/>
          <p:cNvPicPr/>
          <p:nvPr/>
        </p:nvPicPr>
        <p:blipFill>
          <a:blip r:embed="rId2"/>
          <a:stretch/>
        </p:blipFill>
        <p:spPr>
          <a:xfrm>
            <a:off x="7372080" y="5644440"/>
            <a:ext cx="3781080" cy="85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Google Shape;361;p31" descr=""/>
          <p:cNvPicPr/>
          <p:nvPr/>
        </p:nvPicPr>
        <p:blipFill>
          <a:blip r:embed="rId3"/>
          <a:stretch/>
        </p:blipFill>
        <p:spPr>
          <a:xfrm>
            <a:off x="7281360" y="4907520"/>
            <a:ext cx="3871800" cy="6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PlaceHolder 1"/>
          <p:cNvSpPr>
            <a:spLocks noGrp="1"/>
          </p:cNvSpPr>
          <p:nvPr>
            <p:ph type="sldNum" idx="53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C51A0B-AE02-4DC0-933B-AEF0736AAB57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3" name="Google Shape;363;p31" descr=""/>
          <p:cNvPicPr/>
          <p:nvPr/>
        </p:nvPicPr>
        <p:blipFill>
          <a:blip r:embed="rId4"/>
          <a:stretch/>
        </p:blipFill>
        <p:spPr>
          <a:xfrm>
            <a:off x="7372080" y="1463400"/>
            <a:ext cx="4453200" cy="307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368;p32"/>
          <p:cNvSpPr/>
          <p:nvPr/>
        </p:nvSpPr>
        <p:spPr>
          <a:xfrm>
            <a:off x="613080" y="224280"/>
            <a:ext cx="11578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📚 Axe documentaire </a:t>
            </a:r>
            <a:br>
              <a:rPr sz="2400"/>
            </a:b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https://sndstoolers.github.io/sndsTools/reference/extract_consultations_erprsf.html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69;p32"/>
          <p:cNvSpPr/>
          <p:nvPr/>
        </p:nvSpPr>
        <p:spPr>
          <a:xfrm>
            <a:off x="273600" y="1055880"/>
            <a:ext cx="4740120" cy="52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68280">
              <a:lnSpc>
                <a:spcPct val="100000"/>
              </a:lnSpc>
              <a:buClr>
                <a:srgbClr val="281e78"/>
              </a:buClr>
              <a:buFont typeface="Arial"/>
              <a:buChar char="●"/>
            </a:pPr>
            <a:r>
              <a:rPr b="1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API constante </a:t>
            </a: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d’une fonction à l’autre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1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Documentation </a:t>
            </a: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des :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Paramètres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Sorties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Filtres et choix SNDS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682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Liens vers les références si existantes</a:t>
            </a:r>
            <a:br>
              <a:rPr sz="2200"/>
            </a:b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2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roxygen2</a:t>
            </a:r>
            <a:r>
              <a:rPr b="0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permet la gestion dans</a:t>
            </a:r>
            <a:r>
              <a:rPr b="1" lang="fr-FR" sz="22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un seul fichier de la documentation et du code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Google Shape;370;p32" descr=""/>
          <p:cNvPicPr/>
          <p:nvPr/>
        </p:nvPicPr>
        <p:blipFill>
          <a:blip r:embed="rId3"/>
          <a:stretch/>
        </p:blipFill>
        <p:spPr>
          <a:xfrm>
            <a:off x="5014440" y="1396800"/>
            <a:ext cx="7068960" cy="417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PlaceHolder 1"/>
          <p:cNvSpPr>
            <a:spLocks noGrp="1"/>
          </p:cNvSpPr>
          <p:nvPr>
            <p:ph type="sldNum" idx="54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01A1AF-DB7F-4A5D-8FB6-B6144B124192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376;p33"/>
          <p:cNvSpPr/>
          <p:nvPr/>
        </p:nvSpPr>
        <p:spPr>
          <a:xfrm>
            <a:off x="539280" y="1583640"/>
            <a:ext cx="6795720" cy="36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Copier/coller le fichier</a:t>
            </a:r>
            <a:r>
              <a:rPr b="0" lang="fr-FR" sz="21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fr-FR" sz="1800" strike="noStrike" u="none">
                <a:solidFill>
                  <a:srgbClr val="188038"/>
                </a:solidFill>
                <a:effectLst/>
                <a:uFillTx/>
                <a:latin typeface="Arial"/>
                <a:ea typeface="Arial"/>
              </a:rPr>
              <a:t>sndsTools.R</a:t>
            </a:r>
            <a:br>
              <a:rPr sz="1200"/>
            </a:b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fr-FR" sz="18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Sur votre ordinateur (local)</a:t>
            </a:r>
            <a:r>
              <a:rPr b="0" lang="fr-FR" sz="18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 : Télécharger</a:t>
            </a:r>
            <a:r>
              <a:rPr b="0" lang="fr-FR" sz="1800" strike="noStrike" u="sng">
                <a:solidFill>
                  <a:srgbClr val="003c7c"/>
                </a:solidFill>
                <a:effectLst/>
                <a:uFillTx/>
                <a:latin typeface="Arial"/>
                <a:ea typeface="Arial"/>
                <a:hlinkClick r:id="rId1"/>
              </a:rPr>
              <a:t> 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le fichier </a:t>
            </a:r>
            <a:r>
              <a:rPr b="0" lang="fr-FR" sz="1800" strike="noStrike" u="sng">
                <a:solidFill>
                  <a:srgbClr val="0000ee"/>
                </a:solidFill>
                <a:effectLst/>
                <a:uFillTx/>
                <a:latin typeface="Arial"/>
                <a:ea typeface="Arial"/>
                <a:hlinkClick r:id="rId3"/>
              </a:rPr>
              <a:t>sndsTool.R contenant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"/>
              </a:rPr>
              <a:t> toutes les fonctions du paquet disponible sur github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; </a:t>
            </a:r>
            <a:r>
              <a:rPr b="0" lang="fr-FR" sz="18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l’ouvrir et copier son contenu (ctrl+c)</a:t>
            </a:r>
            <a:br>
              <a:rPr sz="1800"/>
            </a:b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fr-FR" sz="18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Sur le portail CNAM </a:t>
            </a:r>
            <a:r>
              <a:rPr b="0" lang="fr-FR" sz="18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: coller le contenu de ce fichier dans un nouveau script R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fr-FR" sz="1800" strike="noStrike" u="none">
                <a:solidFill>
                  <a:srgbClr val="188038"/>
                </a:solidFill>
                <a:effectLst/>
                <a:uFillTx/>
                <a:latin typeface="Arial"/>
                <a:ea typeface="Arial"/>
              </a:rPr>
              <a:t>sndsTools.R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fr-FR" sz="18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(ctrl+v) puis dans votre fichier d‘étude charger les fonctions : </a:t>
            </a:r>
            <a:r>
              <a:rPr b="0" lang="fr-FR" sz="1800" strike="noStrike" u="none">
                <a:solidFill>
                  <a:srgbClr val="188038"/>
                </a:solidFill>
                <a:effectLst/>
                <a:uFillTx/>
                <a:latin typeface="Arial"/>
                <a:ea typeface="Arial"/>
              </a:rPr>
              <a:t>source("sndsTools.R")</a:t>
            </a:r>
            <a:br>
              <a:rPr sz="1800"/>
            </a:br>
            <a:r>
              <a:rPr b="0" lang="fr-FR" sz="1800" strike="noStrike" u="none">
                <a:solidFill>
                  <a:srgbClr val="188038"/>
                </a:solidFill>
                <a:effectLst/>
                <a:uFillTx/>
                <a:latin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fr-FR" sz="21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🚧 Bientôt : </a:t>
            </a:r>
            <a:r>
              <a:rPr b="1" lang="fr-FR" sz="21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paquet installé par la CNAM</a:t>
            </a:r>
            <a:endParaRPr b="0" lang="fr-F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77;p33"/>
          <p:cNvSpPr/>
          <p:nvPr/>
        </p:nvSpPr>
        <p:spPr>
          <a:xfrm>
            <a:off x="613080" y="224280"/>
            <a:ext cx="74152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🐣 Prise en main : Utilisation sur le portail CNAM</a:t>
            </a:r>
            <a:br>
              <a:rPr sz="2400"/>
            </a:br>
            <a:r>
              <a:rPr b="1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"/>
              </a:rPr>
              <a:t>https://sndstoolers.github.io/sndsTools/articles/sndsTools.html</a:t>
            </a:r>
            <a:r>
              <a:rPr b="1" lang="fr-FR" sz="18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  </a:t>
            </a:r>
            <a:br>
              <a:rPr sz="2400"/>
            </a:b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Google Shape;378;p33" descr=""/>
          <p:cNvPicPr/>
          <p:nvPr/>
        </p:nvPicPr>
        <p:blipFill>
          <a:blip r:embed="rId6"/>
          <a:stretch/>
        </p:blipFill>
        <p:spPr>
          <a:xfrm>
            <a:off x="7335360" y="957240"/>
            <a:ext cx="4849920" cy="548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PlaceHolder 1"/>
          <p:cNvSpPr>
            <a:spLocks noGrp="1"/>
          </p:cNvSpPr>
          <p:nvPr>
            <p:ph type="sldNum" idx="55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22CBF3-AADA-40A5-A581-1B98A2FD18B0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384;p34"/>
          <p:cNvSpPr/>
          <p:nvPr/>
        </p:nvSpPr>
        <p:spPr>
          <a:xfrm>
            <a:off x="613080" y="193320"/>
            <a:ext cx="107035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🐣 Axe apprentissage : un tutoriel avec un exemple (simpliste) d’étude </a:t>
            </a:r>
            <a:r>
              <a:rPr b="1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https://sndstoolers.github.io/sndsTools/articles/tutoriel_avc.html</a:t>
            </a:r>
            <a:r>
              <a:rPr b="1" lang="fr-FR" sz="18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85;p34"/>
          <p:cNvSpPr/>
          <p:nvPr/>
        </p:nvSpPr>
        <p:spPr>
          <a:xfrm>
            <a:off x="204840" y="1621080"/>
            <a:ext cx="6493320" cy="36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80880">
              <a:lnSpc>
                <a:spcPct val="1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Patients hospitalisés en MCO pour AVC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Démo des fonctions d’extraction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Le code tourne de façon identique sur :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Le portail CNAM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808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La documentation (données fictives)</a:t>
            </a:r>
            <a:br>
              <a:rPr sz="2400"/>
            </a:b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4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➡️ Documentation et code identiques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Google Shape;386;p34" descr=""/>
          <p:cNvPicPr/>
          <p:nvPr/>
        </p:nvPicPr>
        <p:blipFill>
          <a:blip r:embed="rId2"/>
          <a:stretch/>
        </p:blipFill>
        <p:spPr>
          <a:xfrm>
            <a:off x="6800760" y="1092600"/>
            <a:ext cx="5335920" cy="527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PlaceHolder 1"/>
          <p:cNvSpPr>
            <a:spLocks noGrp="1"/>
          </p:cNvSpPr>
          <p:nvPr>
            <p:ph type="sldNum" idx="56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E2C159-3ECB-4A3E-BD0E-AB5C7068DADB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392;p35"/>
          <p:cNvSpPr/>
          <p:nvPr/>
        </p:nvSpPr>
        <p:spPr>
          <a:xfrm>
            <a:off x="613080" y="224280"/>
            <a:ext cx="1090872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🐣 Prise en main : Développement en local</a:t>
            </a:r>
            <a:br>
              <a:rPr sz="2400"/>
            </a:br>
            <a:r>
              <a:rPr b="1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https://sndstoolers.github.io/sndsTools/articles/sndsTools.html#utilisation</a:t>
            </a:r>
            <a:r>
              <a:rPr b="1" lang="fr-FR" sz="18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   </a:t>
            </a:r>
            <a:br>
              <a:rPr sz="2400"/>
            </a:b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7" name="Google Shape;393;p35" descr=""/>
          <p:cNvPicPr/>
          <p:nvPr/>
        </p:nvPicPr>
        <p:blipFill>
          <a:blip r:embed="rId2"/>
          <a:srcRect l="0" t="41686" r="0" b="0"/>
          <a:stretch/>
        </p:blipFill>
        <p:spPr>
          <a:xfrm>
            <a:off x="4774320" y="1555200"/>
            <a:ext cx="5984280" cy="52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Google Shape;394;p35" descr=""/>
          <p:cNvPicPr/>
          <p:nvPr/>
        </p:nvPicPr>
        <p:blipFill>
          <a:blip r:embed="rId3"/>
          <a:srcRect l="0" t="2698" r="58076" b="80945"/>
          <a:stretch/>
        </p:blipFill>
        <p:spPr>
          <a:xfrm>
            <a:off x="465480" y="1555200"/>
            <a:ext cx="3267720" cy="19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Google Shape;395;p35"/>
          <p:cNvSpPr/>
          <p:nvPr/>
        </p:nvSpPr>
        <p:spPr>
          <a:xfrm>
            <a:off x="465480" y="961560"/>
            <a:ext cx="29995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Installation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96;p35"/>
          <p:cNvSpPr/>
          <p:nvPr/>
        </p:nvSpPr>
        <p:spPr>
          <a:xfrm>
            <a:off x="4774320" y="1001160"/>
            <a:ext cx="72961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Chargement de données synthétiques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Google Shape;397;p35"/>
          <p:cNvCxnSpPr/>
          <p:nvPr/>
        </p:nvCxnSpPr>
        <p:spPr>
          <a:xfrm flipH="1" flipV="1">
            <a:off x="4312440" y="1623240"/>
            <a:ext cx="16560" cy="4170240"/>
          </a:xfrm>
          <a:prstGeom prst="straightConnector1">
            <a:avLst/>
          </a:prstGeom>
          <a:ln w="9525">
            <a:solidFill>
              <a:srgbClr val="1f497d"/>
            </a:solidFill>
            <a:round/>
          </a:ln>
        </p:spPr>
      </p:cxnSp>
      <p:sp>
        <p:nvSpPr>
          <p:cNvPr id="292" name="PlaceHolder 1"/>
          <p:cNvSpPr>
            <a:spLocks noGrp="1"/>
          </p:cNvSpPr>
          <p:nvPr>
            <p:ph type="sldNum" idx="57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4A9DB9-6969-41B9-A672-44D78BBD6977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" dur="indefinite" restart="never" nodeType="tmRoot">
          <p:childTnLst>
            <p:seq>
              <p:cTn id="106" dur="indefinite" nodeType="mainSeq">
                <p:childTnLst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403;p36"/>
          <p:cNvSpPr/>
          <p:nvPr/>
        </p:nvSpPr>
        <p:spPr>
          <a:xfrm>
            <a:off x="448200" y="224280"/>
            <a:ext cx="1157868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📌 Propositions pour les deux prochains jours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404;p36"/>
          <p:cNvSpPr/>
          <p:nvPr/>
        </p:nvSpPr>
        <p:spPr>
          <a:xfrm>
            <a:off x="153000" y="857880"/>
            <a:ext cx="8322120" cy="56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Liste des issues : 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https://github.com/SNDStoolers/sndsTools/issues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479"/>
              </a:spcBef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Plusieurs types de contribution (du moins au + technique) :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800" strike="noStrike" u="none">
                <a:solidFill>
                  <a:srgbClr val="980000"/>
                </a:solidFill>
                <a:effectLst/>
                <a:uFillTx/>
                <a:latin typeface="Arial"/>
                <a:ea typeface="Arial"/>
              </a:rPr>
              <a:t>Idées/issues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: nouvelle fonctionnalité, changement, correction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e6913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800" strike="noStrike" u="none">
                <a:solidFill>
                  <a:srgbClr val="e69138"/>
                </a:solidFill>
                <a:effectLst/>
                <a:uFillTx/>
                <a:latin typeface="Arial"/>
                <a:ea typeface="Arial"/>
              </a:rPr>
              <a:t>Documentation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Revue de code : pull requests 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#86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ou 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#77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6aa84f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8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Code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800" strike="noStrike" u="none">
                <a:solidFill>
                  <a:srgbClr val="9900ff"/>
                </a:solidFill>
                <a:effectLst/>
                <a:uFillTx/>
                <a:latin typeface="Arial"/>
                <a:ea typeface="Arial"/>
              </a:rPr>
              <a:t>Proposition sur l’API</a:t>
            </a:r>
            <a:br>
              <a:rPr sz="1800"/>
            </a:b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Par exemple :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e6913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800" strike="noStrike" u="none">
                <a:solidFill>
                  <a:srgbClr val="e69138"/>
                </a:solidFill>
                <a:effectLst/>
                <a:uFillTx/>
                <a:latin typeface="Arial"/>
                <a:ea typeface="Arial"/>
              </a:rPr>
              <a:t>Lire la documentation et proposer des améliorations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e6913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800" strike="noStrike" u="none">
                <a:solidFill>
                  <a:srgbClr val="e69138"/>
                </a:solidFill>
                <a:effectLst/>
                <a:uFillTx/>
                <a:latin typeface="Arial"/>
                <a:ea typeface="Arial"/>
              </a:rPr>
              <a:t>Documenter les filtres qualité SNDS (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"/>
              </a:rPr>
              <a:t>#46</a:t>
            </a:r>
            <a:r>
              <a:rPr b="0" lang="fr-FR" sz="1800" strike="noStrike" u="none">
                <a:solidFill>
                  <a:srgbClr val="e69138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Extraire dans une constante les clés de jointure du SNDS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"/>
              </a:rPr>
              <a:t>#98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Autres champs PMSI : HAD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6"/>
              </a:rPr>
              <a:t>#97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), SSR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7"/>
              </a:rPr>
              <a:t>#96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), RIMP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8"/>
              </a:rPr>
              <a:t>#95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6aa84f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Biologie dans le DCIR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9"/>
              </a:rPr>
              <a:t>#99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6aa84f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CCAM dans le DCIR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0"/>
              </a:rPr>
              <a:t>#100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 et le PMSI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1"/>
              </a:rPr>
              <a:t>#101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6aa84f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Top pathologies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2"/>
              </a:rPr>
              <a:t>#103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6aa84f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Indemnités journalières dans le DCIR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3"/>
              </a:rPr>
              <a:t>#104</a:t>
            </a: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9900ff"/>
                </a:solidFill>
                <a:effectLst/>
                <a:uFillTx/>
                <a:latin typeface="Arial"/>
                <a:ea typeface="Arial"/>
              </a:rPr>
              <a:t>Extraire la magic loop dans un helper</a:t>
            </a:r>
            <a:r>
              <a:rPr b="0" lang="fr-FR" sz="16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4"/>
              </a:rPr>
              <a:t>#92</a:t>
            </a:r>
            <a:r>
              <a:rPr b="0" lang="fr-FR" sz="16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Médicaments hors GHS dans le PMSI </a:t>
            </a:r>
            <a:r>
              <a:rPr b="0" lang="fr-FR" sz="16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5"/>
              </a:rPr>
              <a:t>#79</a:t>
            </a:r>
            <a:r>
              <a:rPr b="0" lang="fr-FR" sz="16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6aa84f"/>
                </a:solidFill>
                <a:effectLst/>
                <a:uFillTx/>
                <a:latin typeface="Arial"/>
                <a:ea typeface="Arial"/>
              </a:rPr>
              <a:t>Téléconsultations</a:t>
            </a:r>
            <a:r>
              <a:rPr b="0" lang="fr-FR" sz="16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6"/>
              </a:rPr>
              <a:t>#94</a:t>
            </a:r>
            <a:r>
              <a:rPr b="0" lang="fr-FR" sz="16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281e78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600" strike="noStrike" u="none">
                <a:solidFill>
                  <a:srgbClr val="980000"/>
                </a:solidFill>
                <a:effectLst/>
                <a:uFillTx/>
                <a:latin typeface="Arial"/>
                <a:ea typeface="Arial"/>
              </a:rPr>
              <a:t>Idées de nouvelles fonctionnalités avec 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7"/>
              </a:rPr>
              <a:t>Drugs-Safe-R</a:t>
            </a:r>
            <a:r>
              <a:rPr b="0" lang="fr-FR" sz="1600" strike="noStrike" u="none">
                <a:solidFill>
                  <a:srgbClr val="980000"/>
                </a:solidFill>
                <a:effectLst/>
                <a:uFillTx/>
                <a:latin typeface="Arial"/>
                <a:ea typeface="Arial"/>
              </a:rPr>
              <a:t> ou étude Drees (</a:t>
            </a:r>
            <a:r>
              <a:rPr b="0" lang="fr-FR" sz="16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8"/>
              </a:rPr>
              <a:t>#102</a:t>
            </a:r>
            <a:r>
              <a:rPr b="0" lang="fr-FR" sz="1600" strike="noStrike" u="none">
                <a:solidFill>
                  <a:srgbClr val="980000"/>
                </a:solidFill>
                <a:effectLst/>
                <a:uFillTx/>
                <a:latin typeface="Arial"/>
                <a:ea typeface="Arial"/>
              </a:rPr>
              <a:t>)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sldNum" idx="58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9CFEAF-F6F1-466E-968D-8A83AC9A5E16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6" name="Google Shape;406;p36" descr=""/>
          <p:cNvPicPr/>
          <p:nvPr/>
        </p:nvPicPr>
        <p:blipFill>
          <a:blip r:embed="rId19"/>
          <a:stretch/>
        </p:blipFill>
        <p:spPr>
          <a:xfrm>
            <a:off x="8475480" y="224280"/>
            <a:ext cx="3368880" cy="782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411;p37"/>
          <p:cNvSpPr/>
          <p:nvPr/>
        </p:nvSpPr>
        <p:spPr>
          <a:xfrm>
            <a:off x="613080" y="224280"/>
            <a:ext cx="1157868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📌 Quelques pages utiles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412;p37"/>
          <p:cNvSpPr/>
          <p:nvPr/>
        </p:nvSpPr>
        <p:spPr>
          <a:xfrm>
            <a:off x="613080" y="901080"/>
            <a:ext cx="6795720" cy="52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43080">
              <a:lnSpc>
                <a:spcPct val="100000"/>
              </a:lnSpc>
              <a:spcBef>
                <a:spcPts val="479"/>
              </a:spcBef>
              <a:buClr>
                <a:srgbClr val="281e78"/>
              </a:buClr>
              <a:buFont typeface="Arial"/>
              <a:buChar char="●"/>
            </a:pP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Guide de contribution : 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https://sndstoolers.github.io/sndsTools/articles/contribuer.html#comment-contribuer-concr%C3%A8tement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br>
              <a:rPr sz="1800"/>
            </a:b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Guide de l’API : 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https://sndstoolers.github.io/sndsTools/articles/contribuer.html#api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br>
              <a:rPr sz="1800"/>
            </a:b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Le dictionnaire interactif des variables : 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https://health-data-hub.shinyapps.io/dico-snds/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br>
              <a:rPr sz="1800"/>
            </a:b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281e78"/>
              </a:buClr>
              <a:buFont typeface="Arial"/>
              <a:buChar char="●"/>
            </a:pP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La documentation collaborative du SNDS :  </a:t>
            </a:r>
            <a:r>
              <a:rPr b="0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"/>
              </a:rPr>
              <a:t>https://documentation-snds.health-data-hub.fr/snds/</a:t>
            </a: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 </a:t>
            </a:r>
            <a:br>
              <a:rPr sz="1800"/>
            </a:br>
            <a:r>
              <a:rPr b="0" lang="fr-FR" sz="18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Google Shape;413;p37" descr=""/>
          <p:cNvPicPr/>
          <p:nvPr/>
        </p:nvPicPr>
        <p:blipFill>
          <a:blip r:embed="rId5"/>
          <a:stretch/>
        </p:blipFill>
        <p:spPr>
          <a:xfrm>
            <a:off x="7565400" y="497880"/>
            <a:ext cx="4323600" cy="54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PlaceHolder 1"/>
          <p:cNvSpPr>
            <a:spLocks noGrp="1"/>
          </p:cNvSpPr>
          <p:nvPr>
            <p:ph type="sldNum" idx="59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56AD26-043E-4EB2-A25E-28461B200FC6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419;p38"/>
          <p:cNvSpPr/>
          <p:nvPr/>
        </p:nvSpPr>
        <p:spPr>
          <a:xfrm>
            <a:off x="915480" y="1179720"/>
            <a:ext cx="5733720" cy="37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Antoine Belloir (ICM)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Thomas Soeiro (AP-HM)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Marc Dibbling (ICM)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Leo Guillon (ICM)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Thomas Nédelec (ICM)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Judith Abecassis (Inria)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Catherine Bisquet (HAS)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Nelly Leguen (HAS)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Gladys Baudet (Drees)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3c7c"/>
                </a:solidFill>
                <a:effectLst/>
                <a:uFillTx/>
                <a:latin typeface="Arial"/>
                <a:ea typeface="Arial"/>
              </a:rPr>
              <a:t>Nicolas Minier (Epiphare)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420;p38"/>
          <p:cNvSpPr/>
          <p:nvPr/>
        </p:nvSpPr>
        <p:spPr>
          <a:xfrm>
            <a:off x="0" y="0"/>
            <a:ext cx="64310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Merci à tous les contributeurs !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sldNum" idx="60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5F4FD8-5ACF-4BB7-BF09-A8BB3FF18D4D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426;p39"/>
          <p:cNvSpPr/>
          <p:nvPr/>
        </p:nvSpPr>
        <p:spPr>
          <a:xfrm>
            <a:off x="4256640" y="2812320"/>
            <a:ext cx="36061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Slides supplémentaires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sldNum" idx="61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2086BD-9419-4097-9C1F-D980EE3E4066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432;p40"/>
          <p:cNvSpPr/>
          <p:nvPr/>
        </p:nvSpPr>
        <p:spPr>
          <a:xfrm>
            <a:off x="613080" y="224280"/>
            <a:ext cx="115786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Une comparaison R natif vs sndsTools</a:t>
            </a:r>
            <a:br>
              <a:rPr sz="2400"/>
            </a:br>
            <a:r>
              <a:rPr b="1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https://sndstoolers.github.io/sndsTools/articles/benchmark_sndstools_vs_r.html</a:t>
            </a:r>
            <a:r>
              <a:rPr b="1" lang="fr-FR" sz="18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 </a:t>
            </a:r>
            <a:br>
              <a:rPr sz="200"/>
            </a:b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433;p40"/>
          <p:cNvSpPr/>
          <p:nvPr/>
        </p:nvSpPr>
        <p:spPr>
          <a:xfrm>
            <a:off x="491400" y="1561320"/>
            <a:ext cx="4740120" cy="38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❓</a:t>
            </a: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Est-ce qu’il y a une différence de résultats entre une requête native en R et l’utilisation de sndsTools ?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7476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Même résultats</a:t>
            </a:r>
            <a:br>
              <a:rPr sz="2300"/>
            </a:b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7476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sndsTools plus lent car boucle sur les mois (bonnes pratiques CNAM)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Google Shape;434;p40" descr=""/>
          <p:cNvPicPr/>
          <p:nvPr/>
        </p:nvPicPr>
        <p:blipFill>
          <a:blip r:embed="rId2"/>
          <a:stretch/>
        </p:blipFill>
        <p:spPr>
          <a:xfrm>
            <a:off x="5965200" y="3739680"/>
            <a:ext cx="4302000" cy="30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Google Shape;435;p40" descr=""/>
          <p:cNvPicPr/>
          <p:nvPr/>
        </p:nvPicPr>
        <p:blipFill>
          <a:blip r:embed="rId3"/>
          <a:stretch/>
        </p:blipFill>
        <p:spPr>
          <a:xfrm>
            <a:off x="5836320" y="997560"/>
            <a:ext cx="5487480" cy="270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PlaceHolder 1"/>
          <p:cNvSpPr>
            <a:spLocks noGrp="1"/>
          </p:cNvSpPr>
          <p:nvPr>
            <p:ph type="sldNum" idx="62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E83E77-B1EE-455D-8CD5-186479A533B9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441;p41"/>
          <p:cNvSpPr/>
          <p:nvPr/>
        </p:nvSpPr>
        <p:spPr>
          <a:xfrm>
            <a:off x="613080" y="224280"/>
            <a:ext cx="115786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6168"/>
                </a:solidFill>
                <a:effectLst/>
                <a:uFillTx/>
                <a:latin typeface="Arial"/>
                <a:ea typeface="Arial"/>
              </a:rPr>
              <a:t>Un benchmark de temps d’extraction </a:t>
            </a:r>
            <a:r>
              <a:rPr b="1" lang="fr-FR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https://sndstoolers.github.io/sndsTools/articles/benchmark_dplyr_vs_rsql.html</a:t>
            </a:r>
            <a:r>
              <a:rPr b="1" lang="fr-FR" sz="1800" strike="noStrike" u="none">
                <a:solidFill>
                  <a:srgbClr val="fa4616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42;p41"/>
          <p:cNvSpPr/>
          <p:nvPr/>
        </p:nvSpPr>
        <p:spPr>
          <a:xfrm>
            <a:off x="457200" y="1561320"/>
            <a:ext cx="5275440" cy="44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❓</a:t>
            </a: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Différence de temps d’extraction entre syntaxe dplyr et syntaxe sql ? 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7476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Requête simple mais volumineuse sur ER_PRS_F, ER_PHA_F et ER_ETE_F</a:t>
            </a:r>
            <a:br>
              <a:rPr sz="2300"/>
            </a:b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</a:rPr>
              <a:t> 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7476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Cas d’étude : Vitamin C sur différente périodes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74760">
              <a:lnSpc>
                <a:spcPct val="100000"/>
              </a:lnSpc>
              <a:buClr>
                <a:srgbClr val="281e78"/>
              </a:buClr>
              <a:buFont typeface="Arial"/>
              <a:buChar char="●"/>
              <a:tabLst>
                <a:tab algn="l" pos="0"/>
              </a:tabLst>
            </a:pPr>
            <a:r>
              <a:rPr b="0" lang="fr-FR" sz="2300" strike="noStrike" u="none">
                <a:solidFill>
                  <a:srgbClr val="281e78"/>
                </a:solidFill>
                <a:effectLst/>
                <a:uFillTx/>
                <a:latin typeface="Arial"/>
                <a:ea typeface="Arial"/>
              </a:rPr>
              <a:t>Conclusion : Pas de différences !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Google Shape;443;p41" descr=""/>
          <p:cNvPicPr/>
          <p:nvPr/>
        </p:nvPicPr>
        <p:blipFill>
          <a:blip r:embed="rId2"/>
          <a:stretch/>
        </p:blipFill>
        <p:spPr>
          <a:xfrm>
            <a:off x="6019920" y="1191960"/>
            <a:ext cx="5222520" cy="522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PlaceHolder 1"/>
          <p:cNvSpPr>
            <a:spLocks noGrp="1"/>
          </p:cNvSpPr>
          <p:nvPr>
            <p:ph type="sldNum" idx="63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C16F44-F2CE-4597-B4F9-34504437D772}" type="slidenum">
              <a:rPr b="0" lang="fr-F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cp:revision>0</cp:revision>
  <dc:subject/>
  <dc:title/>
</cp:coreProperties>
</file>