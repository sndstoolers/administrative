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126fc84d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4126fc84df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126fc84df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4126fc84df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4126fc84df_0_2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126fc84df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4126fc84df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4126fc84df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1f00aa06e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41f00aa06e_1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18a81988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418a81988f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1c2c436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41c2c4361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1f00aa06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41f00aa06e_1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80d1c31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80d1c3114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41f00aa06e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41f00aa06e_1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1f00aa06e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41f00aa06e_1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280041b5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4280041b5e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280041b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4280041b5e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80d1c311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b80d1c3114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280041b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4280041b5e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280041b5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4280041b5e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2d73cab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42d73cabe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4280041b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4280041b5e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hyperlink" Target="https://documentation-snds.health-data-hub.fr/snds/" TargetMode="External"/><Relationship Id="rId5" Type="http://schemas.openxmlformats.org/officeDocument/2006/relationships/hyperlink" Target="https://health-data-hub.shinyapps.io/dico-snds/" TargetMode="External"/><Relationship Id="rId6" Type="http://schemas.openxmlformats.org/officeDocument/2006/relationships/image" Target="../media/image29.png"/><Relationship Id="rId7" Type="http://schemas.openxmlformats.org/officeDocument/2006/relationships/hyperlink" Target="https://entraide.health-data-hub.fr/categories" TargetMode="External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lab.com/healthdatahub/boas/" TargetMode="External"/><Relationship Id="rId4" Type="http://schemas.openxmlformats.org/officeDocument/2006/relationships/image" Target="../media/image37.png"/><Relationship Id="rId9" Type="http://schemas.openxmlformats.org/officeDocument/2006/relationships/image" Target="../media/image22.png"/><Relationship Id="rId5" Type="http://schemas.openxmlformats.org/officeDocument/2006/relationships/hyperlink" Target="https://github.com/X-DataInitiative/SCALPEL-Flattening" TargetMode="External"/><Relationship Id="rId6" Type="http://schemas.openxmlformats.org/officeDocument/2006/relationships/image" Target="../media/image31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ndstoolers.github.io/sndsTools/reference/index.html" TargetMode="External"/><Relationship Id="rId4" Type="http://schemas.openxmlformats.org/officeDocument/2006/relationships/hyperlink" Target="https://github.com/SNDStoolers/sndsTools/pull/69" TargetMode="External"/><Relationship Id="rId5" Type="http://schemas.openxmlformats.org/officeDocument/2006/relationships/hyperlink" Target="https://github.com/SNDStoolers/sndsTools/pull/64" TargetMode="External"/><Relationship Id="rId6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roxygen2.r-lib.org/index.html" TargetMode="External"/><Relationship Id="rId4" Type="http://schemas.openxmlformats.org/officeDocument/2006/relationships/image" Target="../media/image21.png"/><Relationship Id="rId5" Type="http://schemas.openxmlformats.org/officeDocument/2006/relationships/hyperlink" Target="https://sndstoolers.github.io/sndsTools/reference/extract_consultations_erprsf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ndstoolers.github.io/sndsTools/pr-preview/pr-69/articles/tutoriel_avc.html" TargetMode="External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SNDStoolers/sndsTools/issues" TargetMode="External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ndstoolers.github.io/sndsTools/articles/benchmark_dplyr_vs_rsql.html" TargetMode="Externa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721793" y="2473506"/>
            <a:ext cx="107484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680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sndsTools</a:t>
            </a:r>
            <a:endParaRPr b="1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010727" y="4256950"/>
            <a:ext cx="52644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Matthieu Doutreligne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Insee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dk1"/>
                </a:solidFill>
              </a:rPr>
              <a:t>2026-01-26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0019992" y="5999396"/>
            <a:ext cx="1351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24/03/2025</a:t>
            </a:r>
            <a:endParaRPr/>
          </a:p>
        </p:txBody>
      </p:sp>
      <p:cxnSp>
        <p:nvCxnSpPr>
          <p:cNvPr id="93" name="Google Shape;93;p15"/>
          <p:cNvCxnSpPr/>
          <p:nvPr/>
        </p:nvCxnSpPr>
        <p:spPr>
          <a:xfrm>
            <a:off x="10019992" y="5709981"/>
            <a:ext cx="1351386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66126" cy="79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horloge, signe&#10;&#10;Description générée automatiquement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3647" y="202900"/>
            <a:ext cx="2484275" cy="6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1935275" y="3504425"/>
            <a:ext cx="10818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An R package to simplify SNDS data extraction</a:t>
            </a:r>
            <a:endParaRPr b="1" sz="32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504450" y="5706925"/>
            <a:ext cx="8142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500">
                <a:solidFill>
                  <a:schemeClr val="dk1"/>
                </a:solidFill>
              </a:rPr>
              <a:t>Some slides from Antoine Belloir and Marc Dibbling</a:t>
            </a:r>
            <a:endParaRPr i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13029" y="224300"/>
            <a:ext cx="54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 sources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descr="Accueil | SNDS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6730" y="1559030"/>
            <a:ext cx="2102640" cy="934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 rot="5400000">
            <a:off x="4211399" y="2676800"/>
            <a:ext cx="328200" cy="258300"/>
          </a:xfrm>
          <a:prstGeom prst="rightArrow">
            <a:avLst>
              <a:gd fmla="val 50000" name="adj1"/>
              <a:gd fmla="val 34252" name="adj2"/>
            </a:avLst>
          </a:prstGeom>
          <a:solidFill>
            <a:srgbClr val="0C41A4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867398" y="1912197"/>
            <a:ext cx="1706400" cy="9045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141372" y="2484573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212023" y="2457301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fr-FR" sz="1000">
                <a:solidFill>
                  <a:srgbClr val="003399"/>
                </a:solidFill>
              </a:rPr>
              <a:t>encrypted </a:t>
            </a:r>
            <a:r>
              <a:rPr b="1" lang="fr-FR" sz="10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NIR</a:t>
            </a:r>
            <a:endParaRPr sz="1500"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908" y="1672176"/>
            <a:ext cx="1006698" cy="130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204855" y="2526929"/>
            <a:ext cx="2056200" cy="538500"/>
          </a:xfrm>
          <a:prstGeom prst="wedgeRoundRectCallout">
            <a:avLst>
              <a:gd fmla="val 62292" name="adj1"/>
              <a:gd fmla="val -36344" name="adj2"/>
              <a:gd fmla="val 16667" name="adj3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Data on healthcare providers</a:t>
            </a:r>
            <a:endParaRPr sz="1900"/>
          </a:p>
        </p:txBody>
      </p:sp>
      <p:sp>
        <p:nvSpPr>
          <p:cNvPr id="110" name="Google Shape;110;p16"/>
          <p:cNvSpPr/>
          <p:nvPr/>
        </p:nvSpPr>
        <p:spPr>
          <a:xfrm>
            <a:off x="3553790" y="2285145"/>
            <a:ext cx="1643400" cy="328800"/>
          </a:xfrm>
          <a:prstGeom prst="roundRect">
            <a:avLst>
              <a:gd fmla="val 16667" name="adj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029791" y="2195228"/>
            <a:ext cx="1330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DCIR</a:t>
            </a:r>
            <a:endParaRPr sz="1900"/>
          </a:p>
        </p:txBody>
      </p:sp>
      <p:sp>
        <p:nvSpPr>
          <p:cNvPr id="112" name="Google Shape;112;p16"/>
          <p:cNvSpPr txBox="1"/>
          <p:nvPr/>
        </p:nvSpPr>
        <p:spPr>
          <a:xfrm>
            <a:off x="3650392" y="2294282"/>
            <a:ext cx="145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Counting</a:t>
            </a:r>
            <a:endParaRPr sz="1900"/>
          </a:p>
        </p:txBody>
      </p:sp>
      <p:sp>
        <p:nvSpPr>
          <p:cNvPr id="113" name="Google Shape;113;p16"/>
          <p:cNvSpPr/>
          <p:nvPr/>
        </p:nvSpPr>
        <p:spPr>
          <a:xfrm rot="-5400000">
            <a:off x="5289344" y="2188998"/>
            <a:ext cx="341100" cy="503700"/>
          </a:xfrm>
          <a:prstGeom prst="downArrow">
            <a:avLst>
              <a:gd fmla="val 50000" name="adj1"/>
              <a:gd fmla="val 31216" name="adj2"/>
            </a:avLst>
          </a:prstGeom>
          <a:solidFill>
            <a:srgbClr val="7DD2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711582" y="2054025"/>
            <a:ext cx="1643400" cy="7932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636009" y="2070471"/>
            <a:ext cx="1858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Controls and a</a:t>
            </a: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nonymisation : </a:t>
            </a:r>
            <a:b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NIR </a:t>
            </a: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encryption </a:t>
            </a:r>
            <a:endParaRPr sz="1900"/>
          </a:p>
        </p:txBody>
      </p:sp>
      <p:sp>
        <p:nvSpPr>
          <p:cNvPr id="116" name="Google Shape;116;p16"/>
          <p:cNvSpPr txBox="1"/>
          <p:nvPr/>
        </p:nvSpPr>
        <p:spPr>
          <a:xfrm>
            <a:off x="3289404" y="2908037"/>
            <a:ext cx="217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Reimbursement of healthcare providers</a:t>
            </a:r>
            <a:endParaRPr sz="1700">
              <a:solidFill>
                <a:srgbClr val="0C41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 rot="5400000">
            <a:off x="2922194" y="1474123"/>
            <a:ext cx="352500" cy="4333800"/>
          </a:xfrm>
          <a:prstGeom prst="rightBrace">
            <a:avLst>
              <a:gd fmla="val 94965" name="adj1"/>
              <a:gd fmla="val 4886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 rot="5400000">
            <a:off x="9012445" y="2085763"/>
            <a:ext cx="352500" cy="4387200"/>
          </a:xfrm>
          <a:prstGeom prst="rightBrace">
            <a:avLst>
              <a:gd fmla="val 57977" name="adj1"/>
              <a:gd fmla="val 4886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96850" y="3886516"/>
            <a:ext cx="53961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1" lang="fr-FR" sz="2000">
                <a:solidFill>
                  <a:schemeClr val="dk1"/>
                </a:solidFill>
              </a:rPr>
              <a:t>Local nominative databases 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fr-FR" sz="1600">
                <a:solidFill>
                  <a:schemeClr val="dk1"/>
                </a:solidFill>
              </a:rPr>
              <a:t>Reimbursement, possible identification, specific to each regime </a:t>
            </a:r>
            <a:r>
              <a:rPr lang="fr-FR" sz="1600">
                <a:solidFill>
                  <a:schemeClr val="dk1"/>
                </a:solidFill>
              </a:rPr>
              <a:t>(three main regimes)</a:t>
            </a:r>
            <a:r>
              <a:rPr lang="fr-FR" sz="1900">
                <a:solidFill>
                  <a:schemeClr val="dk1"/>
                </a:solidFill>
              </a:rPr>
              <a:t> </a:t>
            </a:r>
            <a:r>
              <a:rPr lang="fr-FR" sz="1600">
                <a:solidFill>
                  <a:schemeClr val="dk1"/>
                </a:solidFill>
              </a:rPr>
              <a:t>and local fund.</a:t>
            </a:r>
            <a:endParaRPr sz="1900"/>
          </a:p>
        </p:txBody>
      </p:sp>
      <p:sp>
        <p:nvSpPr>
          <p:cNvPr id="120" name="Google Shape;120;p16"/>
          <p:cNvSpPr txBox="1"/>
          <p:nvPr/>
        </p:nvSpPr>
        <p:spPr>
          <a:xfrm>
            <a:off x="6768951" y="4407549"/>
            <a:ext cx="499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Système National des Données de Santé (SNDS</a:t>
            </a: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900"/>
          </a:p>
        </p:txBody>
      </p:sp>
      <p:pic>
        <p:nvPicPr>
          <p:cNvPr descr="C:\Users\RUDANT-09690\Pictures\CV anonym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5913" y="1678283"/>
            <a:ext cx="1134136" cy="663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 rot="-5400000">
            <a:off x="1838850" y="1209497"/>
            <a:ext cx="511800" cy="1871100"/>
          </a:xfrm>
          <a:prstGeom prst="wedgeRoundRectCallout">
            <a:avLst>
              <a:gd fmla="val -39518" name="adj1"/>
              <a:gd fmla="val 75212" name="adj2"/>
              <a:gd fmla="val 16667" name="adj3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86121" y="1914190"/>
            <a:ext cx="18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170198" y="1889232"/>
            <a:ext cx="187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Claims </a:t>
            </a:r>
            <a:endParaRPr sz="1900"/>
          </a:p>
        </p:txBody>
      </p:sp>
      <p:sp>
        <p:nvSpPr>
          <p:cNvPr id="125" name="Google Shape;125;p16"/>
          <p:cNvSpPr txBox="1"/>
          <p:nvPr/>
        </p:nvSpPr>
        <p:spPr>
          <a:xfrm>
            <a:off x="3402627" y="1525415"/>
            <a:ext cx="2172000" cy="61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FF0000"/>
                </a:solidFill>
              </a:rPr>
              <a:t>Primary funds (caisses </a:t>
            </a:r>
            <a:r>
              <a:rPr b="1" lang="fr-FR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primaires)</a:t>
            </a:r>
            <a:endParaRPr sz="1900"/>
          </a:p>
        </p:txBody>
      </p:sp>
      <p:sp>
        <p:nvSpPr>
          <p:cNvPr id="126" name="Google Shape;126;p16"/>
          <p:cNvSpPr txBox="1"/>
          <p:nvPr/>
        </p:nvSpPr>
        <p:spPr>
          <a:xfrm>
            <a:off x="7867474" y="1346038"/>
            <a:ext cx="1706400" cy="615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CNAM</a:t>
            </a:r>
            <a:endParaRPr b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FF0000"/>
                </a:solidFill>
              </a:rPr>
              <a:t>National fund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925964" y="5029357"/>
            <a:ext cx="4926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fr-FR" sz="1600">
                <a:solidFill>
                  <a:schemeClr val="dk1"/>
                </a:solidFill>
              </a:rPr>
              <a:t>Anonymous national </a:t>
            </a:r>
            <a:r>
              <a:rPr lang="fr-FR" sz="1600">
                <a:solidFill>
                  <a:schemeClr val="dk1"/>
                </a:solidFill>
              </a:rPr>
              <a:t>data warehouse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All </a:t>
            </a:r>
            <a:r>
              <a:rPr lang="fr-FR" sz="1600">
                <a:solidFill>
                  <a:schemeClr val="dk1"/>
                </a:solidFill>
              </a:rPr>
              <a:t>regimes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Chained with hospital data (</a:t>
            </a:r>
            <a:r>
              <a:rPr b="1"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PMSI</a:t>
            </a: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programme de médicalisation des systèmes d’information) 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Chained with </a:t>
            </a:r>
            <a:r>
              <a:rPr b="1" lang="fr-FR" sz="1600">
                <a:solidFill>
                  <a:schemeClr val="dk1"/>
                </a:solidFill>
              </a:rPr>
              <a:t>death certificates </a:t>
            </a:r>
            <a:r>
              <a:rPr lang="fr-FR" sz="1600">
                <a:solidFill>
                  <a:schemeClr val="dk1"/>
                </a:solidFill>
              </a:rPr>
              <a:t>(</a:t>
            </a:r>
            <a:r>
              <a:rPr b="1" lang="fr-FR" sz="1500">
                <a:solidFill>
                  <a:srgbClr val="FF0000"/>
                </a:solidFill>
              </a:rPr>
              <a:t>CépiDc</a:t>
            </a:r>
            <a:r>
              <a:rPr lang="fr-FR" sz="1600">
                <a:solidFill>
                  <a:schemeClr val="dk1"/>
                </a:solidFill>
              </a:rPr>
              <a:t>)</a:t>
            </a:r>
            <a:endParaRPr sz="1900"/>
          </a:p>
        </p:txBody>
      </p:sp>
      <p:sp>
        <p:nvSpPr>
          <p:cNvPr id="128" name="Google Shape;128;p16"/>
          <p:cNvSpPr txBox="1"/>
          <p:nvPr/>
        </p:nvSpPr>
        <p:spPr>
          <a:xfrm>
            <a:off x="6323185" y="3526045"/>
            <a:ext cx="762300" cy="35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ATIH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1161286" y="3544999"/>
            <a:ext cx="928500" cy="35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CépiDc</a:t>
            </a:r>
            <a:endParaRPr b="1" sz="1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 rot="-5400000">
            <a:off x="7441455" y="2182567"/>
            <a:ext cx="341100" cy="503700"/>
          </a:xfrm>
          <a:prstGeom prst="downArrow">
            <a:avLst>
              <a:gd fmla="val 50000" name="adj1"/>
              <a:gd fmla="val 31216" name="adj2"/>
            </a:avLst>
          </a:prstGeom>
          <a:solidFill>
            <a:srgbClr val="7DD2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976026" y="2936875"/>
            <a:ext cx="1037700" cy="6066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372298" y="2929620"/>
            <a:ext cx="1992900" cy="6471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958496" y="3110788"/>
            <a:ext cx="1049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PMSI</a:t>
            </a:r>
            <a:endParaRPr sz="1900"/>
          </a:p>
        </p:txBody>
      </p:sp>
      <p:sp>
        <p:nvSpPr>
          <p:cNvPr id="134" name="Google Shape;134;p16"/>
          <p:cNvSpPr txBox="1"/>
          <p:nvPr/>
        </p:nvSpPr>
        <p:spPr>
          <a:xfrm>
            <a:off x="9389494" y="3106015"/>
            <a:ext cx="1992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Causes de décès</a:t>
            </a:r>
            <a:endParaRPr sz="1900"/>
          </a:p>
        </p:txBody>
      </p:sp>
      <p:sp>
        <p:nvSpPr>
          <p:cNvPr id="135" name="Google Shape;135;p16"/>
          <p:cNvSpPr/>
          <p:nvPr/>
        </p:nvSpPr>
        <p:spPr>
          <a:xfrm>
            <a:off x="6928922" y="3418325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985996" y="3390293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00">
                <a:solidFill>
                  <a:srgbClr val="003399"/>
                </a:solidFill>
              </a:rPr>
              <a:t>encrypted NIR</a:t>
            </a:r>
            <a:endParaRPr b="1">
              <a:solidFill>
                <a:srgbClr val="003399"/>
              </a:solidFill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806718" y="3453384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9842541" y="3427004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1000">
                <a:solidFill>
                  <a:srgbClr val="003399"/>
                </a:solidFill>
              </a:rPr>
              <a:t>encrypted NIR</a:t>
            </a:r>
            <a:endParaRPr sz="1900"/>
          </a:p>
        </p:txBody>
      </p:sp>
      <p:cxnSp>
        <p:nvCxnSpPr>
          <p:cNvPr id="139" name="Google Shape;139;p16"/>
          <p:cNvCxnSpPr/>
          <p:nvPr/>
        </p:nvCxnSpPr>
        <p:spPr>
          <a:xfrm rot="-5400000">
            <a:off x="7987473" y="2833399"/>
            <a:ext cx="530100" cy="489300"/>
          </a:xfrm>
          <a:prstGeom prst="curved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40" name="Google Shape;140;p16"/>
          <p:cNvCxnSpPr/>
          <p:nvPr/>
        </p:nvCxnSpPr>
        <p:spPr>
          <a:xfrm flipH="1" rot="5400000">
            <a:off x="8846619" y="2814357"/>
            <a:ext cx="515100" cy="524700"/>
          </a:xfrm>
          <a:prstGeom prst="curved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1" name="Google Shape;141;p16"/>
          <p:cNvSpPr txBox="1"/>
          <p:nvPr/>
        </p:nvSpPr>
        <p:spPr>
          <a:xfrm>
            <a:off x="391750" y="773250"/>
            <a:ext cx="104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solidFill>
                  <a:srgbClr val="003C7C"/>
                </a:solidFill>
              </a:rPr>
              <a:t>January 2016 : created by law </a:t>
            </a:r>
            <a:r>
              <a:rPr b="1" lang="fr-FR" sz="2100">
                <a:solidFill>
                  <a:srgbClr val="003C7C"/>
                </a:solidFill>
              </a:rPr>
              <a:t>« </a:t>
            </a:r>
            <a:r>
              <a:rPr b="1" lang="fr-FR" sz="2100">
                <a:solidFill>
                  <a:srgbClr val="FE5061"/>
                </a:solidFill>
              </a:rPr>
              <a:t>modernisation de notre système de santé </a:t>
            </a:r>
            <a:r>
              <a:rPr b="1" lang="fr-FR" sz="2100">
                <a:solidFill>
                  <a:srgbClr val="003C7C"/>
                </a:solidFill>
              </a:rPr>
              <a:t>»</a:t>
            </a:r>
            <a:endParaRPr sz="2300">
              <a:solidFill>
                <a:srgbClr val="FF6168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13025" y="5301225"/>
            <a:ext cx="5605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solidFill>
                  <a:srgbClr val="003C7C"/>
                </a:solidFill>
              </a:rPr>
              <a:t>🚀 </a:t>
            </a:r>
            <a:r>
              <a:rPr b="1" lang="fr-FR" sz="2100">
                <a:solidFill>
                  <a:srgbClr val="003C7C"/>
                </a:solidFill>
              </a:rPr>
              <a:t>2021: </a:t>
            </a:r>
            <a:r>
              <a:rPr lang="fr-FR" sz="2100">
                <a:solidFill>
                  <a:srgbClr val="003C7C"/>
                </a:solidFill>
              </a:rPr>
              <a:t>Permanent </a:t>
            </a:r>
            <a:r>
              <a:rPr b="1" lang="fr-FR" sz="2100">
                <a:solidFill>
                  <a:srgbClr val="003C7C"/>
                </a:solidFill>
              </a:rPr>
              <a:t>access to research organisms </a:t>
            </a:r>
            <a:r>
              <a:rPr lang="fr-FR" sz="2100">
                <a:solidFill>
                  <a:srgbClr val="003C7C"/>
                </a:solidFill>
              </a:rPr>
              <a:t>(INRIA, INSERM, hospitals…) : profil 108 and formation</a:t>
            </a:r>
            <a:endParaRPr sz="2300">
              <a:solidFill>
                <a:srgbClr val="FF616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idx="4294967295" type="title"/>
          </p:nvPr>
        </p:nvSpPr>
        <p:spPr>
          <a:xfrm>
            <a:off x="171167" y="95372"/>
            <a:ext cx="116163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2900"/>
              <a:buFont typeface="Arial"/>
              <a:buNone/>
            </a:pPr>
            <a:r>
              <a:rPr b="1" lang="fr-FR" sz="2900">
                <a:solidFill>
                  <a:srgbClr val="FF6168"/>
                </a:solidFill>
              </a:rPr>
              <a:t>In summary, SNDS is a rich database…</a:t>
            </a:r>
            <a:endParaRPr b="1">
              <a:solidFill>
                <a:srgbClr val="FF6168"/>
              </a:solidFill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918937" y="1110945"/>
            <a:ext cx="2912400" cy="672000"/>
          </a:xfrm>
          <a:prstGeom prst="roundRect">
            <a:avLst>
              <a:gd fmla="val 16667" name="adj"/>
            </a:avLst>
          </a:prstGeom>
          <a:solidFill>
            <a:srgbClr val="FF6168"/>
          </a:solidFill>
          <a:ln cap="flat" cmpd="sng" w="12700">
            <a:solidFill>
              <a:srgbClr val="002B5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lt1"/>
                </a:solidFill>
              </a:rPr>
              <a:t>Populational data base</a:t>
            </a:r>
            <a:endParaRPr sz="1900"/>
          </a:p>
        </p:txBody>
      </p:sp>
      <p:sp>
        <p:nvSpPr>
          <p:cNvPr id="149" name="Google Shape;149;p17"/>
          <p:cNvSpPr/>
          <p:nvPr/>
        </p:nvSpPr>
        <p:spPr>
          <a:xfrm>
            <a:off x="1936313" y="1780172"/>
            <a:ext cx="2918400" cy="50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847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-177800" lvl="1" marL="177800" marR="0" rtl="0" algn="ctr">
              <a:spcBef>
                <a:spcPts val="0"/>
              </a:spcBef>
              <a:spcAft>
                <a:spcPts val="0"/>
              </a:spcAft>
              <a:buClr>
                <a:srgbClr val="18471A"/>
              </a:buClr>
              <a:buSzPts val="1400"/>
              <a:buFont typeface="Noto Sans Symbols"/>
              <a:buChar char="✔"/>
            </a:pPr>
            <a:r>
              <a:rPr b="1" i="0" lang="fr-FR" sz="1400" u="none" cap="none" strike="noStrike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≃ 68 millions </a:t>
            </a:r>
            <a:r>
              <a:rPr b="1" lang="fr-FR">
                <a:solidFill>
                  <a:srgbClr val="FF6168"/>
                </a:solidFill>
              </a:rPr>
              <a:t>individuals</a:t>
            </a:r>
            <a:endParaRPr sz="1900"/>
          </a:p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86023">
            <a:off x="5077229" y="1793988"/>
            <a:ext cx="1804196" cy="554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7"/>
          <p:cNvGrpSpPr/>
          <p:nvPr/>
        </p:nvGrpSpPr>
        <p:grpSpPr>
          <a:xfrm>
            <a:off x="7084347" y="661394"/>
            <a:ext cx="4549165" cy="1414799"/>
            <a:chOff x="5270372" y="2177660"/>
            <a:chExt cx="4549165" cy="1445590"/>
          </a:xfrm>
        </p:grpSpPr>
        <p:sp>
          <p:nvSpPr>
            <p:cNvPr id="152" name="Google Shape;152;p17"/>
            <p:cNvSpPr/>
            <p:nvPr/>
          </p:nvSpPr>
          <p:spPr>
            <a:xfrm>
              <a:off x="5309059" y="2177660"/>
              <a:ext cx="3631800" cy="3774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In-town healthcare data </a:t>
              </a:r>
              <a:r>
                <a:rPr b="1" i="0" lang="fr-F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(DCIR)</a:t>
              </a:r>
              <a:endParaRPr sz="1900"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5270372" y="2551950"/>
              <a:ext cx="4322100" cy="107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b="0" i="0" lang="fr-FR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Consultations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Medical acts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Biological e</a:t>
              </a:r>
              <a:r>
                <a:rPr b="0" i="0" lang="fr-FR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xam</a:t>
              </a:r>
              <a:r>
                <a:rPr lang="fr-FR" sz="1300">
                  <a:solidFill>
                    <a:schemeClr val="dk2"/>
                  </a:solidFill>
                </a:rPr>
                <a:t>s</a:t>
              </a:r>
              <a:endParaRPr sz="1900"/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Drugs and medical devices dispenses</a:t>
              </a:r>
              <a:b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(reimbursed ones)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" name="Google Shape;154;p17"/>
            <p:cNvGrpSpPr/>
            <p:nvPr/>
          </p:nvGrpSpPr>
          <p:grpSpPr>
            <a:xfrm>
              <a:off x="8940680" y="2245971"/>
              <a:ext cx="878857" cy="902222"/>
              <a:chOff x="8407333" y="2944458"/>
              <a:chExt cx="1104786" cy="1134157"/>
            </a:xfrm>
          </p:grpSpPr>
          <p:pic>
            <p:nvPicPr>
              <p:cNvPr id="155" name="Google Shape;155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42436" y="2944458"/>
                <a:ext cx="1069683" cy="11142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" name="Google Shape;156;p17"/>
              <p:cNvSpPr/>
              <p:nvPr/>
            </p:nvSpPr>
            <p:spPr>
              <a:xfrm>
                <a:off x="8407333" y="2966215"/>
                <a:ext cx="1069800" cy="1112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" name="Google Shape;157;p17"/>
          <p:cNvGrpSpPr/>
          <p:nvPr/>
        </p:nvGrpSpPr>
        <p:grpSpPr>
          <a:xfrm>
            <a:off x="7084332" y="2076372"/>
            <a:ext cx="4482481" cy="1137378"/>
            <a:chOff x="5309378" y="3878203"/>
            <a:chExt cx="4482481" cy="1137378"/>
          </a:xfrm>
        </p:grpSpPr>
        <p:sp>
          <p:nvSpPr>
            <p:cNvPr id="158" name="Google Shape;158;p17"/>
            <p:cNvSpPr/>
            <p:nvPr/>
          </p:nvSpPr>
          <p:spPr>
            <a:xfrm>
              <a:off x="5309378" y="3878203"/>
              <a:ext cx="3678000" cy="4338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Hospital care data</a:t>
              </a:r>
              <a:r>
                <a:rPr b="1" i="0" lang="fr-F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(PMSI)</a:t>
              </a:r>
              <a:endParaRPr sz="1900"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5314850" y="4323781"/>
              <a:ext cx="4327800" cy="69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Inpatient hospital stay dates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Medical acts and diagnostics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Outpatient visits (c</a:t>
              </a:r>
              <a:r>
                <a:rPr b="0" i="0" lang="fr-FR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onsultations externes)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17"/>
            <p:cNvGrpSpPr/>
            <p:nvPr/>
          </p:nvGrpSpPr>
          <p:grpSpPr>
            <a:xfrm>
              <a:off x="8945699" y="4017254"/>
              <a:ext cx="846160" cy="914166"/>
              <a:chOff x="8386238" y="4386701"/>
              <a:chExt cx="1075445" cy="1161879"/>
            </a:xfrm>
          </p:grpSpPr>
          <p:pic>
            <p:nvPicPr>
              <p:cNvPr id="161" name="Google Shape;161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400910" y="4386701"/>
                <a:ext cx="1060773" cy="1115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17"/>
              <p:cNvSpPr/>
              <p:nvPr/>
            </p:nvSpPr>
            <p:spPr>
              <a:xfrm>
                <a:off x="8386238" y="4436180"/>
                <a:ext cx="1069800" cy="1112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3" name="Google Shape;163;p17"/>
          <p:cNvGrpSpPr/>
          <p:nvPr/>
        </p:nvGrpSpPr>
        <p:grpSpPr>
          <a:xfrm>
            <a:off x="7355250" y="4357750"/>
            <a:ext cx="4836748" cy="2043124"/>
            <a:chOff x="5351871" y="5088345"/>
            <a:chExt cx="4836748" cy="2017502"/>
          </a:xfrm>
        </p:grpSpPr>
        <p:sp>
          <p:nvSpPr>
            <p:cNvPr id="164" name="Google Shape;164;p17"/>
            <p:cNvSpPr/>
            <p:nvPr/>
          </p:nvSpPr>
          <p:spPr>
            <a:xfrm>
              <a:off x="5358796" y="5088345"/>
              <a:ext cx="3671100" cy="4131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P</a:t>
              </a:r>
              <a:r>
                <a:rPr b="1" i="0" lang="fr-F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atient data</a:t>
              </a:r>
              <a:endParaRPr sz="1900"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5351871" y="5501447"/>
              <a:ext cx="4244700" cy="160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Basic demographic variables (age, sex, department of residence, date of birth and death, geographical social deprivation index)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Long Term Disease status with associated diagnostic codes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Antecedents identified by the Cnam mapping system (“cartographie des pathologies”)</a:t>
              </a:r>
              <a:endParaRPr sz="1900"/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9355674" y="5926451"/>
              <a:ext cx="832946" cy="778522"/>
              <a:chOff x="8926420" y="5996493"/>
              <a:chExt cx="1069800" cy="999900"/>
            </a:xfrm>
          </p:grpSpPr>
          <p:pic>
            <p:nvPicPr>
              <p:cNvPr id="167" name="Google Shape;167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937956" y="6025289"/>
                <a:ext cx="1046732" cy="942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" name="Google Shape;168;p17"/>
              <p:cNvSpPr/>
              <p:nvPr/>
            </p:nvSpPr>
            <p:spPr>
              <a:xfrm>
                <a:off x="8926420" y="5996493"/>
                <a:ext cx="1069800" cy="9999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9" name="Google Shape;169;p17"/>
          <p:cNvSpPr txBox="1"/>
          <p:nvPr/>
        </p:nvSpPr>
        <p:spPr>
          <a:xfrm>
            <a:off x="287873" y="2522025"/>
            <a:ext cx="554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0" wrap="square" tIns="900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2900"/>
              <a:buFont typeface="Arial"/>
              <a:buNone/>
            </a:pPr>
            <a:r>
              <a:rPr b="1" lang="fr-FR" sz="29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r>
              <a:rPr b="1" lang="fr-FR" sz="2900">
                <a:solidFill>
                  <a:srgbClr val="FF6168"/>
                </a:solidFill>
              </a:rPr>
              <a:t>but a claim database</a:t>
            </a:r>
            <a:endParaRPr sz="1900">
              <a:solidFill>
                <a:srgbClr val="FF6168"/>
              </a:solidFill>
            </a:endParaRPr>
          </a:p>
        </p:txBody>
      </p:sp>
      <p:grpSp>
        <p:nvGrpSpPr>
          <p:cNvPr id="170" name="Google Shape;170;p17"/>
          <p:cNvGrpSpPr/>
          <p:nvPr/>
        </p:nvGrpSpPr>
        <p:grpSpPr>
          <a:xfrm>
            <a:off x="1524617" y="3061059"/>
            <a:ext cx="5111495" cy="3174637"/>
            <a:chOff x="1172395" y="4497273"/>
            <a:chExt cx="4327741" cy="2567645"/>
          </a:xfrm>
        </p:grpSpPr>
        <p:grpSp>
          <p:nvGrpSpPr>
            <p:cNvPr id="171" name="Google Shape;171;p17"/>
            <p:cNvGrpSpPr/>
            <p:nvPr/>
          </p:nvGrpSpPr>
          <p:grpSpPr>
            <a:xfrm>
              <a:off x="1172395" y="4600126"/>
              <a:ext cx="3413170" cy="2464792"/>
              <a:chOff x="5254969" y="5349345"/>
              <a:chExt cx="3413170" cy="2464792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5254969" y="5349345"/>
                <a:ext cx="3225900" cy="446100"/>
              </a:xfrm>
              <a:prstGeom prst="roundRect">
                <a:avLst>
                  <a:gd fmla="val 16667" name="adj"/>
                </a:avLst>
              </a:prstGeom>
              <a:solidFill>
                <a:srgbClr val="7030A0"/>
              </a:solidFill>
              <a:ln cap="flat" cmpd="sng" w="12700">
                <a:solidFill>
                  <a:srgbClr val="002B5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1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fr-F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Information</a:t>
                </a:r>
                <a:r>
                  <a:rPr b="1" lang="fr-FR" sz="1500">
                    <a:solidFill>
                      <a:schemeClr val="lt1"/>
                    </a:solidFill>
                  </a:rPr>
                  <a:t> not available</a:t>
                </a:r>
                <a:endParaRPr sz="1900"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5255039" y="5795437"/>
                <a:ext cx="3413100" cy="2018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2700">
                <a:solidFill>
                  <a:srgbClr val="1847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Clinical exam results</a:t>
                </a:r>
                <a:endParaRPr sz="13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Basic clinical data (BMI, blood pressure, …)</a:t>
                </a:r>
                <a:endParaRPr sz="1900"/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Environmental exposures or risk factors (smoking, drinking, nutrition habits)</a:t>
                </a:r>
                <a:endParaRPr sz="11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Socioeconomic status (education, income, …)</a:t>
                </a:r>
                <a:endParaRPr sz="11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Clinical data for hospital stays (beyond diagnostic codes) : eg. cheap medication during stays, biology, …</a:t>
                </a:r>
                <a:endParaRPr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No reason for consultation or prescription not reimbursed</a:t>
                </a:r>
                <a:endParaRPr sz="1900"/>
              </a:p>
            </p:txBody>
          </p:sp>
        </p:grpSp>
        <p:pic>
          <p:nvPicPr>
            <p:cNvPr id="174" name="Google Shape;17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85553" y="4497273"/>
              <a:ext cx="914583" cy="909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17"/>
          <p:cNvSpPr/>
          <p:nvPr/>
        </p:nvSpPr>
        <p:spPr>
          <a:xfrm>
            <a:off x="5437222" y="3142790"/>
            <a:ext cx="1192500" cy="961500"/>
          </a:xfrm>
          <a:prstGeom prst="mathMultiply">
            <a:avLst>
              <a:gd fmla="val 23520" name="adj1"/>
            </a:avLst>
          </a:prstGeom>
          <a:solidFill>
            <a:srgbClr val="001E3E">
              <a:alpha val="27840"/>
            </a:srgbClr>
          </a:solidFill>
          <a:ln cap="flat" cmpd="sng" w="12700">
            <a:solidFill>
              <a:srgbClr val="0C0C0C">
                <a:alpha val="3176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193800" sx="200000" rotWithShape="0" algn="ctr" dir="5400000" dist="50800" sy="200000">
              <a:srgbClr val="000000">
                <a:alpha val="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7082814" y="3227333"/>
            <a:ext cx="4505983" cy="1119067"/>
            <a:chOff x="4572000" y="4170474"/>
            <a:chExt cx="3379572" cy="839321"/>
          </a:xfrm>
        </p:grpSpPr>
        <p:grpSp>
          <p:nvGrpSpPr>
            <p:cNvPr id="177" name="Google Shape;177;p17"/>
            <p:cNvGrpSpPr/>
            <p:nvPr/>
          </p:nvGrpSpPr>
          <p:grpSpPr>
            <a:xfrm>
              <a:off x="4572000" y="4170474"/>
              <a:ext cx="3249954" cy="680458"/>
              <a:chOff x="5309378" y="3878203"/>
              <a:chExt cx="4333272" cy="907278"/>
            </a:xfrm>
          </p:grpSpPr>
          <p:sp>
            <p:nvSpPr>
              <p:cNvPr id="178" name="Google Shape;178;p17"/>
              <p:cNvSpPr/>
              <p:nvPr/>
            </p:nvSpPr>
            <p:spPr>
              <a:xfrm>
                <a:off x="5314850" y="4323781"/>
                <a:ext cx="4327800" cy="461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2700">
                <a:solidFill>
                  <a:srgbClr val="1847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✔"/>
                </a:pPr>
                <a:r>
                  <a:rPr lang="fr-FR" sz="1300">
                    <a:solidFill>
                      <a:schemeClr val="dk2"/>
                    </a:solidFill>
                  </a:rPr>
                  <a:t>Medical diagnostics mentioned on the death certificate</a:t>
                </a:r>
                <a:endParaRPr b="0" i="0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5309378" y="3878203"/>
                <a:ext cx="3678000" cy="433800"/>
              </a:xfrm>
              <a:prstGeom prst="roundRect">
                <a:avLst>
                  <a:gd fmla="val 16667" name="adj"/>
                </a:avLst>
              </a:prstGeom>
              <a:solidFill>
                <a:srgbClr val="004990"/>
              </a:solidFill>
              <a:ln cap="flat" cmpd="sng" w="12700">
                <a:solidFill>
                  <a:srgbClr val="002B5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1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500">
                    <a:solidFill>
                      <a:schemeClr val="lt1"/>
                    </a:solidFill>
                  </a:rPr>
                  <a:t>Death causes</a:t>
                </a:r>
                <a:endParaRPr sz="1900"/>
              </a:p>
            </p:txBody>
          </p:sp>
        </p:grpSp>
        <p:grpSp>
          <p:nvGrpSpPr>
            <p:cNvPr id="180" name="Google Shape;180;p17"/>
            <p:cNvGrpSpPr/>
            <p:nvPr/>
          </p:nvGrpSpPr>
          <p:grpSpPr>
            <a:xfrm>
              <a:off x="7320372" y="4353395"/>
              <a:ext cx="631200" cy="656400"/>
              <a:chOff x="8319658" y="4190034"/>
              <a:chExt cx="631200" cy="656400"/>
            </a:xfrm>
          </p:grpSpPr>
          <p:pic>
            <p:nvPicPr>
              <p:cNvPr id="181" name="Google Shape;181;p17"/>
              <p:cNvPicPr preferRelativeResize="0"/>
              <p:nvPr/>
            </p:nvPicPr>
            <p:blipFill rotWithShape="1">
              <a:blip r:embed="rId8">
                <a:alphaModFix/>
              </a:blip>
              <a:srcRect b="7961" l="8420" r="7546" t="12345"/>
              <a:stretch/>
            </p:blipFill>
            <p:spPr>
              <a:xfrm>
                <a:off x="8334250" y="4256578"/>
                <a:ext cx="578670" cy="5666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17"/>
              <p:cNvSpPr/>
              <p:nvPr/>
            </p:nvSpPr>
            <p:spPr>
              <a:xfrm>
                <a:off x="8319658" y="4190034"/>
                <a:ext cx="631200" cy="656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613025" y="224300"/>
            <a:ext cx="100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Overview of clinical research studies based on the SNDS database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290625" y="118585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Epidemiological</a:t>
            </a:r>
            <a:r>
              <a:rPr lang="fr-FR" sz="2000">
                <a:solidFill>
                  <a:srgbClr val="281E78"/>
                </a:solidFill>
              </a:rPr>
              <a:t> studies </a:t>
            </a:r>
            <a:endParaRPr sz="2000">
              <a:solidFill>
                <a:srgbClr val="281E78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096000" y="19935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Compare the effectiveness of different treatments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144000" y="11621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Prognostic</a:t>
            </a:r>
            <a:r>
              <a:rPr lang="fr-FR" sz="2000">
                <a:solidFill>
                  <a:srgbClr val="281E78"/>
                </a:solidFill>
              </a:rPr>
              <a:t> studies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0" y="21474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Describe the health status of a population… 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2920625" y="21474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..and identify factors that influence it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096000" y="11621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Therapeutic</a:t>
            </a:r>
            <a:r>
              <a:rPr lang="fr-FR" sz="2000">
                <a:solidFill>
                  <a:srgbClr val="281E78"/>
                </a:solidFill>
              </a:rPr>
              <a:t> studies </a:t>
            </a:r>
            <a:endParaRPr sz="2000">
              <a:solidFill>
                <a:srgbClr val="281E78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9096000" y="1839625"/>
            <a:ext cx="3096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Predict disease progression based on individual patient characteristics</a:t>
            </a:r>
            <a:endParaRPr/>
          </a:p>
        </p:txBody>
      </p:sp>
      <p:cxnSp>
        <p:nvCxnSpPr>
          <p:cNvPr id="195" name="Google Shape;195;p18"/>
          <p:cNvCxnSpPr>
            <a:stCxn id="188" idx="2"/>
            <a:endCxn id="191" idx="0"/>
          </p:cNvCxnSpPr>
          <p:nvPr/>
        </p:nvCxnSpPr>
        <p:spPr>
          <a:xfrm flipH="1">
            <a:off x="1499875" y="1647550"/>
            <a:ext cx="1439400" cy="4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18"/>
          <p:cNvCxnSpPr>
            <a:stCxn id="188" idx="2"/>
            <a:endCxn id="192" idx="0"/>
          </p:cNvCxnSpPr>
          <p:nvPr/>
        </p:nvCxnSpPr>
        <p:spPr>
          <a:xfrm>
            <a:off x="2939275" y="1647550"/>
            <a:ext cx="1481400" cy="4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18"/>
          <p:cNvCxnSpPr>
            <a:stCxn id="193" idx="2"/>
            <a:endCxn id="189" idx="0"/>
          </p:cNvCxnSpPr>
          <p:nvPr/>
        </p:nvCxnSpPr>
        <p:spPr>
          <a:xfrm>
            <a:off x="7596000" y="1654738"/>
            <a:ext cx="0" cy="33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8"/>
          <p:cNvCxnSpPr>
            <a:stCxn id="190" idx="2"/>
            <a:endCxn id="194" idx="0"/>
          </p:cNvCxnSpPr>
          <p:nvPr/>
        </p:nvCxnSpPr>
        <p:spPr>
          <a:xfrm>
            <a:off x="10644000" y="1654738"/>
            <a:ext cx="0" cy="1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18"/>
          <p:cNvSpPr txBox="1"/>
          <p:nvPr/>
        </p:nvSpPr>
        <p:spPr>
          <a:xfrm>
            <a:off x="99575" y="55970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Incidence of </a:t>
            </a:r>
            <a:r>
              <a:rPr lang="fr-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Parkinson’s </a:t>
            </a:r>
            <a:r>
              <a:rPr lang="fr-FR" sz="1800"/>
              <a:t>d</a:t>
            </a:r>
            <a:r>
              <a:rPr lang="fr-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isease </a:t>
            </a:r>
            <a:r>
              <a:rPr lang="fr-FR" sz="1800"/>
              <a:t>in France over 10 years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835" y="4384723"/>
            <a:ext cx="896136" cy="44839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6096000" y="54923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Survival for two treatment options for 20 000 patients with Parkinson’s disease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9248700" y="5481213"/>
            <a:ext cx="290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ROC curves for dementia onset prediction at 2, 5 and 10 years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3258687" y="5581013"/>
            <a:ext cx="245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Health conditions associated with Alzheimer's disease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338" y="3366325"/>
            <a:ext cx="3379312" cy="17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6525" y="3440488"/>
            <a:ext cx="1552251" cy="170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8675" y="3282912"/>
            <a:ext cx="1691226" cy="187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019" y="3209061"/>
            <a:ext cx="2653107" cy="187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0810" y="864252"/>
            <a:ext cx="7451328" cy="563884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287869" y="1374089"/>
            <a:ext cx="50472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68"/>
              </a:buClr>
              <a:buSzPts val="2100"/>
              <a:buNone/>
            </a:pPr>
            <a:r>
              <a:t/>
            </a:r>
            <a:endParaRPr sz="2100"/>
          </a:p>
          <a:p>
            <a:pPr indent="0" lvl="1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FF6168"/>
              </a:buClr>
              <a:buSzPts val="1600"/>
              <a:buNone/>
            </a:pPr>
            <a:r>
              <a:rPr lang="fr-FR" sz="1600"/>
              <a:t>NABM 1260 : </a:t>
            </a:r>
            <a:r>
              <a:rPr b="1" lang="fr-FR" sz="1600"/>
              <a:t>IgG and IgM anti-CMV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FF6168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3" marL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3" marL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1" lang="fr-FR" sz="2000"/>
              <a:t>Heterogeneity of practices </a:t>
            </a:r>
            <a:r>
              <a:rPr lang="fr-FR" sz="2000"/>
              <a:t>on the french territory</a:t>
            </a:r>
            <a:endParaRPr/>
          </a:p>
          <a:p>
            <a:pPr indent="-190500" lvl="3" marL="482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fr-FR" sz="2000"/>
              <a:t>Frequent use (&gt; 40%) : </a:t>
            </a:r>
            <a:endParaRPr/>
          </a:p>
          <a:p>
            <a:pPr indent="-184150" lvl="4" marL="7620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fr-FR" sz="1700"/>
              <a:t>Île-de-France, Corse, Grand Est</a:t>
            </a:r>
            <a:endParaRPr/>
          </a:p>
          <a:p>
            <a:pPr indent="-190500" lvl="3" marL="482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fr-FR" sz="2000"/>
              <a:t>Much less common (≈ 15%) :</a:t>
            </a:r>
            <a:endParaRPr/>
          </a:p>
          <a:p>
            <a:pPr indent="-184150" lvl="4" marL="7620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fr-FR" sz="1700"/>
              <a:t>Bretagne, Normandie, Hauts-de-France, Auvergne-Rhône-Alpes </a:t>
            </a:r>
            <a:endParaRPr/>
          </a:p>
        </p:txBody>
      </p:sp>
      <p:sp>
        <p:nvSpPr>
          <p:cNvPr id="215" name="Google Shape;215;p19"/>
          <p:cNvSpPr txBox="1"/>
          <p:nvPr>
            <p:ph type="title"/>
          </p:nvPr>
        </p:nvSpPr>
        <p:spPr>
          <a:xfrm>
            <a:off x="49892" y="94456"/>
            <a:ext cx="116163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3200"/>
              <a:buFont typeface="Arial"/>
              <a:buNone/>
            </a:pPr>
            <a:r>
              <a:rPr b="1" lang="fr-FR" sz="1800">
                <a:solidFill>
                  <a:srgbClr val="FF6168"/>
                </a:solidFill>
              </a:rPr>
              <a:t>Description of healthcare practices</a:t>
            </a:r>
            <a:br>
              <a:rPr b="1" lang="fr-FR" sz="1800">
                <a:solidFill>
                  <a:srgbClr val="FA4616"/>
                </a:solidFill>
              </a:rPr>
            </a:br>
            <a:r>
              <a:rPr b="1" lang="fr-FR" sz="1800">
                <a:solidFill>
                  <a:schemeClr val="dk1"/>
                </a:solidFill>
              </a:rPr>
              <a:t>Eg. </a:t>
            </a:r>
            <a:r>
              <a:rPr b="1" lang="fr-FR" sz="1800">
                <a:solidFill>
                  <a:schemeClr val="dk1"/>
                </a:solidFill>
              </a:rPr>
              <a:t>Practice of screening pregnant w</a:t>
            </a:r>
            <a:r>
              <a:rPr b="1" lang="fr-FR" sz="1800">
                <a:solidFill>
                  <a:schemeClr val="dk1"/>
                </a:solidFill>
              </a:rPr>
              <a:t>o</a:t>
            </a:r>
            <a:r>
              <a:rPr b="1" lang="fr-FR" sz="1800">
                <a:solidFill>
                  <a:schemeClr val="dk1"/>
                </a:solidFill>
              </a:rPr>
              <a:t>men for CMV infection (2022-2023)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223" y="1153676"/>
            <a:ext cx="8201823" cy="530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>
            <p:ph type="title"/>
          </p:nvPr>
        </p:nvSpPr>
        <p:spPr>
          <a:xfrm>
            <a:off x="287867" y="221452"/>
            <a:ext cx="11331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3200"/>
              <a:buFont typeface="Arial"/>
              <a:buNone/>
            </a:pPr>
            <a:r>
              <a:rPr b="1" lang="fr-FR" sz="1800">
                <a:solidFill>
                  <a:srgbClr val="FF6168"/>
                </a:solidFill>
              </a:rPr>
              <a:t>Impact of institutional </a:t>
            </a:r>
            <a:r>
              <a:rPr b="1" lang="fr-FR" sz="1800">
                <a:solidFill>
                  <a:srgbClr val="FF6168"/>
                </a:solidFill>
              </a:rPr>
              <a:t>recommendations</a:t>
            </a:r>
            <a:r>
              <a:rPr b="1" lang="fr-FR" sz="1800">
                <a:solidFill>
                  <a:srgbClr val="FA4616"/>
                </a:solidFill>
              </a:rPr>
              <a:t> </a:t>
            </a:r>
            <a:br>
              <a:rPr b="1" lang="fr-FR" sz="1800">
                <a:solidFill>
                  <a:srgbClr val="FA4616"/>
                </a:solidFill>
              </a:rPr>
            </a:br>
            <a:r>
              <a:rPr b="1" lang="fr-FR" sz="1800">
                <a:solidFill>
                  <a:schemeClr val="dk1"/>
                </a:solidFill>
              </a:rPr>
              <a:t>Eg. </a:t>
            </a:r>
            <a:r>
              <a:rPr b="1" lang="fr-FR" sz="1800">
                <a:solidFill>
                  <a:schemeClr val="dk1"/>
                </a:solidFill>
              </a:rPr>
              <a:t>Proton pump inhibitor dispensing trends in children under 1 year of age since 2015 (</a:t>
            </a:r>
            <a:r>
              <a:rPr b="1" lang="fr-FR" sz="1800">
                <a:solidFill>
                  <a:schemeClr val="dk1"/>
                </a:solidFill>
              </a:rPr>
              <a:t>⚠ WIP)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3" name="Google Shape;223;p20"/>
          <p:cNvSpPr txBox="1"/>
          <p:nvPr>
            <p:ph idx="1" type="body"/>
          </p:nvPr>
        </p:nvSpPr>
        <p:spPr>
          <a:xfrm>
            <a:off x="287868" y="1078572"/>
            <a:ext cx="7983600" cy="4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381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168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571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b="1" sz="1700"/>
          </a:p>
          <a:p>
            <a:pPr indent="-76200" lvl="4" marL="762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b="1" sz="1700"/>
          </a:p>
        </p:txBody>
      </p:sp>
      <p:sp>
        <p:nvSpPr>
          <p:cNvPr id="224" name="Google Shape;224;p20"/>
          <p:cNvSpPr txBox="1"/>
          <p:nvPr/>
        </p:nvSpPr>
        <p:spPr>
          <a:xfrm>
            <a:off x="2728125" y="6034391"/>
            <a:ext cx="4208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486400" y="3016391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486400" y="3016391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800449" y="6124435"/>
            <a:ext cx="1306800" cy="255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8927141" y="2472557"/>
            <a:ext cx="973200" cy="427800"/>
          </a:xfrm>
          <a:prstGeom prst="wedgeEllipseCallout">
            <a:avLst>
              <a:gd fmla="val -18949" name="adj1"/>
              <a:gd fmla="val 79640" name="adj2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Mars 2024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/>
        </p:nvSpPr>
        <p:spPr>
          <a:xfrm>
            <a:off x="613026" y="224300"/>
            <a:ext cx="10785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200">
                <a:solidFill>
                  <a:srgbClr val="FF6168"/>
                </a:solidFill>
              </a:rPr>
              <a:t>A sanity check in SNDS clinical studies : visualize individual treatment pathways</a:t>
            </a:r>
            <a:endParaRPr b="1" sz="2200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52219" t="0"/>
          <a:stretch/>
        </p:blipFill>
        <p:spPr>
          <a:xfrm>
            <a:off x="-55100" y="1564175"/>
            <a:ext cx="3823276" cy="46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2125" y="1318125"/>
            <a:ext cx="4252529" cy="477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7018" y="2225553"/>
            <a:ext cx="663121" cy="319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3953618" y="1318118"/>
            <a:ext cx="364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latin typeface="Calibri"/>
                <a:ea typeface="Calibri"/>
                <a:cs typeface="Calibri"/>
                <a:sym typeface="Calibri"/>
              </a:rPr>
              <a:t>Patient treatment status</a:t>
            </a:r>
            <a:r>
              <a:rPr b="1" lang="fr-FR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100">
                <a:latin typeface="Calibri"/>
                <a:ea typeface="Calibri"/>
                <a:cs typeface="Calibri"/>
                <a:sym typeface="Calibri"/>
              </a:rPr>
              <a:t>during quarter</a:t>
            </a:r>
            <a:r>
              <a:rPr b="1" lang="fr-FR" sz="24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48996" y="301742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Levodopa sparing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648996" y="2375664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Levodopa reliant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648996" y="3659176"/>
            <a:ext cx="24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treatment dispensed  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648996" y="4300932"/>
            <a:ext cx="47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yet observed 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648996" y="4942689"/>
            <a:ext cx="9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/>
        </p:nvSpPr>
        <p:spPr>
          <a:xfrm>
            <a:off x="613022" y="224294"/>
            <a:ext cx="76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Typical workflow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id="248" name="Google Shape;248;p22" title="Screenshot 2025-03-23 at 18.52.46.png"/>
          <p:cNvPicPr preferRelativeResize="0"/>
          <p:nvPr/>
        </p:nvPicPr>
        <p:blipFill rotWithShape="1">
          <a:blip r:embed="rId3">
            <a:alphaModFix/>
          </a:blip>
          <a:srcRect b="0" l="0" r="62642" t="0"/>
          <a:stretch/>
        </p:blipFill>
        <p:spPr>
          <a:xfrm>
            <a:off x="2397117" y="708650"/>
            <a:ext cx="2763699" cy="565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title="Screenshot 2025-03-23 at 18.52.46.png"/>
          <p:cNvPicPr preferRelativeResize="0"/>
          <p:nvPr/>
        </p:nvPicPr>
        <p:blipFill rotWithShape="1">
          <a:blip r:embed="rId3">
            <a:alphaModFix/>
          </a:blip>
          <a:srcRect b="0" l="37850" r="0" t="0"/>
          <a:stretch/>
        </p:blipFill>
        <p:spPr>
          <a:xfrm>
            <a:off x="5160827" y="708650"/>
            <a:ext cx="4597750" cy="56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613026" y="224300"/>
            <a:ext cx="95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Typical workflow in practice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id="255" name="Google Shape;255;p23" title="Screenshot 2025-03-23 at 19.45.25.png"/>
          <p:cNvPicPr preferRelativeResize="0"/>
          <p:nvPr/>
        </p:nvPicPr>
        <p:blipFill rotWithShape="1">
          <a:blip r:embed="rId3">
            <a:alphaModFix/>
          </a:blip>
          <a:srcRect b="3140" l="0" r="0" t="5586"/>
          <a:stretch/>
        </p:blipFill>
        <p:spPr>
          <a:xfrm>
            <a:off x="1408588" y="686000"/>
            <a:ext cx="9302226" cy="570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Resources for using the SNDS in clinical research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540" y="3152916"/>
            <a:ext cx="4108527" cy="308497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524032" y="6146150"/>
            <a:ext cx="48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4"/>
              </a:rPr>
              <a:t>https://documentation-snds.health-data-hub.fr/snds/</a:t>
            </a:r>
            <a:endParaRPr sz="500"/>
          </a:p>
        </p:txBody>
      </p:sp>
      <p:cxnSp>
        <p:nvCxnSpPr>
          <p:cNvPr id="263" name="Google Shape;263;p24"/>
          <p:cNvCxnSpPr/>
          <p:nvPr/>
        </p:nvCxnSpPr>
        <p:spPr>
          <a:xfrm>
            <a:off x="0" y="2473175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4"/>
          <p:cNvCxnSpPr/>
          <p:nvPr/>
        </p:nvCxnSpPr>
        <p:spPr>
          <a:xfrm>
            <a:off x="0" y="713450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4"/>
          <p:cNvSpPr txBox="1"/>
          <p:nvPr/>
        </p:nvSpPr>
        <p:spPr>
          <a:xfrm>
            <a:off x="152400" y="8927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Interactive data dictionary :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200" u="sng">
                <a:solidFill>
                  <a:schemeClr val="hlink"/>
                </a:solidFill>
                <a:hlinkClick r:id="rId5"/>
              </a:rPr>
              <a:t>https://health-data-hub.shinyapps.io/dico-snds/</a:t>
            </a:r>
            <a:r>
              <a:rPr lang="fr-FR" sz="2200">
                <a:solidFill>
                  <a:srgbClr val="281E78"/>
                </a:solidFill>
              </a:rPr>
              <a:t> </a:t>
            </a:r>
            <a:endParaRPr sz="2200">
              <a:solidFill>
                <a:srgbClr val="281E78"/>
              </a:solidFill>
            </a:endParaRPr>
          </a:p>
        </p:txBody>
      </p:sp>
      <p:pic>
        <p:nvPicPr>
          <p:cNvPr id="266" name="Google Shape;26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9350" y="740900"/>
            <a:ext cx="4838700" cy="16463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459807" y="2679650"/>
            <a:ext cx="535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A</a:t>
            </a:r>
            <a:r>
              <a:rPr lang="fr-FR" sz="2200">
                <a:solidFill>
                  <a:srgbClr val="281E78"/>
                </a:solidFill>
              </a:rPr>
              <a:t> helpful collaborative documentation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208808" y="6187971"/>
            <a:ext cx="48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7"/>
              </a:rPr>
              <a:t>https://entraide.health-data-hub.fr/categories</a:t>
            </a:r>
            <a:r>
              <a:rPr lang="fr-FR" sz="1500"/>
              <a:t> </a:t>
            </a:r>
            <a:endParaRPr sz="500"/>
          </a:p>
        </p:txBody>
      </p:sp>
      <p:sp>
        <p:nvSpPr>
          <p:cNvPr id="269" name="Google Shape;269;p24"/>
          <p:cNvSpPr txBox="1"/>
          <p:nvPr/>
        </p:nvSpPr>
        <p:spPr>
          <a:xfrm>
            <a:off x="7657455" y="2679650"/>
            <a:ext cx="20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A forum </a:t>
            </a:r>
            <a:endParaRPr/>
          </a:p>
        </p:txBody>
      </p:sp>
      <p:pic>
        <p:nvPicPr>
          <p:cNvPr id="270" name="Google Shape;27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16613" y="3226329"/>
            <a:ext cx="4524173" cy="2938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Resources for coding with the SNDS 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334525" y="2644400"/>
            <a:ext cx="5472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HDH BOAS: useful references of studies</a:t>
            </a:r>
            <a:endParaRPr sz="2200">
              <a:solidFill>
                <a:srgbClr val="281E7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200">
                <a:solidFill>
                  <a:srgbClr val="FF6168"/>
                </a:solidFill>
              </a:rPr>
              <a:t>Mainly ad-hoc SAS code hard to adapt or configure</a:t>
            </a:r>
            <a:endParaRPr i="1" sz="2200">
              <a:solidFill>
                <a:srgbClr val="FF6168"/>
              </a:solidFill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613025" y="6249975"/>
            <a:ext cx="48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3"/>
              </a:rPr>
              <a:t>https://gitlab.com/healthdatahub/boas/</a:t>
            </a:r>
            <a:r>
              <a:rPr lang="fr-FR" sz="1500"/>
              <a:t> </a:t>
            </a:r>
            <a:endParaRPr sz="500"/>
          </a:p>
        </p:txBody>
      </p:sp>
      <p:cxnSp>
        <p:nvCxnSpPr>
          <p:cNvPr id="278" name="Google Shape;278;p25"/>
          <p:cNvCxnSpPr/>
          <p:nvPr/>
        </p:nvCxnSpPr>
        <p:spPr>
          <a:xfrm>
            <a:off x="0" y="2473175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5"/>
          <p:cNvCxnSpPr/>
          <p:nvPr/>
        </p:nvCxnSpPr>
        <p:spPr>
          <a:xfrm rot="10800000">
            <a:off x="6087900" y="2474175"/>
            <a:ext cx="16200" cy="416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5"/>
          <p:cNvCxnSpPr/>
          <p:nvPr/>
        </p:nvCxnSpPr>
        <p:spPr>
          <a:xfrm>
            <a:off x="0" y="713450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5"/>
          <p:cNvSpPr txBox="1"/>
          <p:nvPr/>
        </p:nvSpPr>
        <p:spPr>
          <a:xfrm>
            <a:off x="6224800" y="2718325"/>
            <a:ext cx="58185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O</a:t>
            </a:r>
            <a:r>
              <a:rPr lang="fr-FR" sz="2200">
                <a:solidFill>
                  <a:srgbClr val="281E78"/>
                </a:solidFill>
              </a:rPr>
              <a:t>pen initiatives for a shared code base</a:t>
            </a:r>
            <a:endParaRPr sz="2200">
              <a:solidFill>
                <a:srgbClr val="281E7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200">
                <a:solidFill>
                  <a:srgbClr val="FF6168"/>
                </a:solidFill>
              </a:rPr>
              <a:t>Not adapted to shared infra and hard for collaboration</a:t>
            </a:r>
            <a:endParaRPr i="1" sz="2200">
              <a:solidFill>
                <a:srgbClr val="FF6168"/>
              </a:solidFill>
            </a:endParaRPr>
          </a:p>
        </p:txBody>
      </p:sp>
      <p:pic>
        <p:nvPicPr>
          <p:cNvPr id="282" name="Google Shape;2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88" y="3690738"/>
            <a:ext cx="3233676" cy="2372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6224788" y="6154200"/>
            <a:ext cx="58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5"/>
              </a:rPr>
              <a:t>https://github.com/X-DataInitiative/SCALPEL-Flattening</a:t>
            </a:r>
            <a:endParaRPr/>
          </a:p>
        </p:txBody>
      </p:sp>
      <p:pic>
        <p:nvPicPr>
          <p:cNvPr id="284" name="Google Shape;28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4926" y="3922050"/>
            <a:ext cx="3280899" cy="237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2025" y="878931"/>
            <a:ext cx="28575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9525" y="912575"/>
            <a:ext cx="2588948" cy="136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21525" y="826874"/>
            <a:ext cx="1310525" cy="13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1225" y="1044350"/>
            <a:ext cx="4650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Several institutions use the SNDS database “at scale”, leveraging large </a:t>
            </a:r>
            <a:r>
              <a:rPr i="1" lang="fr-FR" sz="2200">
                <a:solidFill>
                  <a:srgbClr val="281E78"/>
                </a:solidFill>
              </a:rPr>
              <a:t>internal code bases</a:t>
            </a:r>
            <a:r>
              <a:rPr lang="fr-FR" sz="2200">
                <a:solidFill>
                  <a:srgbClr val="281E78"/>
                </a:solidFill>
              </a:rPr>
              <a:t> built over the years that are </a:t>
            </a:r>
            <a:r>
              <a:rPr b="1" lang="fr-FR" sz="2200">
                <a:solidFill>
                  <a:srgbClr val="281E78"/>
                </a:solidFill>
              </a:rPr>
              <a:t>not public</a:t>
            </a:r>
            <a:r>
              <a:rPr lang="fr-FR" sz="2200">
                <a:solidFill>
                  <a:srgbClr val="281E78"/>
                </a:solidFill>
              </a:rPr>
              <a:t>.</a:t>
            </a:r>
            <a:endParaRPr b="0" i="0" u="none" cap="none" strike="noStrike">
              <a:solidFill>
                <a:srgbClr val="281E7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Resources for using the SNDS in clinical research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888000" y="1172125"/>
            <a:ext cx="1021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281E78"/>
                </a:solidFill>
              </a:rPr>
              <a:t>T</a:t>
            </a:r>
            <a:r>
              <a:rPr lang="fr-FR" sz="2400">
                <a:solidFill>
                  <a:srgbClr val="281E78"/>
                </a:solidFill>
              </a:rPr>
              <a:t>o this day : no comprehensive code base for “new SNDS actors” to leverage the SNDS database with the existing CNAM platform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47625" y="2581675"/>
            <a:ext cx="3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31425" y="2664300"/>
            <a:ext cx="43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Consequences</a:t>
            </a:r>
            <a:endParaRPr b="1" sz="24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for individual researchers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4424723" y="2664300"/>
            <a:ext cx="7679700" cy="23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Re-invent the wheel by re-implementing basic</a:t>
            </a:r>
            <a:r>
              <a:rPr lang="fr-FR" sz="2100">
                <a:solidFill>
                  <a:srgbClr val="281E78"/>
                </a:solidFill>
              </a:rPr>
              <a:t> functions</a:t>
            </a:r>
            <a:br>
              <a:rPr lang="fr-FR" sz="2100">
                <a:solidFill>
                  <a:srgbClr val="281E78"/>
                </a:solidFill>
              </a:rPr>
            </a:br>
            <a:endParaRPr sz="2100">
              <a:solidFill>
                <a:srgbClr val="281E78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Re-implementation is typically :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compromise between quality and time 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under-optimized 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prone to errors or approximations</a:t>
            </a:r>
            <a:endParaRPr b="1" sz="2100">
              <a:solidFill>
                <a:srgbClr val="281E78"/>
              </a:solidFill>
            </a:endParaRPr>
          </a:p>
        </p:txBody>
      </p:sp>
      <p:pic>
        <p:nvPicPr>
          <p:cNvPr id="298" name="Google Shape;2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725" y="3742575"/>
            <a:ext cx="1287425" cy="12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1371600" y="5661604"/>
            <a:ext cx="96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Time spent building a dataset &gt;&gt; time left for data analysis </a:t>
            </a:r>
            <a:endParaRPr b="1" sz="2400">
              <a:solidFill>
                <a:srgbClr val="281E7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Resources for using the SNDS in clinical research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888000" y="1172125"/>
            <a:ext cx="1021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281E78"/>
                </a:solidFill>
              </a:rPr>
              <a:t>T</a:t>
            </a:r>
            <a:r>
              <a:rPr lang="fr-FR" sz="2400">
                <a:solidFill>
                  <a:srgbClr val="281E78"/>
                </a:solidFill>
              </a:rPr>
              <a:t>o this day : no comprehensive code base for “new SNDS actors” to leverage the SNDS database with the existing CNAM platform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547625" y="2581675"/>
            <a:ext cx="3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131425" y="2453188"/>
            <a:ext cx="438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Consequences</a:t>
            </a:r>
            <a:endParaRPr b="1" sz="2400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for research labs, public sector and research community</a:t>
            </a:r>
            <a:endParaRPr b="1" sz="2400">
              <a:solidFill>
                <a:srgbClr val="1155CC"/>
              </a:solidFill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4715450" y="2853938"/>
            <a:ext cx="73518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Unnecessary “barriers to entry” ⇒ less research actors</a:t>
            </a:r>
            <a:endParaRPr sz="2100">
              <a:solidFill>
                <a:srgbClr val="281E7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81E78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Duplicated work ⇒  waste of time and money</a:t>
            </a:r>
            <a:endParaRPr sz="2100">
              <a:solidFill>
                <a:srgbClr val="281E7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81E78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000"/>
              <a:buChar char="●"/>
            </a:pPr>
            <a:r>
              <a:rPr lang="fr-FR" sz="2100">
                <a:solidFill>
                  <a:srgbClr val="281E78"/>
                </a:solidFill>
              </a:rPr>
              <a:t>L</a:t>
            </a:r>
            <a:r>
              <a:rPr lang="fr-FR" sz="2100">
                <a:solidFill>
                  <a:srgbClr val="281E78"/>
                </a:solidFill>
              </a:rPr>
              <a:t>ack of uniformity and reproducibility when building SNDS datasets  ⇒ improvable research quality</a:t>
            </a:r>
            <a:endParaRPr sz="2100">
              <a:solidFill>
                <a:srgbClr val="281E78"/>
              </a:solidFill>
            </a:endParaRPr>
          </a:p>
        </p:txBody>
      </p:sp>
      <p:pic>
        <p:nvPicPr>
          <p:cNvPr id="309" name="Google Shape;3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050" y="4050125"/>
            <a:ext cx="866550" cy="86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500" y="4750713"/>
            <a:ext cx="866550" cy="86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600" y="4750713"/>
            <a:ext cx="866550" cy="86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/>
        </p:nvSpPr>
        <p:spPr>
          <a:xfrm>
            <a:off x="613022" y="224294"/>
            <a:ext cx="76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The </a:t>
            </a:r>
            <a:r>
              <a:rPr b="1" lang="fr-FR" sz="24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sndsTools R </a:t>
            </a:r>
            <a:r>
              <a:rPr b="1" lang="fr-FR" sz="2400">
                <a:solidFill>
                  <a:srgbClr val="FF6168"/>
                </a:solidFill>
              </a:rPr>
              <a:t>package</a:t>
            </a:r>
            <a:endParaRPr b="1" sz="2400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609600" y="1004775"/>
            <a:ext cx="74628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Objectives</a:t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🔁</a:t>
            </a:r>
            <a:r>
              <a:rPr lang="fr-FR" sz="2200">
                <a:solidFill>
                  <a:srgbClr val="281E78"/>
                </a:solidFill>
              </a:rPr>
              <a:t> </a:t>
            </a:r>
            <a:r>
              <a:rPr lang="fr-FR" sz="2400">
                <a:solidFill>
                  <a:srgbClr val="281E78"/>
                </a:solidFill>
              </a:rPr>
              <a:t>Enhance reproducibility </a:t>
            </a:r>
            <a:r>
              <a:rPr lang="fr-FR" sz="2400">
                <a:solidFill>
                  <a:srgbClr val="281E78"/>
                </a:solidFill>
              </a:rPr>
              <a:t>across</a:t>
            </a:r>
            <a:r>
              <a:rPr lang="fr-FR" sz="2400">
                <a:solidFill>
                  <a:srgbClr val="281E78"/>
                </a:solidFill>
              </a:rPr>
              <a:t> studies</a:t>
            </a:r>
            <a:endParaRPr sz="24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400">
                <a:solidFill>
                  <a:srgbClr val="281E78"/>
                </a:solidFill>
              </a:rPr>
              <a:t>📄 Improve readability</a:t>
            </a:r>
            <a:endParaRPr sz="24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400">
                <a:solidFill>
                  <a:srgbClr val="281E78"/>
                </a:solidFill>
              </a:rPr>
              <a:t>🤗 Facilitate onboarding for new users </a:t>
            </a:r>
            <a:endParaRPr sz="2400">
              <a:solidFill>
                <a:srgbClr val="281E78"/>
              </a:solidFill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🚀 </a:t>
            </a:r>
            <a:r>
              <a:rPr lang="fr-FR" sz="2400">
                <a:solidFill>
                  <a:srgbClr val="281E78"/>
                </a:solidFill>
              </a:rPr>
              <a:t>Accelerate population extraction for all</a:t>
            </a:r>
            <a:endParaRPr sz="24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400">
                <a:solidFill>
                  <a:srgbClr val="281E78"/>
                </a:solidFill>
              </a:rPr>
              <a:t>🤝 Encourage code sharing and transparency</a:t>
            </a:r>
            <a:endParaRPr sz="24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400">
                <a:solidFill>
                  <a:srgbClr val="281E78"/>
                </a:solidFill>
              </a:rPr>
              <a:t>🌐 </a:t>
            </a:r>
            <a:r>
              <a:rPr lang="fr-FR" sz="2400">
                <a:solidFill>
                  <a:srgbClr val="281E78"/>
                </a:solidFill>
              </a:rPr>
              <a:t>Community-driven</a:t>
            </a:r>
            <a:endParaRPr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81E78"/>
              </a:solidFill>
            </a:endParaRPr>
          </a:p>
        </p:txBody>
      </p:sp>
      <p:pic>
        <p:nvPicPr>
          <p:cNvPr id="318" name="Google Shape;318;p28" title="Screenshot 2025-03-23 at 18.52.46.png"/>
          <p:cNvPicPr preferRelativeResize="0"/>
          <p:nvPr/>
        </p:nvPicPr>
        <p:blipFill rotWithShape="1">
          <a:blip r:embed="rId3">
            <a:alphaModFix/>
          </a:blip>
          <a:srcRect b="10735" l="0" r="62642" t="12312"/>
          <a:stretch/>
        </p:blipFill>
        <p:spPr>
          <a:xfrm>
            <a:off x="8221707" y="928077"/>
            <a:ext cx="3285693" cy="517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/>
        </p:nvSpPr>
        <p:spPr>
          <a:xfrm>
            <a:off x="613026" y="224300"/>
            <a:ext cx="108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What is there right now in </a:t>
            </a:r>
            <a:r>
              <a:rPr b="1" lang="fr-FR" sz="24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sndsT</a:t>
            </a:r>
            <a:r>
              <a:rPr b="1" lang="fr-FR" sz="2400">
                <a:solidFill>
                  <a:srgbClr val="FF6168"/>
                </a:solidFill>
              </a:rPr>
              <a:t>ools?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609600" y="1027750"/>
            <a:ext cx="68241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Function references</a:t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u="sng">
                <a:solidFill>
                  <a:schemeClr val="hlink"/>
                </a:solidFill>
                <a:hlinkClick r:id="rId3"/>
              </a:rPr>
              <a:t>https://sndstoolers.github.io/sndsTools/reference/index.html</a:t>
            </a:r>
            <a:endParaRPr sz="22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✅ All functions are unit tested</a:t>
            </a:r>
            <a:endParaRPr b="1" sz="24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rgbClr val="281E78"/>
                </a:solidFill>
              </a:rPr>
              <a:t>🚧 </a:t>
            </a:r>
            <a:r>
              <a:rPr b="1" lang="fr-FR" sz="2400">
                <a:solidFill>
                  <a:srgbClr val="281E78"/>
                </a:solidFill>
              </a:rPr>
              <a:t>Ongoing</a:t>
            </a:r>
            <a:br>
              <a:rPr b="1" lang="fr-FR" sz="24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🧐 Waiting review</a:t>
            </a:r>
            <a:endParaRPr sz="2200">
              <a:solidFill>
                <a:srgbClr val="281E78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u="sng">
                <a:solidFill>
                  <a:schemeClr val="hlink"/>
                </a:solidFill>
                <a:hlinkClick r:id="rId4"/>
              </a:rPr>
              <a:t>PR69</a:t>
            </a:r>
            <a:r>
              <a:rPr lang="fr-FR" sz="2200">
                <a:solidFill>
                  <a:srgbClr val="281E78"/>
                </a:solidFill>
              </a:rPr>
              <a:t> - Example study</a:t>
            </a:r>
            <a:br>
              <a:rPr lang="fr-FR" sz="2200">
                <a:solidFill>
                  <a:srgbClr val="281E78"/>
                </a:solidFill>
              </a:rPr>
            </a:b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⏳In review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200">
                <a:solidFill>
                  <a:srgbClr val="281E78"/>
                </a:solidFill>
              </a:rPr>
              <a:t>	</a:t>
            </a:r>
            <a:r>
              <a:rPr lang="fr-FR" sz="2200" u="sng">
                <a:solidFill>
                  <a:schemeClr val="hlink"/>
                </a:solidFill>
                <a:hlinkClick r:id="rId5"/>
              </a:rPr>
              <a:t>PR64</a:t>
            </a:r>
            <a:r>
              <a:rPr lang="fr-FR" sz="2200">
                <a:solidFill>
                  <a:srgbClr val="281E78"/>
                </a:solidFill>
              </a:rPr>
              <a:t> - Extract MCO consultations with 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200">
                <a:solidFill>
                  <a:srgbClr val="281E78"/>
                </a:solidFill>
              </a:rPr>
              <a:t>			CCAM codes </a:t>
            </a:r>
            <a:br>
              <a:rPr lang="fr-FR" sz="2200">
                <a:solidFill>
                  <a:srgbClr val="281E78"/>
                </a:solidFill>
              </a:rPr>
            </a:b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25" name="Google Shape;325;p29"/>
          <p:cNvPicPr preferRelativeResize="0"/>
          <p:nvPr/>
        </p:nvPicPr>
        <p:blipFill rotWithShape="1">
          <a:blip r:embed="rId6">
            <a:alphaModFix/>
          </a:blip>
          <a:srcRect b="0" l="0" r="9281" t="0"/>
          <a:stretch/>
        </p:blipFill>
        <p:spPr>
          <a:xfrm>
            <a:off x="6196125" y="1756800"/>
            <a:ext cx="5930526" cy="496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/>
        </p:nvSpPr>
        <p:spPr>
          <a:xfrm>
            <a:off x="613025" y="224300"/>
            <a:ext cx="115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📚 </a:t>
            </a:r>
            <a:r>
              <a:rPr b="1" lang="fr-FR" sz="2400">
                <a:solidFill>
                  <a:srgbClr val="FF6168"/>
                </a:solidFill>
              </a:rPr>
              <a:t>Strong focus on documentation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273725" y="1065188"/>
            <a:ext cx="47406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Consistent API for extraction functions</a:t>
            </a:r>
            <a:endParaRPr b="1" sz="24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Documentation of :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Parameters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Outputs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Filter or SNDS choices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Link to original sources of documentation if existing</a:t>
            </a:r>
            <a:br>
              <a:rPr b="1" lang="fr-FR" sz="2400">
                <a:solidFill>
                  <a:srgbClr val="281E78"/>
                </a:solidFill>
              </a:rPr>
            </a:br>
            <a:endParaRPr b="1"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Using </a:t>
            </a:r>
            <a:r>
              <a:rPr b="1" lang="fr-FR" sz="2400" u="sng">
                <a:solidFill>
                  <a:schemeClr val="hlink"/>
                </a:solidFill>
                <a:hlinkClick r:id="rId3"/>
              </a:rPr>
              <a:t>roxygen2</a:t>
            </a:r>
            <a:r>
              <a:rPr b="1" lang="fr-FR" sz="2400">
                <a:solidFill>
                  <a:srgbClr val="281E78"/>
                </a:solidFill>
              </a:rPr>
              <a:t> to have the doc and the code both in the same R file.</a:t>
            </a:r>
            <a:endParaRPr sz="2200"/>
          </a:p>
        </p:txBody>
      </p:sp>
      <p:pic>
        <p:nvPicPr>
          <p:cNvPr id="332" name="Google Shape;33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475" y="977924"/>
            <a:ext cx="7069150" cy="4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5162300" y="5675100"/>
            <a:ext cx="580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 u="sng">
                <a:solidFill>
                  <a:schemeClr val="hlink"/>
                </a:solidFill>
                <a:hlinkClick r:id="rId5"/>
              </a:rPr>
              <a:t>https://sndstoolers.github.io/sndsTools/reference/extract_consultations_erprsf.html</a:t>
            </a:r>
            <a:r>
              <a:rPr lang="fr-FR" sz="2000">
                <a:solidFill>
                  <a:srgbClr val="281E78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613025" y="193400"/>
            <a:ext cx="53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🐣 </a:t>
            </a:r>
            <a:r>
              <a:rPr b="1" lang="fr-FR" sz="2400">
                <a:solidFill>
                  <a:srgbClr val="FF6168"/>
                </a:solidFill>
              </a:rPr>
              <a:t>A simple case study as a tutorial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244620" y="926281"/>
            <a:ext cx="6200700" cy="45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Fictive case : </a:t>
            </a:r>
            <a:br>
              <a:rPr b="1" lang="fr-FR" sz="2400">
                <a:solidFill>
                  <a:srgbClr val="281E78"/>
                </a:solidFill>
              </a:rPr>
            </a:br>
            <a:r>
              <a:rPr b="1" lang="fr-FR" sz="2400">
                <a:solidFill>
                  <a:srgbClr val="281E78"/>
                </a:solidFill>
              </a:rPr>
              <a:t>hospitalized AVC</a:t>
            </a:r>
            <a:r>
              <a:rPr b="1" lang="fr-FR" sz="2400">
                <a:solidFill>
                  <a:srgbClr val="281E78"/>
                </a:solidFill>
              </a:rPr>
              <a:t> in MCO</a:t>
            </a:r>
            <a:endParaRPr b="1" sz="24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Demo of extraction functions</a:t>
            </a:r>
            <a:endParaRPr b="1" sz="24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Same code running :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Inside the CNAM server</a:t>
            </a:r>
            <a:endParaRPr b="1"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b="1" lang="fr-FR" sz="2400">
                <a:solidFill>
                  <a:srgbClr val="281E78"/>
                </a:solidFill>
              </a:rPr>
              <a:t>Outside with fictive data</a:t>
            </a:r>
            <a:br>
              <a:rPr b="1" lang="fr-FR" sz="2400">
                <a:solidFill>
                  <a:srgbClr val="281E78"/>
                </a:solidFill>
              </a:rPr>
            </a:b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Consistent documentation and code ! </a:t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Not merged yet</a:t>
            </a:r>
            <a:br>
              <a:rPr b="1" lang="fr-FR" sz="2400">
                <a:solidFill>
                  <a:srgbClr val="281E78"/>
                </a:solidFill>
              </a:rPr>
            </a:br>
            <a:r>
              <a:rPr b="1" lang="fr-FR" sz="2400">
                <a:solidFill>
                  <a:srgbClr val="281E78"/>
                </a:solidFill>
              </a:rPr>
              <a:t>	ideas for improvement ?  </a:t>
            </a:r>
            <a:endParaRPr b="1" sz="2400">
              <a:solidFill>
                <a:srgbClr val="281E78"/>
              </a:solidFill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1342225" y="6138125"/>
            <a:ext cx="1103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 u="sng">
                <a:solidFill>
                  <a:schemeClr val="hlink"/>
                </a:solidFill>
                <a:hlinkClick r:id="rId3"/>
              </a:rPr>
              <a:t>https://sndstoolers.github.io/sndsTools/pr-preview/pr-69/articles/tutoriel_avc.html</a:t>
            </a:r>
            <a:r>
              <a:rPr lang="fr-FR" sz="2000"/>
              <a:t> </a:t>
            </a:r>
            <a:endParaRPr sz="1200"/>
          </a:p>
        </p:txBody>
      </p:sp>
      <p:pic>
        <p:nvPicPr>
          <p:cNvPr id="341" name="Google Shape;3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2575" y="776502"/>
            <a:ext cx="5336194" cy="52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/>
        </p:nvSpPr>
        <p:spPr>
          <a:xfrm>
            <a:off x="613025" y="224300"/>
            <a:ext cx="115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📌</a:t>
            </a:r>
            <a:r>
              <a:rPr b="1" lang="fr-FR" sz="2400">
                <a:solidFill>
                  <a:srgbClr val="FF6168"/>
                </a:solidFill>
              </a:rPr>
              <a:t> N</a:t>
            </a:r>
            <a:r>
              <a:rPr b="1" lang="fr-FR" sz="2400">
                <a:solidFill>
                  <a:srgbClr val="FF6168"/>
                </a:solidFill>
              </a:rPr>
              <a:t>ext steps ?</a:t>
            </a:r>
            <a:r>
              <a:rPr b="1" lang="fr-FR" sz="2400">
                <a:solidFill>
                  <a:srgbClr val="FF6168"/>
                </a:solidFill>
              </a:rPr>
              <a:t> 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609600" y="1087075"/>
            <a:ext cx="67959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Extraction of top pathologies </a:t>
            </a:r>
            <a:endParaRPr sz="2200">
              <a:solidFill>
                <a:srgbClr val="281E78"/>
              </a:solidFill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Extension to other PMSI fields : HAD, SMR</a:t>
            </a: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Extension to other SNDS fields : 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200">
                <a:solidFill>
                  <a:srgbClr val="281E78"/>
                </a:solidFill>
              </a:rPr>
              <a:t>sick leaves, expensive drugs in ER_UCD_F, …</a:t>
            </a:r>
            <a:endParaRPr sz="22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 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🤗 Search for contributors : 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000" u="sng">
                <a:solidFill>
                  <a:schemeClr val="hlink"/>
                </a:solidFill>
                <a:hlinkClick r:id="rId3"/>
              </a:rPr>
              <a:t>https://github.com/SNDStoolers/sndsTools/issues</a:t>
            </a:r>
            <a:r>
              <a:rPr lang="fr-FR" sz="2000">
                <a:solidFill>
                  <a:srgbClr val="281E78"/>
                </a:solidFill>
              </a:rPr>
              <a:t> </a:t>
            </a:r>
            <a:endParaRPr sz="2000">
              <a:solidFill>
                <a:srgbClr val="281E78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000">
                <a:solidFill>
                  <a:srgbClr val="281E78"/>
                </a:solidFill>
              </a:rPr>
              <a:t>Ideas</a:t>
            </a:r>
            <a:endParaRPr sz="2000">
              <a:solidFill>
                <a:srgbClr val="281E78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000">
                <a:solidFill>
                  <a:srgbClr val="281E78"/>
                </a:solidFill>
              </a:rPr>
              <a:t>Review</a:t>
            </a:r>
            <a:endParaRPr sz="2000">
              <a:solidFill>
                <a:srgbClr val="281E78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000">
                <a:solidFill>
                  <a:srgbClr val="281E78"/>
                </a:solidFill>
              </a:rPr>
              <a:t>Code  </a:t>
            </a:r>
            <a:endParaRPr sz="2000">
              <a:solidFill>
                <a:srgbClr val="281E78"/>
              </a:solidFill>
            </a:endParaRPr>
          </a:p>
        </p:txBody>
      </p:sp>
      <p:pic>
        <p:nvPicPr>
          <p:cNvPr id="348" name="Google Shape;3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5450" y="497813"/>
            <a:ext cx="4323815" cy="5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 txBox="1"/>
          <p:nvPr/>
        </p:nvSpPr>
        <p:spPr>
          <a:xfrm>
            <a:off x="3944400" y="2812225"/>
            <a:ext cx="5733900" cy="3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Thanks to all contributors :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Antoine Belloir (ICM)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Thomas Soeiro (AP-HM)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Marc Dibbling (ICM)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Leo Guillon (ICM)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Catherine Bisquet (HAS)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Nelly Leguen (HAS)</a:t>
            </a:r>
            <a:endParaRPr b="1" sz="2400">
              <a:solidFill>
                <a:srgbClr val="FF6168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616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 txBox="1"/>
          <p:nvPr/>
        </p:nvSpPr>
        <p:spPr>
          <a:xfrm>
            <a:off x="4256550" y="2812225"/>
            <a:ext cx="36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Supplementary slides</a:t>
            </a:r>
            <a:endParaRPr sz="800">
              <a:solidFill>
                <a:srgbClr val="FF6168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/>
        </p:nvSpPr>
        <p:spPr>
          <a:xfrm>
            <a:off x="613025" y="224300"/>
            <a:ext cx="1157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An example of case study used as benchmark</a:t>
            </a:r>
            <a:br>
              <a:rPr b="1" lang="fr-FR" sz="2400">
                <a:solidFill>
                  <a:srgbClr val="FA4616"/>
                </a:solidFill>
              </a:rPr>
            </a:b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https://sndstoolers.github.io/sndsTools/articles/benchmark_dplyr_vs_rsql.html</a:t>
            </a:r>
            <a:r>
              <a:rPr b="1" lang="fr-FR" sz="1800">
                <a:solidFill>
                  <a:srgbClr val="FA4616"/>
                </a:solidFill>
              </a:rPr>
              <a:t> </a:t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457200" y="1561150"/>
            <a:ext cx="4740600" cy="4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b="1" lang="fr-FR" sz="2300">
                <a:solidFill>
                  <a:srgbClr val="281E78"/>
                </a:solidFill>
              </a:rPr>
              <a:t>Is there a speed difference between dplyr syntax and direct sql queries? </a:t>
            </a:r>
            <a:endParaRPr b="1" sz="23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b="1" lang="fr-FR" sz="2300">
                <a:solidFill>
                  <a:srgbClr val="281E78"/>
                </a:solidFill>
              </a:rPr>
              <a:t>Simple yet big query on ER_PRS_F, ER_PHA_F and ER_ETE_F</a:t>
            </a:r>
            <a:br>
              <a:rPr b="1" lang="fr-FR" sz="2300">
                <a:solidFill>
                  <a:srgbClr val="281E78"/>
                </a:solidFill>
              </a:rPr>
            </a:br>
            <a:endParaRPr b="1"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b="1" lang="fr-FR" sz="2300">
                <a:solidFill>
                  <a:srgbClr val="281E78"/>
                </a:solidFill>
              </a:rPr>
              <a:t>Case study: C vitamin drugs on different period of times</a:t>
            </a:r>
            <a:br>
              <a:rPr b="1" lang="fr-FR" sz="2300">
                <a:solidFill>
                  <a:srgbClr val="281E78"/>
                </a:solidFill>
              </a:rPr>
            </a:br>
            <a:endParaRPr b="1"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b="1" lang="fr-FR" sz="2300">
                <a:solidFill>
                  <a:srgbClr val="281E78"/>
                </a:solidFill>
              </a:rPr>
              <a:t>CCL: No big differences!</a:t>
            </a:r>
            <a:endParaRPr b="1" sz="23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365" name="Google Shape;3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800" y="1191800"/>
            <a:ext cx="5222799" cy="522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